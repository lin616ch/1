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fa9baa2c4543f4" /><Relationship Type="http://schemas.openxmlformats.org/officeDocument/2006/relationships/extended-properties" Target="/docProps/app.xml" Id="R6c879e8449fa4146" /><Relationship Type="http://schemas.openxmlformats.org/officeDocument/2006/relationships/officeDocument" Target="/ppt/presentation.xml" Id="R377480a7f4f84e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d680f088ee4c57"/>
  </p:sldMasterIdLst>
  <p:notesMasterIdLst>
    <p:notesMasterId xmlns:r="http://schemas.openxmlformats.org/officeDocument/2006/relationships" r:id="R2cfebf4a2e5640b3"/>
  </p:notesMasterIdLst>
  <p:sldIdLst>
    <p:sldId xmlns:r="http://schemas.openxmlformats.org/officeDocument/2006/relationships" id="256" r:id="R679d64a59aee4e2f"/>
    <p:sldId xmlns:r="http://schemas.openxmlformats.org/officeDocument/2006/relationships" id="257" r:id="R86d544eda25a45f9"/>
    <p:sldId xmlns:r="http://schemas.openxmlformats.org/officeDocument/2006/relationships" id="258" r:id="R8341943bd6a04857"/>
    <p:sldId xmlns:r="http://schemas.openxmlformats.org/officeDocument/2006/relationships" id="259" r:id="R4270358b494043d7"/>
    <p:sldId xmlns:r="http://schemas.openxmlformats.org/officeDocument/2006/relationships" id="260" r:id="Rb4ac703dc88b41bc"/>
    <p:sldId xmlns:r="http://schemas.openxmlformats.org/officeDocument/2006/relationships" id="261" r:id="Rdc13466142ff4183"/>
    <p:sldId xmlns:r="http://schemas.openxmlformats.org/officeDocument/2006/relationships" id="262" r:id="R66d36b57f5d044a9"/>
    <p:sldId xmlns:r="http://schemas.openxmlformats.org/officeDocument/2006/relationships" id="263" r:id="Re3aec00b3ec34310"/>
    <p:sldId xmlns:r="http://schemas.openxmlformats.org/officeDocument/2006/relationships" id="264" r:id="R4a075d3ae55349b5"/>
    <p:sldId xmlns:r="http://schemas.openxmlformats.org/officeDocument/2006/relationships" id="265" r:id="R41eec5e117234567"/>
    <p:sldId xmlns:r="http://schemas.openxmlformats.org/officeDocument/2006/relationships" id="266" r:id="R79b805bd758f435e"/>
    <p:sldId xmlns:r="http://schemas.openxmlformats.org/officeDocument/2006/relationships" id="267" r:id="R94a0cc4a52f14932"/>
    <p:sldId xmlns:r="http://schemas.openxmlformats.org/officeDocument/2006/relationships" id="268" r:id="R58b7dd7672554b66"/>
    <p:sldId xmlns:r="http://schemas.openxmlformats.org/officeDocument/2006/relationships" id="269" r:id="R4bd33f006f3d459c"/>
    <p:sldId xmlns:r="http://schemas.openxmlformats.org/officeDocument/2006/relationships" id="270" r:id="R672207162f8a427f"/>
    <p:sldId xmlns:r="http://schemas.openxmlformats.org/officeDocument/2006/relationships" id="271" r:id="Rae12e727fdd64cf5"/>
    <p:sldId xmlns:r="http://schemas.openxmlformats.org/officeDocument/2006/relationships" id="272" r:id="Rbfab34f4b7f440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44c5d94d534d51" /><Relationship Type="http://schemas.openxmlformats.org/officeDocument/2006/relationships/slideMaster" Target="/ppt/slideMasters/slideMaster1.xml" Id="R45d680f088ee4c57" /><Relationship Type="http://schemas.openxmlformats.org/officeDocument/2006/relationships/notesMaster" Target="/ppt/notesMasters/notesMaster1.xml" Id="R2cfebf4a2e5640b3" /><Relationship Type="http://schemas.openxmlformats.org/officeDocument/2006/relationships/presProps" Target="/ppt/presProps.xml" Id="R8c97698c8fc8496d" /><Relationship Type="http://schemas.openxmlformats.org/officeDocument/2006/relationships/tableStyles" Target="/ppt/tableStyles.xml" Id="R35276d58165f46f9" /><Relationship Type="http://schemas.openxmlformats.org/officeDocument/2006/relationships/slide" Target="/ppt/slides/slide1.xml" Id="R679d64a59aee4e2f" /><Relationship Type="http://schemas.openxmlformats.org/officeDocument/2006/relationships/slide" Target="/ppt/slides/slide2.xml" Id="R86d544eda25a45f9" /><Relationship Type="http://schemas.openxmlformats.org/officeDocument/2006/relationships/slide" Target="/ppt/slides/slide3.xml" Id="R8341943bd6a04857" /><Relationship Type="http://schemas.openxmlformats.org/officeDocument/2006/relationships/slide" Target="/ppt/slides/slide4.xml" Id="R4270358b494043d7" /><Relationship Type="http://schemas.openxmlformats.org/officeDocument/2006/relationships/slide" Target="/ppt/slides/slide5.xml" Id="Rb4ac703dc88b41bc" /><Relationship Type="http://schemas.openxmlformats.org/officeDocument/2006/relationships/slide" Target="/ppt/slides/slide6.xml" Id="Rdc13466142ff4183" /><Relationship Type="http://schemas.openxmlformats.org/officeDocument/2006/relationships/slide" Target="/ppt/slides/slide7.xml" Id="R66d36b57f5d044a9" /><Relationship Type="http://schemas.openxmlformats.org/officeDocument/2006/relationships/slide" Target="/ppt/slides/slide8.xml" Id="Re3aec00b3ec34310" /><Relationship Type="http://schemas.openxmlformats.org/officeDocument/2006/relationships/slide" Target="/ppt/slides/slide9.xml" Id="R4a075d3ae55349b5" /><Relationship Type="http://schemas.openxmlformats.org/officeDocument/2006/relationships/slide" Target="/ppt/slides/slide10.xml" Id="R41eec5e117234567" /><Relationship Type="http://schemas.openxmlformats.org/officeDocument/2006/relationships/slide" Target="/ppt/slides/slide11.xml" Id="R79b805bd758f435e" /><Relationship Type="http://schemas.openxmlformats.org/officeDocument/2006/relationships/slide" Target="/ppt/slides/slide12.xml" Id="R94a0cc4a52f14932" /><Relationship Type="http://schemas.openxmlformats.org/officeDocument/2006/relationships/slide" Target="/ppt/slides/slide13.xml" Id="R58b7dd7672554b66" /><Relationship Type="http://schemas.openxmlformats.org/officeDocument/2006/relationships/slide" Target="/ppt/slides/slide14.xml" Id="R4bd33f006f3d459c" /><Relationship Type="http://schemas.openxmlformats.org/officeDocument/2006/relationships/slide" Target="/ppt/slides/slide15.xml" Id="R672207162f8a427f" /><Relationship Type="http://schemas.openxmlformats.org/officeDocument/2006/relationships/slide" Target="/ppt/slides/slide16.xml" Id="Rae12e727fdd64cf5" /><Relationship Type="http://schemas.openxmlformats.org/officeDocument/2006/relationships/slide" Target="/ppt/slides/slide17.xml" Id="Rbfab34f4b7f440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3f3e86b6d74f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53dd4d9a3b404b" /><Relationship Type="http://schemas.openxmlformats.org/officeDocument/2006/relationships/notesMaster" Target="/ppt/notesMasters/notesMaster1.xml" Id="R79ce5481b4284c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80b17f04a644e3" /><Relationship Type="http://schemas.openxmlformats.org/officeDocument/2006/relationships/notesMaster" Target="/ppt/notesMasters/notesMaster1.xml" Id="R6c83d19bfdb841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12623fb5ac4c22" /><Relationship Type="http://schemas.openxmlformats.org/officeDocument/2006/relationships/notesMaster" Target="/ppt/notesMasters/notesMaster1.xml" Id="R2a4c3c17364847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6d2ffbbdd047db" /><Relationship Type="http://schemas.openxmlformats.org/officeDocument/2006/relationships/notesMaster" Target="/ppt/notesMasters/notesMaster1.xml" Id="R14234c82e4a544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eba795c5884a25" /><Relationship Type="http://schemas.openxmlformats.org/officeDocument/2006/relationships/notesMaster" Target="/ppt/notesMasters/notesMaster1.xml" Id="R16b624f78dfa46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7dd908179c4ad3" /><Relationship Type="http://schemas.openxmlformats.org/officeDocument/2006/relationships/notesMaster" Target="/ppt/notesMasters/notesMaster1.xml" Id="R655a2d2be02f45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d27d81c5c9474e" /><Relationship Type="http://schemas.openxmlformats.org/officeDocument/2006/relationships/notesMaster" Target="/ppt/notesMasters/notesMaster1.xml" Id="Re49e8cf6e01942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9178f78e4941ff" /><Relationship Type="http://schemas.openxmlformats.org/officeDocument/2006/relationships/notesMaster" Target="/ppt/notesMasters/notesMaster1.xml" Id="Rde41ea9bfac040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a54119190f4282" /><Relationship Type="http://schemas.openxmlformats.org/officeDocument/2006/relationships/notesMaster" Target="/ppt/notesMasters/notesMaster1.xml" Id="Rc4c940bd23ba48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7ed907743b43f5" /><Relationship Type="http://schemas.openxmlformats.org/officeDocument/2006/relationships/notesMaster" Target="/ppt/notesMasters/notesMaster1.xml" Id="R0fb525c1f4ac44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119e2c82624bcc" /><Relationship Type="http://schemas.openxmlformats.org/officeDocument/2006/relationships/notesMaster" Target="/ppt/notesMasters/notesMaster1.xml" Id="Rb13881734a1f43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f772922a4b462a" /><Relationship Type="http://schemas.openxmlformats.org/officeDocument/2006/relationships/notesMaster" Target="/ppt/notesMasters/notesMaster1.xml" Id="Re07c9fe8fce141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2ad148d3d545f1" /><Relationship Type="http://schemas.openxmlformats.org/officeDocument/2006/relationships/notesMaster" Target="/ppt/notesMasters/notesMaster1.xml" Id="Rf3712d0a2b684e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10367108cb42cc" /><Relationship Type="http://schemas.openxmlformats.org/officeDocument/2006/relationships/notesMaster" Target="/ppt/notesMasters/notesMaster1.xml" Id="R29eb6f79513745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17e0afd3e847a9" /><Relationship Type="http://schemas.openxmlformats.org/officeDocument/2006/relationships/notesMaster" Target="/ppt/notesMasters/notesMaster1.xml" Id="Ra502f2e3401f4b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295c0d433c24365" /><Relationship Type="http://schemas.openxmlformats.org/officeDocument/2006/relationships/notesMaster" Target="/ppt/notesMasters/notesMaster1.xml" Id="Rae574054bc0f4f7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c69270c956b4d41" /><Relationship Type="http://schemas.openxmlformats.org/officeDocument/2006/relationships/notesMaster" Target="/ppt/notesMasters/notesMaster1.xml" Id="Rab01b968978748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赛题依据：用户提供的《第十七届中国大学生服务外包创新创业大赛A类赛题手册》A18，第94至99页。封面为概念性生成图，不代表真实测试结果。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来源：赛题手册A18第95至98页。速度要求原文为在常规消费级GPU（如RTX4090）上建议不低于15帧/秒；精度要求为不低于现有YOLO或Transformer等基线；融合模型须优于RGB或红外单模态。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失效类型来自赛题手册A18第94至96页。配图为概念示意，不是DroneVehicle数据集原图，也不代表模型输出。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本页为团队拟定的总体方案。赛题要求双流或多分支架构、融合机制、小目标检测头优化及推理演示，见手册第96至98页。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医学影像方法迁移是团队方案设计，不是赛题官方要求。右侧为概念性生成图，仅用于解释跨领域技术迁移。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数据集来源由赛题手册第98页给出：DroneVehicle https://github.com/VisDrone/DroneVehicle ，VEDAI https://downloads.greyc.fr/vedai/ 。按场景切分、双格式标签及增强规则为团队技术方案。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基线选择遵循赛题手册第97至99页列出的YOLOv8/v10、Faster R-CNN、TOOD等方向。本页仅定义实验基准，不包含实测数据。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网络架构为团队拟定方案。QAFM为质量感知融合模块，Tiny-P2为高分辨率小目标检测分支。赛题鼓励Transformer、注意力、FPN改进和Anchor-free设计，见手册第95至99页。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公式用于说明拟定融合机制。R表示跨模态注意力产生的残差特征。所有收益需由消融实验验证；本页不声明已取得性能提升。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小目标优化方向符合赛题手册第98至99页建议：FPN、膨胀卷积、Copy-Paste、SPD-Conv和增加检测头。本页为拟定结构，需要通过APs、Recall与FPS共同验证。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损失函数与后处理为团队拟定方案，具体权重需通过验证集调优。赛题要求解决正负样本不平衡、模态不平衡和密集遮挡问题，见手册第95至98页。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训练策略为团队拟定方案。赛题手册要求详细说明损失函数、数据增强和超参数设置，并处理正负样本不平衡与模态不平衡，见第96至98页。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本页是实验计划，不包含虚构结果。赛题提交材料要求实验对比数据与消融实验，见手册第97至98页。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推理演示要求来自赛题手册第96至98页：输入测试图片或视频，输出检测框和类别；演示视频应覆盖不同场景。部署格式为团队拟定方案。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团队信息由用户提供：组长张涵杰，组员陈宇、林宸宇、王麒瑞。具体职责依据当前A18项目技术路线进行分配，可根据成员实际专长继续调整。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官方初赛评分标准来自手册第175页：项目创意20分、实施方案30分、技术实现与交付30分、项目展示20分。A18提交材料见第97至98页。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结论为本方案对A18赛题的项目设计总结。数据集参考：DroneVehicle https://github.com/VisDrone/DroneVehicle ，VEDAI https://downloads.greyc.fr/vedai/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e68fb6d68848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34167b54ee458a" /><Relationship Type="http://schemas.openxmlformats.org/officeDocument/2006/relationships/slideLayout" Target="/ppt/slideLayouts/slideLayout1.xml" Id="Rcf39933c98ef42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39933c98ef42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584ef16444a6b" /><Relationship Type="http://schemas.openxmlformats.org/officeDocument/2006/relationships/image" Target="/ppt/media/image.png" Id="R7681303856bd487a" /><Relationship Type="http://schemas.openxmlformats.org/officeDocument/2006/relationships/notesSlide" Target="/ppt/notesSlides/notesSlide1.xml" Id="R3435c5507ac946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ead78fdb045ba" /><Relationship Type="http://schemas.openxmlformats.org/officeDocument/2006/relationships/notesSlide" Target="/ppt/notesSlides/notesSlide2.xml" Id="Re45f3566a4e343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18a3afe3441c4" /><Relationship Type="http://schemas.openxmlformats.org/officeDocument/2006/relationships/image" Target="/ppt/media/image2.png" Id="Ra436c63759274777" /><Relationship Type="http://schemas.openxmlformats.org/officeDocument/2006/relationships/notesSlide" Target="/ppt/notesSlides/notesSlide3.xml" Id="R9b15eb1b3afb4a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43affa32945a8" /><Relationship Type="http://schemas.openxmlformats.org/officeDocument/2006/relationships/notesSlide" Target="/ppt/notesSlides/notesSlide4.xml" Id="R13a3aa7ab5a546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14f99f52840b8" /><Relationship Type="http://schemas.openxmlformats.org/officeDocument/2006/relationships/image" Target="/ppt/media/image3.png" Id="Reee610f8ebab4c4b" /><Relationship Type="http://schemas.openxmlformats.org/officeDocument/2006/relationships/notesSlide" Target="/ppt/notesSlides/notesSlide5.xml" Id="R99203f2f10c749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c1a64c45d4ec4" /><Relationship Type="http://schemas.openxmlformats.org/officeDocument/2006/relationships/notesSlide" Target="/ppt/notesSlides/notesSlide6.xml" Id="Rb8ad7a0213b04c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5d30c09404917" /><Relationship Type="http://schemas.openxmlformats.org/officeDocument/2006/relationships/notesSlide" Target="/ppt/notesSlides/notesSlide7.xml" Id="R697144f7fe7644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e95f17eb3453e" /><Relationship Type="http://schemas.openxmlformats.org/officeDocument/2006/relationships/notesSlide" Target="/ppt/notesSlides/notesSlide8.xml" Id="R3e57a6ebf9564e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6782c1f9348eb" /><Relationship Type="http://schemas.openxmlformats.org/officeDocument/2006/relationships/notesSlide" Target="/ppt/notesSlides/notesSlide9.xml" Id="R6d6364eb7e0a40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6333a474148fc" /><Relationship Type="http://schemas.openxmlformats.org/officeDocument/2006/relationships/notesSlide" Target="/ppt/notesSlides/notesSlide10.xml" Id="R03f08d2f08824c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061b036784047" /><Relationship Type="http://schemas.openxmlformats.org/officeDocument/2006/relationships/notesSlide" Target="/ppt/notesSlides/notesSlide11.xml" Id="Ra21898eb90484f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ad92dd5a84dd6" /><Relationship Type="http://schemas.openxmlformats.org/officeDocument/2006/relationships/notesSlide" Target="/ppt/notesSlides/notesSlide12.xml" Id="Rd1b6e149b5204b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2436014fe4e07" /><Relationship Type="http://schemas.openxmlformats.org/officeDocument/2006/relationships/notesSlide" Target="/ppt/notesSlides/notesSlide13.xml" Id="Rccc32aae875141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f6996f5004134" /><Relationship Type="http://schemas.openxmlformats.org/officeDocument/2006/relationships/notesSlide" Target="/ppt/notesSlides/notesSlide14.xml" Id="R8a1d633446ec4e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0e2a3cb254777" /><Relationship Type="http://schemas.openxmlformats.org/officeDocument/2006/relationships/notesSlide" Target="/ppt/notesSlides/notesSlide15.xml" Id="Rb11d193142754f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cfb48c82a44c1" /><Relationship Type="http://schemas.openxmlformats.org/officeDocument/2006/relationships/notesSlide" Target="/ppt/notesSlides/notesSlide16.xml" Id="R1a8dece9b68245e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aa876fcf949ff" /><Relationship Type="http://schemas.openxmlformats.org/officeDocument/2006/relationships/notesSlide" Target="/ppt/notesSlides/notesSlide17.xml" Id="R3bf4e5c9f2b849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1303856bd487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4160E-9C8E-41F9-8C71-354DC905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7">
              <a:alpha val="9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11AC9-C398-4207-A1D1-603F680B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0EB15-BD62-4629-89FE-17EE290B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3900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天巡双瞳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7DE6A-CA58-489D-A148-FC9E3C85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619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2325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面向全天候交通场景的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2325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无人机视角多模态小目标检测系统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C1FDE-B781-444B-A0B1-79F727F4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C4E8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33C4E8"/>
                </a:solidFill>
                <a:latin typeface="FangSong"/>
                <a:ea typeface="FangSong"/>
                <a:cs typeface="FangSong"/>
              </a:rPr>
              <a:t>A18 计算类赛题完整解决方案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F8899-A56E-45BF-8E7E-648570CC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1D8E3"/>
                </a:solidFill>
                <a:latin typeface="FangSong"/>
                <a:ea typeface="FangSong"/>
                <a:cs typeface="FangSong"/>
              </a:defRPr>
            </a:pPr>
            <a:r>
              <a:rPr sz="1350" b="0">
                <a:solidFill>
                  <a:srgbClr val="C1D8E3"/>
                </a:solidFill>
                <a:latin typeface="FangSong"/>
                <a:ea typeface="FangSong"/>
                <a:cs typeface="FangSong"/>
              </a:rPr>
              <a:t>RGB–Thermal 融合  ·  极小目标增强  ·  实时推理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8778E-DEAA-4B49-89F5-6FBCD29C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B5C5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94B5C5"/>
                </a:solidFill>
                <a:latin typeface="FangSong"/>
                <a:ea typeface="FangSong"/>
                <a:cs typeface="FangSong"/>
              </a:rPr>
              <a:t>医学影像团队  /  项目简介PPT</a:t>
            </a:r>
          </a:p>
        </p:txBody>
      </p:sp>
    </p:spTree>
    <p:extLst>
      <p:ext uri="{BB962C8B-B14F-4D97-AF65-F5344CB8AC3E}">
        <p14:creationId xmlns:p14="http://schemas.microsoft.com/office/powerpoint/2010/main" val="15331606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8BD4A-CD02-44B7-BA14-4A989FC8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BE9E8-235C-4505-81D9-0AA6B5C7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24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赛题目标与验收边界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41960-3B65-4774-8A4A-6AE66464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将赛题原文转化为可执行、可验证的项目目标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85AAF-913E-4294-9FDE-3D27F70C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29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00488-DE7B-46CD-BD29-7504391B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B022F-676C-47DF-9546-84769B6D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5A99B"/>
                </a:solidFill>
                <a:latin typeface="FangSong"/>
                <a:ea typeface="FangSong"/>
                <a:cs typeface="FangSong"/>
              </a:defRPr>
            </a:pPr>
            <a:r>
              <a:rPr sz="2550" b="1">
                <a:solidFill>
                  <a:srgbClr val="05A99B"/>
                </a:solidFill>
                <a:latin typeface="FangSong"/>
                <a:ea typeface="FangSong"/>
                <a:cs typeface="FangSong"/>
              </a:rPr>
              <a:t>≥ 5 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F2C87-2A10-40B6-92F4-A10FFAF3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交通目标类别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9B4AB-1B1D-4865-BAFD-31CFEF44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24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3C4E8"/>
                </a:solidFill>
                <a:latin typeface="FangSong"/>
                <a:ea typeface="FangSong"/>
                <a:cs typeface="FangSong"/>
              </a:defRPr>
            </a:pPr>
            <a:r>
              <a:rPr sz="2550" b="1">
                <a:solidFill>
                  <a:srgbClr val="33C4E8"/>
                </a:solidFill>
                <a:latin typeface="FangSong"/>
                <a:ea typeface="FangSong"/>
                <a:cs typeface="FangSong"/>
              </a:rPr>
              <a:t>&lt; 32×32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7CEF6-8E91-4BBF-99E9-6A9116D6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重点优化目标尺寸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9FD0D-E72C-49EA-8AC6-4C9532B0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24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8A3D"/>
                </a:solidFill>
                <a:latin typeface="FangSong"/>
                <a:ea typeface="FangSong"/>
                <a:cs typeface="FangSong"/>
              </a:defRPr>
            </a:pPr>
            <a:r>
              <a:rPr sz="2550" b="1">
                <a:solidFill>
                  <a:srgbClr val="FF8A3D"/>
                </a:solidFill>
                <a:latin typeface="FangSong"/>
                <a:ea typeface="FangSong"/>
                <a:cs typeface="FangSong"/>
              </a:rPr>
              <a:t>≥ 15 FPS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9DB94-06B3-4299-B7A3-638F5323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764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RTX 4090参考速度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6DBF5-7DC2-4290-869E-266AFEE1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24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85C5C"/>
                </a:solidFill>
                <a:latin typeface="FangSong"/>
                <a:ea typeface="FangSong"/>
                <a:cs typeface="FangSong"/>
              </a:defRPr>
            </a:pPr>
            <a:r>
              <a:rPr sz="2550" b="1">
                <a:solidFill>
                  <a:srgbClr val="E85C5C"/>
                </a:solidFill>
                <a:latin typeface="FangSong"/>
                <a:ea typeface="FangSong"/>
                <a:cs typeface="FangSong"/>
              </a:rPr>
              <a:t>RGB + 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6F624-8EEE-4EC0-ADE9-7D3822B6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764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融合须优于单模态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46DD8-4F81-4276-84A8-36E9105D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240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A55"/>
                </a:solidFill>
                <a:latin typeface="FangSong"/>
                <a:ea typeface="FangSong"/>
                <a:cs typeface="FangSong"/>
              </a:defRPr>
            </a:pPr>
            <a:r>
              <a:rPr sz="2550" b="1">
                <a:solidFill>
                  <a:srgbClr val="123A55"/>
                </a:solidFill>
                <a:latin typeface="FangSong"/>
                <a:ea typeface="FangSong"/>
                <a:cs typeface="FangSong"/>
              </a:rPr>
              <a:t>全天候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EA37B-AB93-4EFA-8864-02F9F93C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764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昼夜与复杂天气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ADACA-AB33-4B6B-BF93-0BB35E64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0673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34B06-FF76-4132-AF1F-3AD1A8CF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72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必须完成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79F01-3633-4AA3-B046-15F3A49D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4286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102A43"/>
                </a:solidFill>
                <a:latin typeface="FangSong"/>
                <a:ea typeface="FangSong"/>
                <a:cs typeface="FangSong"/>
              </a:defRPr>
            </a:pPr>
            <a:r>
              <a:rPr sz="1425">
                <a:solidFill>
                  <a:srgbClr val="102A43"/>
                </a:solidFill>
                <a:latin typeface="FangSong"/>
                <a:ea typeface="FangSong"/>
                <a:cs typeface="FangSong"/>
              </a:rPr>
              <a:t>RGB与热红外成对预处理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102A43"/>
                </a:solidFill>
                <a:latin typeface="FangSong"/>
                <a:ea typeface="FangSong"/>
                <a:cs typeface="FangSong"/>
              </a:defRPr>
            </a:pPr>
            <a:r>
              <a:rPr sz="1425">
                <a:solidFill>
                  <a:srgbClr val="102A43"/>
                </a:solidFill>
                <a:latin typeface="FangSong"/>
                <a:ea typeface="FangSong"/>
                <a:cs typeface="FangSong"/>
              </a:rPr>
              <a:t>双流或多分支特征提取与融合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102A43"/>
                </a:solidFill>
                <a:latin typeface="FangSong"/>
                <a:ea typeface="FangSong"/>
                <a:cs typeface="FangSong"/>
              </a:defRPr>
            </a:pPr>
            <a:r>
              <a:rPr sz="1425">
                <a:solidFill>
                  <a:srgbClr val="102A43"/>
                </a:solidFill>
                <a:latin typeface="FangSong"/>
                <a:ea typeface="FangSong"/>
                <a:cs typeface="FangSong"/>
              </a:rPr>
              <a:t>小目标检测头专项优化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102A43"/>
                </a:solidFill>
                <a:latin typeface="FangSong"/>
                <a:ea typeface="FangSong"/>
                <a:cs typeface="FangSong"/>
              </a:defRPr>
            </a:pPr>
            <a:r>
              <a:rPr sz="1425">
                <a:solidFill>
                  <a:srgbClr val="102A43"/>
                </a:solidFill>
                <a:latin typeface="FangSong"/>
                <a:ea typeface="FangSong"/>
                <a:cs typeface="FangSong"/>
              </a:rPr>
              <a:t>图片与视频推理可视化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FBBE63-3107-4138-8E37-02D005FA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52750"/>
            <a:ext cx="53530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A29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7CD5CD-1E00-4FCC-AF10-0E793378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19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3C4E8"/>
                </a:solidFill>
                <a:latin typeface="FangSong"/>
                <a:ea typeface="FangSong"/>
                <a:cs typeface="FangSong"/>
              </a:defRPr>
            </a:pPr>
            <a:r>
              <a:rPr sz="1725" b="1">
                <a:solidFill>
                  <a:srgbClr val="33C4E8"/>
                </a:solidFill>
                <a:latin typeface="FangSong"/>
                <a:ea typeface="FangSong"/>
                <a:cs typeface="FangSong"/>
              </a:rPr>
              <a:t>证据要求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9EAEE-4702-4B04-8D36-7272FE66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45720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mAP@0.5或mAP@0.5:0.95达到或超过基线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单独报告小目标性能与召回率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消融实验解释每个模块的真实收益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350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同时呈现精度、速度和模型复杂度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D622A8-795D-4897-A2B9-E23FB4E4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817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本方案不预填未经实测的结果，所有性能页均保留可复现的实验闭环。</a:t>
            </a:r>
          </a:p>
        </p:txBody>
      </p:sp>
    </p:spTree>
    <p:extLst>
      <p:ext uri="{BB962C8B-B14F-4D97-AF65-F5344CB8AC3E}">
        <p14:creationId xmlns:p14="http://schemas.microsoft.com/office/powerpoint/2010/main" val="899120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FF79F7-9C37-4327-80DD-E4B5E82A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121D4-7AB0-4EC2-A94B-F584D13E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24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真实交通场景中的三类失效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835DC-BF1F-427B-9944-49371403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单一可见光算法在高空、夜间和拥堵环境中出现系统性漏检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57205-E6E1-4B29-9429-D2E98391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29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02EE6-8733-4DEB-BC68-FA865EC8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6c63759274777"/>
          <a:srcRect xmlns:a="http://schemas.openxmlformats.org/drawingml/2006/main" l="16628" t="0" r="166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485900"/>
            <a:ext cx="546735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31C17-F9BD-4CCA-A6B4-952EB850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RGB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7C1EC-BD13-445B-A9FB-DEC8A65A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573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THERMAL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2E870-7502-474C-91CA-183B212D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C4E8"/>
                </a:solidFill>
                <a:latin typeface="FangSong"/>
                <a:ea typeface="FangSong"/>
                <a:cs typeface="FangSong"/>
              </a:defRPr>
            </a:pPr>
            <a:r>
              <a:rPr sz="2100" b="1">
                <a:solidFill>
                  <a:srgbClr val="33C4E8"/>
                </a:solidFill>
                <a:latin typeface="FangSong"/>
                <a:ea typeface="FangSong"/>
                <a:cs typeface="FangSong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7C412-FDF4-4B00-9DFF-2C39AE95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高空小目标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8C1AC-0172-4BBD-9A52-7330DBB5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81200"/>
            <a:ext cx="3943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车辆与行人像素占比低，连续下采样后纹理和边缘快速消失。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43EE3-7A6B-4AB7-A0FD-C0A34C7D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6844D-8CEF-459A-9D92-F2D18229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8A3D"/>
                </a:solidFill>
                <a:latin typeface="FangSong"/>
                <a:ea typeface="FangSong"/>
                <a:cs typeface="FangSong"/>
              </a:defRPr>
            </a:pPr>
            <a:r>
              <a:rPr sz="2100" b="1">
                <a:solidFill>
                  <a:srgbClr val="FF8A3D"/>
                </a:solidFill>
                <a:latin typeface="FangSong"/>
                <a:ea typeface="FangSong"/>
                <a:cs typeface="FangSong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89B3D-9A28-4357-B693-DA98B4E0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33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夜间低可见度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77F34-F053-4231-B6A5-BFDE3846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3943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RGB受照度、眩光和雾霾影响，热红外能够提供稳定热辐射线索。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488B3-67D9-4D84-AC99-A2D354D4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627D6-60B7-4FE8-A08B-E588B60B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5A99B"/>
                </a:solidFill>
                <a:latin typeface="FangSong"/>
                <a:ea typeface="FangSong"/>
                <a:cs typeface="FangSong"/>
              </a:defRPr>
            </a:pPr>
            <a:r>
              <a:rPr sz="2100" b="1">
                <a:solidFill>
                  <a:srgbClr val="05A99B"/>
                </a:solidFill>
                <a:latin typeface="FangSong"/>
                <a:ea typeface="FangSong"/>
                <a:cs typeface="FangSong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F0ABC-1A7B-437A-BC62-30FB996A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86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密集遮挡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73DECE-984E-4496-B554-A345B051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3943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拥堵路段目标相互覆盖，易产生漏检、框粘连和重复检测。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E068B7-312D-4DE3-BC17-9C4D235D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39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A29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98B3A-1BD3-48B3-9AD0-3D251073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00750"/>
            <a:ext cx="1017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425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业务价值：车流统计更完整，事故发现更及时，夜间巡检不再依赖固定光照条件。</a:t>
            </a:r>
          </a:p>
        </p:txBody>
      </p:sp>
    </p:spTree>
    <p:extLst>
      <p:ext uri="{BB962C8B-B14F-4D97-AF65-F5344CB8AC3E}">
        <p14:creationId xmlns:p14="http://schemas.microsoft.com/office/powerpoint/2010/main" val="1570555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991600" y="31527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AFC2"/>
            </a:solidFill>
            <a:prstDash val="solid"/>
            <a:tailEnd type="arrow" w="sm" len="sm"/>
          </a:ln>
        </p:spPr>
      </p:cxnSp>
      <p:cxnSp>
        <p:nvCxnSpPr>
          <p:cNvPr id="34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781800" y="31527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AFC2"/>
            </a:solidFill>
            <a:prstDash val="solid"/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572000" y="31527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AFC2"/>
            </a:solidFill>
            <a:prstDash val="solid"/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62200" y="31527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AFC2"/>
            </a:solidFill>
            <a:prstDash val="solid"/>
            <a:tailEnd type="arrow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5FECB4-FA45-4FC6-BE5D-65D439ED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76DF5-FC43-4110-8BE9-6EFBC4A4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2475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系统解决方案总览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439A0-55ED-43FE-B259-E852CDE1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3DF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B9D3DF"/>
                </a:solidFill>
                <a:latin typeface="FangSong"/>
                <a:ea typeface="FangSong"/>
                <a:cs typeface="FangSong"/>
              </a:rPr>
              <a:t>从双光输入到交通态势输出，形成训练、推理和展示闭环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96961-261E-438F-92FE-CE65E001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29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3C4E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33C4E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E0DB7-8067-4B56-A9A3-5010A8B9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181C2-0BAC-49EA-8831-7E9E6263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847850" cy="20383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123A55"/>
          </a:solidFill>
          <a:ln xmlns:a="http://schemas.openxmlformats.org/drawingml/2006/main" w="19050">
            <a:solidFill>
              <a:srgbClr val="33C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A27B8-95FB-4050-A986-F8E3B5E6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847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0EA32-D311-4137-AAF3-6EFCB6A0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双光采集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F1F32-BF04-4F8C-BE73-A4E1C6D4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6E6ED"/>
                </a:solidFill>
                <a:latin typeface="FangSong"/>
                <a:ea typeface="FangSong"/>
                <a:cs typeface="FangSong"/>
              </a:defRPr>
            </a:pPr>
            <a:r>
              <a:rPr sz="1350" b="0">
                <a:solidFill>
                  <a:srgbClr val="D6E6ED"/>
                </a:solidFill>
                <a:latin typeface="FangSong"/>
                <a:ea typeface="FangSong"/>
                <a:cs typeface="FangSong"/>
              </a:rPr>
              <a:t>RGB / Thermal</a:t>
            </a:r>
          </a:p>
          <a:p xmlns:a="http://schemas.openxmlformats.org/drawingml/2006/main">
            <a:pPr algn="ctr">
              <a:defRPr sz="1350" b="0">
                <a:solidFill>
                  <a:srgbClr val="D6E6ED"/>
                </a:solidFill>
                <a:latin typeface="FangSong"/>
                <a:ea typeface="FangSong"/>
                <a:cs typeface="FangSong"/>
              </a:defRPr>
            </a:pPr>
            <a:r>
              <a:rPr sz="1350" b="0">
                <a:solidFill>
                  <a:srgbClr val="D6E6ED"/>
                </a:solidFill>
                <a:latin typeface="FangSong"/>
                <a:ea typeface="FangSong"/>
                <a:cs typeface="FangSong"/>
              </a:rPr>
              <a:t>时间同步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2693A-B9CC-4FA8-B77A-1AE3B744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33600"/>
            <a:ext cx="1847850" cy="20383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123A55"/>
          </a:solidFill>
          <a:ln xmlns:a="http://schemas.openxmlformats.org/drawingml/2006/main" w="19050">
            <a:solidFill>
              <a:srgbClr val="33C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34FC3-5342-4406-B362-D1A88813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33600"/>
            <a:ext cx="1847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15C37-E7DC-45B2-9804-7927B78D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765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3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配准与质量评估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F1E38-451B-469A-886F-5EAB1371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86100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6E6ED"/>
                </a:solidFill>
                <a:latin typeface="FangSong"/>
                <a:ea typeface="FangSong"/>
                <a:cs typeface="FangSong"/>
              </a:defRPr>
            </a:pPr>
            <a:r>
              <a:rPr sz="1350" b="0">
                <a:solidFill>
                  <a:srgbClr val="D6E6ED"/>
                </a:solidFill>
                <a:latin typeface="FangSong"/>
                <a:ea typeface="FangSong"/>
                <a:cs typeface="FangSong"/>
              </a:rPr>
              <a:t>几何对齐</a:t>
            </a:r>
          </a:p>
          <a:p xmlns:a="http://schemas.openxmlformats.org/drawingml/2006/main">
            <a:pPr algn="ctr">
              <a:defRPr sz="1350" b="0">
                <a:solidFill>
                  <a:srgbClr val="D6E6ED"/>
                </a:solidFill>
                <a:latin typeface="FangSong"/>
                <a:ea typeface="FangSong"/>
                <a:cs typeface="FangSong"/>
              </a:defRPr>
            </a:pPr>
            <a:r>
              <a:rPr sz="1350" b="0">
                <a:solidFill>
                  <a:srgbClr val="D6E6ED"/>
                </a:solidFill>
                <a:latin typeface="FangSong"/>
                <a:ea typeface="FangSong"/>
                <a:cs typeface="FangSong"/>
              </a:rPr>
              <a:t>亮度与清晰度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CBD90-6EB2-43EB-B300-6A777C8D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33600"/>
            <a:ext cx="1847850" cy="20383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124A59"/>
          </a:solidFill>
          <a:ln xmlns:a="http://schemas.openxmlformats.org/drawingml/2006/main" w="19050">
            <a:solidFill>
              <a:srgbClr val="05A99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E236A-0BE8-417F-BC89-4D32FEB5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33600"/>
            <a:ext cx="1847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12D2B-86BE-4764-82AF-EDDA475D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双流检测网络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E7FFA-A2D4-49FC-B5C5-8DE81EB5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86100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6E6ED"/>
                </a:solidFill>
                <a:latin typeface="FangSong"/>
                <a:ea typeface="FangSong"/>
                <a:cs typeface="FangSong"/>
              </a:defRPr>
            </a:pPr>
            <a:r>
              <a:rPr sz="1350" b="0">
                <a:solidFill>
                  <a:srgbClr val="D6E6ED"/>
                </a:solidFill>
                <a:latin typeface="FangSong"/>
                <a:ea typeface="FangSong"/>
                <a:cs typeface="FangSong"/>
              </a:rPr>
              <a:t>质量感知融合</a:t>
            </a:r>
          </a:p>
          <a:p xmlns:a="http://schemas.openxmlformats.org/drawingml/2006/main">
            <a:pPr algn="ctr">
              <a:defRPr sz="1350" b="0">
                <a:solidFill>
                  <a:srgbClr val="D6E6ED"/>
                </a:solidFill>
                <a:latin typeface="FangSong"/>
                <a:ea typeface="FangSong"/>
                <a:cs typeface="FangSong"/>
              </a:defRPr>
            </a:pPr>
            <a:r>
              <a:rPr sz="1350" b="0">
                <a:solidFill>
                  <a:srgbClr val="D6E6ED"/>
                </a:solidFill>
                <a:latin typeface="FangSong"/>
                <a:ea typeface="FangSong"/>
                <a:cs typeface="FangSong"/>
              </a:rPr>
              <a:t>小目标增强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A1F49-BAC3-4226-B95E-D2477E02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33600"/>
            <a:ext cx="1847850" cy="20383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573824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8D691-F6A5-4A2D-84E4-233F7C40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33600"/>
            <a:ext cx="1847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84892C-8C7D-4952-8115-F15A9967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765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实时推理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A0E367-9F7C-465F-A238-6E31A0D1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86100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6E6ED"/>
                </a:solidFill>
                <a:latin typeface="FangSong"/>
                <a:ea typeface="FangSong"/>
                <a:cs typeface="FangSong"/>
              </a:defRPr>
            </a:pPr>
            <a:r>
              <a:rPr sz="1350" b="0">
                <a:solidFill>
                  <a:srgbClr val="D6E6ED"/>
                </a:solidFill>
                <a:latin typeface="FangSong"/>
                <a:ea typeface="FangSong"/>
                <a:cs typeface="FangSong"/>
              </a:rPr>
              <a:t>ONNX / TensorRT</a:t>
            </a:r>
          </a:p>
          <a:p xmlns:a="http://schemas.openxmlformats.org/drawingml/2006/main">
            <a:pPr algn="ctr">
              <a:defRPr sz="1350" b="0">
                <a:solidFill>
                  <a:srgbClr val="D6E6ED"/>
                </a:solidFill>
                <a:latin typeface="FangSong"/>
                <a:ea typeface="FangSong"/>
                <a:cs typeface="FangSong"/>
              </a:defRPr>
            </a:pPr>
            <a:r>
              <a:rPr sz="1350" b="0">
                <a:solidFill>
                  <a:srgbClr val="D6E6ED"/>
                </a:solidFill>
                <a:latin typeface="FangSong"/>
                <a:ea typeface="FangSong"/>
                <a:cs typeface="FangSong"/>
              </a:rPr>
              <a:t>视频流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9AD9BB-CF7C-4E60-93DC-1D38B7D2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33600"/>
            <a:ext cx="1847850" cy="20383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542A36"/>
          </a:solidFill>
          <a:ln xmlns:a="http://schemas.openxmlformats.org/drawingml/2006/main" w="19050">
            <a:solidFill>
              <a:srgbClr val="E85C5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520C4-FC52-49E6-8C68-B64F5712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33600"/>
            <a:ext cx="1847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CAA442-7722-4513-AFC4-90E8841D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765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业务输出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673F4E-6073-4539-AE05-136C581C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86100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6E6ED"/>
                </a:solidFill>
                <a:latin typeface="FangSong"/>
                <a:ea typeface="FangSong"/>
                <a:cs typeface="FangSong"/>
              </a:defRPr>
            </a:pPr>
            <a:r>
              <a:rPr sz="1350" b="0">
                <a:solidFill>
                  <a:srgbClr val="D6E6ED"/>
                </a:solidFill>
                <a:latin typeface="FangSong"/>
                <a:ea typeface="FangSong"/>
                <a:cs typeface="FangSong"/>
              </a:rPr>
              <a:t>检测 / 计数</a:t>
            </a:r>
          </a:p>
          <a:p xmlns:a="http://schemas.openxmlformats.org/drawingml/2006/main">
            <a:pPr algn="ctr">
              <a:defRPr sz="1350" b="0">
                <a:solidFill>
                  <a:srgbClr val="D6E6ED"/>
                </a:solidFill>
                <a:latin typeface="FangSong"/>
                <a:ea typeface="FangSong"/>
                <a:cs typeface="FangSong"/>
              </a:defRPr>
            </a:pPr>
            <a:r>
              <a:rPr sz="1350" b="0">
                <a:solidFill>
                  <a:srgbClr val="D6E6ED"/>
                </a:solidFill>
                <a:latin typeface="FangSong"/>
                <a:ea typeface="FangSong"/>
                <a:cs typeface="FangSong"/>
              </a:rPr>
              <a:t>拥堵与异常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FFD1A5-EDD5-4F89-ACB0-A28AB993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1028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2333"/>
          </a:solidFill>
          <a:ln xmlns:a="http://schemas.openxmlformats.org/drawingml/2006/main" w="9525">
            <a:solidFill>
              <a:srgbClr val="21465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106538-21CF-4219-8EBD-C34B7DC1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863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3C4E8"/>
                </a:solidFill>
                <a:latin typeface="FangSong"/>
                <a:ea typeface="FangSong"/>
                <a:cs typeface="FangSong"/>
              </a:defRPr>
            </a:pPr>
            <a:r>
              <a:rPr sz="1425" b="1">
                <a:solidFill>
                  <a:srgbClr val="33C4E8"/>
                </a:solidFill>
                <a:latin typeface="FangSong"/>
                <a:ea typeface="FangSong"/>
                <a:cs typeface="FangSong"/>
              </a:rPr>
              <a:t>核心原则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34E4CF-5F68-4CA0-A741-8932E28A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817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500" b="0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先判断模态是否可靠，再融合特征；先保留高分辨率细节，再完成密集目标判别。</a:t>
            </a:r>
          </a:p>
        </p:txBody>
      </p:sp>
    </p:spTree>
    <p:extLst>
      <p:ext uri="{BB962C8B-B14F-4D97-AF65-F5344CB8AC3E}">
        <p14:creationId xmlns:p14="http://schemas.microsoft.com/office/powerpoint/2010/main" val="4336368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6A8151-6C69-4208-824C-5A51493F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11D25-3552-403B-A037-993F32AC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24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医学影像方法的可解释迁移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36BAF-E3FC-48D6-B612-4E6624D0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团队优势落到具体算法模块和评价方法，不停留在领域类比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42315-58E4-4B89-9E4A-B0C1930C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29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C22F9-A6D2-4598-A668-DA425B39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e610f8ebab4c4b"/>
          <a:srcRect xmlns:a="http://schemas.openxmlformats.org/drawingml/2006/main" l="21980" t="0" r="219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6600" y="1428750"/>
            <a:ext cx="4457700" cy="4476750"/>
          </a:xfrm>
          <a:prstGeom xmlns:a="http://schemas.openxmlformats.org/drawingml/2006/main" prst="roundRect">
            <a:avLst>
              <a:gd name="adj" fmla="val 341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25A76-ABFB-409A-A53F-C2386465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C4E8"/>
                </a:solidFill>
                <a:latin typeface="FangSong"/>
                <a:ea typeface="FangSong"/>
                <a:cs typeface="FangSong"/>
              </a:defRPr>
            </a:pPr>
            <a:r>
              <a:rPr sz="1500" b="1">
                <a:solidFill>
                  <a:srgbClr val="33C4E8"/>
                </a:solidFill>
                <a:latin typeface="FangSong"/>
                <a:ea typeface="FangSong"/>
                <a:cs typeface="FangSong"/>
              </a:rPr>
              <a:t>CT / MRI配准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22417-795E-48C2-AD6D-3CB6E935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42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RGB / 热红外几何对齐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881F1-A411-4E32-B137-C8235BE9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43100"/>
            <a:ext cx="375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减少同一目标在两模态中的空间错位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E0E06-6EDD-4F97-AAAF-C4B46F83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AE03A-17C3-4FB7-8FFA-459F1864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A99B"/>
                </a:solidFill>
                <a:latin typeface="FangSong"/>
                <a:ea typeface="FangSong"/>
                <a:cs typeface="FangSong"/>
              </a:defRPr>
            </a:pPr>
            <a:r>
              <a:rPr sz="1500" b="1">
                <a:solidFill>
                  <a:srgbClr val="05A99B"/>
                </a:solidFill>
                <a:latin typeface="FangSong"/>
                <a:ea typeface="FangSong"/>
                <a:cs typeface="FangSong"/>
              </a:rPr>
              <a:t>微小病灶检测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E70F1-89BF-4440-B966-D8B70D59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67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42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小于32×32像素目标检测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66879-6B5F-4135-B081-EB565F05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48000"/>
            <a:ext cx="375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使用高分辨率P2层与召回优先评估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EFDDF-C003-41F4-8814-3F06EA02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28C72-79D2-4FDB-9CE5-4734159D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C4E8"/>
                </a:solidFill>
                <a:latin typeface="FangSong"/>
                <a:ea typeface="FangSong"/>
                <a:cs typeface="FangSong"/>
              </a:defRPr>
            </a:pPr>
            <a:r>
              <a:rPr sz="1500" b="1">
                <a:solidFill>
                  <a:srgbClr val="33C4E8"/>
                </a:solidFill>
                <a:latin typeface="FangSong"/>
                <a:ea typeface="FangSong"/>
                <a:cs typeface="FangSong"/>
              </a:rPr>
              <a:t>弱信号增强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6CE37-27BE-47C1-996A-46F2EF41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71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42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夜间低照度与远距离目标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8B0F0-6A4D-45AF-B0D4-BE2C6DD3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52900"/>
            <a:ext cx="375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根据模态质量动态分配信息权重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DF268D-A887-4784-B007-8EE2D769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8095E-F337-413B-8083-337F2480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A99B"/>
                </a:solidFill>
                <a:latin typeface="FangSong"/>
                <a:ea typeface="FangSong"/>
                <a:cs typeface="FangSong"/>
              </a:defRPr>
            </a:pPr>
            <a:r>
              <a:rPr sz="1500" b="1">
                <a:solidFill>
                  <a:srgbClr val="05A99B"/>
                </a:solidFill>
                <a:latin typeface="FangSong"/>
                <a:ea typeface="FangSong"/>
                <a:cs typeface="FangSong"/>
              </a:rPr>
              <a:t>多尺度分割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A067A-C3EA-4BC6-9CC8-3F8AD344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76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42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FPN跨层特征聚合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A1CBDA-76B6-4E96-A036-4531C449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57800"/>
            <a:ext cx="375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保留细粒度边缘并融合高层语义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FA1CC6-6B56-43F7-9BBE-76C9FD85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7440CB-D85F-40AF-8C24-9085B456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C5C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E85C5C"/>
                </a:solidFill>
                <a:latin typeface="FangSong"/>
                <a:ea typeface="FangSong"/>
                <a:cs typeface="FangSong"/>
              </a:rPr>
              <a:t>迁移边界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398DAB-28B2-464F-927B-D8BCF1F6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0388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交通场景的数据分布、类别不平衡和实时性要求仍需重新训练与验证。</a:t>
            </a:r>
          </a:p>
        </p:txBody>
      </p:sp>
    </p:spTree>
    <p:extLst>
      <p:ext uri="{BB962C8B-B14F-4D97-AF65-F5344CB8AC3E}">
        <p14:creationId xmlns:p14="http://schemas.microsoft.com/office/powerpoint/2010/main" val="10971939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629650" y="2524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8AABD"/>
            </a:solidFill>
            <a:prstDash val="soli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848350" y="2524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8AABD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67050" y="2524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8AABD"/>
            </a:solidFill>
            <a:prstDash val="solid"/>
            <a:tailEnd type="arrow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4E4E6E-AE37-4151-8AAA-9852FC3E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2D936-607C-4422-949D-7378AF02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24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数据工程与评估切片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40A2D-1493-485A-81F5-592053FB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先控制数据泄漏和模态错位，再讨论模型精度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A743F-1CC7-4B31-A898-3A32A4B0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29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CB520-EE91-4379-A245-A002FDAE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216A9-9699-474A-BE50-1081721E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400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5B578-793A-4A42-A1FE-97BAEF20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400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50428-E03D-45F5-8F02-64DCFD5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数据来源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68D84-2E7F-43B8-86D7-BDDB1AAF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53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DroneVehicle为主</a:t>
            </a:r>
          </a:p>
          <a:p xmlns:a="http://schemas.openxmlformats.org/drawingml/2006/main">
            <a:pPr algn="ctr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VEDAI用于补充或外部验证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15AFBB-0C47-44C7-B9FC-700A4F76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19250"/>
            <a:ext cx="2400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20E39-F93E-46B8-8B01-2E09748F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19250"/>
            <a:ext cx="2400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B9959-48AF-4A4F-BEF5-CA64A056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431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成对校验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814CC-B4EE-439E-B7D8-CEBF267A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527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文件名与时间戳匹配</a:t>
            </a:r>
          </a:p>
          <a:p xmlns:a="http://schemas.openxmlformats.org/drawingml/2006/main">
            <a:pPr algn="ctr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抽样检查RGB-T配准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F9492-49DB-4675-8E74-97386E6D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19250"/>
            <a:ext cx="2400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97D62-2DEE-4FB5-B42D-E641C609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19250"/>
            <a:ext cx="2400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CC0979-6F95-45AD-86DA-C1F63826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431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标签统一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FF930B-93F3-4C32-BFDC-4B397C2A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527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至少5类目标</a:t>
            </a:r>
          </a:p>
          <a:p xmlns:a="http://schemas.openxmlformats.org/drawingml/2006/main">
            <a:pPr algn="ctr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OBB与HBB双格式导出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F46E3-6890-4AC1-A0E0-692736E4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19250"/>
            <a:ext cx="2400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E04C5A-7161-4789-8F2A-7196230A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19250"/>
            <a:ext cx="2400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B7033-0AB4-46BB-A941-C30A821E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431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场景划分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4492F6-02BE-45C6-837B-3F10A8A1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按视频序列或区域切分</a:t>
            </a:r>
          </a:p>
          <a:p xmlns:a="http://schemas.openxmlformats.org/drawingml/2006/main">
            <a:pPr algn="ctr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避免相邻帧泄漏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AA36CD-B8B6-461D-8C23-DA95BA61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80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四类评估切片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6C1C30-20C3-45B3-9C3C-C27C50AE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A128B2-CC1F-4359-B6B8-CF2E834C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C4E8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33C4E8"/>
                </a:solidFill>
                <a:latin typeface="FangSong"/>
                <a:ea typeface="FangSong"/>
                <a:cs typeface="FangSong"/>
              </a:rPr>
              <a:t>目标尺度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2D6C43-554B-486D-87F2-CBF0BAF5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small / medium / large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79399C-1FC7-4D45-9000-4B284301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910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61702E-5D41-4719-8B3E-A334DF82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006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8A3D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FF8A3D"/>
                </a:solidFill>
                <a:latin typeface="FangSong"/>
                <a:ea typeface="FangSong"/>
                <a:cs typeface="FangSong"/>
              </a:rPr>
              <a:t>光照条件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6B15DF-A698-4057-B7D0-32435F73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625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白天 / 黄昏 / 夜间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467E44-3BB7-4480-ABA5-CA9FB25E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910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39189B-863E-423B-8C95-80794C01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006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A99B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05A99B"/>
                </a:solidFill>
                <a:latin typeface="FangSong"/>
                <a:ea typeface="FangSong"/>
                <a:cs typeface="FangSong"/>
              </a:rPr>
              <a:t>目标密度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C4F159-477C-4E9A-83B0-41BCFD74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625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稀疏 / 中等 / 拥堵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AEE79-0950-448D-A4E5-ED4CED68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910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79E232-C126-4A2C-80BB-CB51CE4F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006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85C5C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E85C5C"/>
                </a:solidFill>
                <a:latin typeface="FangSong"/>
                <a:ea typeface="FangSong"/>
                <a:cs typeface="FangSong"/>
              </a:rPr>
              <a:t>天气域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8FF9EC-A46E-4F71-9491-FE2F72BC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625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晴天 / 雾霾 / 降雨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FC70DD-720B-4FA3-9306-54B88826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769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1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增强策略：两模态共享几何变换；亮度、色偏和噪声只作用于对应模态，避免破坏成对关系。</a:t>
            </a:r>
          </a:p>
        </p:txBody>
      </p:sp>
    </p:spTree>
    <p:extLst>
      <p:ext uri="{BB962C8B-B14F-4D97-AF65-F5344CB8AC3E}">
        <p14:creationId xmlns:p14="http://schemas.microsoft.com/office/powerpoint/2010/main" val="1621873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2FFAC-77FD-4460-B7D3-D4FCEAD1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40311-3ECC-45E6-B561-1A598B4F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24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基线模型与评估基准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E720A-19C6-4574-86F9-E949245B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以可复现的YOLO基线建立证据，再逐项验证算法改进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83709-6E95-4E5F-83B1-A7A180D9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29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1E28C-E5B0-4CB2-8B94-28711AD5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704850" y="1562100"/>
          <a:ext xmlns:a="http://schemas.openxmlformats.org/drawingml/2006/main" cx="108013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3638550"/>
                <a:gridCol w="297180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FangSong"/>
                          <a:ea typeface="FangSong"/>
                          <a:cs typeface="FangSong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solidFill>
                      <a:srgbClr val="0A29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FangSong"/>
                          <a:ea typeface="FangSong"/>
                          <a:cs typeface="FangSong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0A29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FangSong"/>
                          <a:ea typeface="FangSong"/>
                          <a:cs typeface="FangSong"/>
                        </a:rPr>
                        <a:t>作用</a:t>
                      </a:r>
                    </a:p>
                  </a:txBody>
                  <a:tcPr marL="91440" marR="91440" marT="45720" marB="45720" anchor="ctr">
                    <a:solidFill>
                      <a:srgbClr val="0A29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FangSong"/>
                          <a:ea typeface="FangSong"/>
                          <a:cs typeface="FangSong"/>
                        </a:rPr>
                        <a:t>关键输出</a:t>
                      </a:r>
                    </a:p>
                  </a:txBody>
                  <a:tcPr marL="91440" marR="91440" marT="45720" marB="45720" anchor="ctr">
                    <a:solidFill>
                      <a:srgbClr val="0A294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Baseline-R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仅RGB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评估纹理与颜色贡献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mAP、APs、夜间Recall</a:t>
                      </a:r>
                    </a:p>
                  </a:txBody>
                  <a:tcPr marL="76200" marR="76200" marT="47625" marB="47625" anchor="ctr"/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Baseline-T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仅热红外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评估热目标与昼夜稳定性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mAP、APs、白天Recall</a:t>
                      </a:r>
                    </a:p>
                  </a:txBody>
                  <a:tcPr marL="76200" marR="76200" marT="47625" marB="47625" anchor="ctr"/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Baseline-C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简单通道融合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判断双光数据是否带来增益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融合增益、参数量</a:t>
                      </a:r>
                    </a:p>
                  </a:txBody>
                  <a:tcPr marL="76200" marR="76200" marT="47625" marB="47625" anchor="ctr"/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Proposed</a:t>
                      </a:r>
                    </a:p>
                  </a:txBody>
                  <a:tcPr marL="76200" marR="76200" marT="47625" marB="47625" anchor="ctr">
                    <a:solidFill>
                      <a:srgbClr val="E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质量感知RGB-T</a:t>
                      </a:r>
                    </a:p>
                  </a:txBody>
                  <a:tcPr marL="76200" marR="76200" marT="47625" marB="47625" anchor="ctr">
                    <a:solidFill>
                      <a:srgbClr val="E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验证融合与小目标模块</a:t>
                      </a:r>
                    </a:p>
                  </a:txBody>
                  <a:tcPr marL="76200" marR="76200" marT="47625" marB="47625" anchor="ctr">
                    <a:solidFill>
                      <a:srgbClr val="E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mAP、APs、FPS、显存</a:t>
                      </a:r>
                    </a:p>
                  </a:txBody>
                  <a:tcPr marL="76200" marR="76200" marT="47625" marB="47625" anchor="ctr">
                    <a:solidFill>
                      <a:srgbClr val="E7F5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4E32B-4FA2-4018-B402-507D86EE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0801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3F8A7-9F34-49F7-9771-8403179B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A99B"/>
                </a:solidFill>
                <a:latin typeface="FangSong"/>
                <a:ea typeface="FangSong"/>
                <a:cs typeface="FangSong"/>
              </a:defRPr>
            </a:pPr>
            <a:r>
              <a:rPr sz="1500" b="1">
                <a:solidFill>
                  <a:srgbClr val="05A99B"/>
                </a:solidFill>
                <a:latin typeface="FangSong"/>
                <a:ea typeface="FangSong"/>
                <a:cs typeface="FangSong"/>
              </a:rPr>
              <a:t>评价主线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B7C77-A2D3-4126-AFF0-C48B338A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219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整体精度 mAP@0.5:0.95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3D46D-78FC-4F25-BFAB-CA8F45A5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2197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小目标 APs / Recall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49AE1-AF36-4AAA-A3B5-86E30E20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2197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速度 FPS / 延迟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B25A2-4746-4F57-BD1A-7998F409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2197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复杂度 Params / FLOPs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DB263-ACB2-4733-A122-1425BA47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388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所有模型使用相同切分、输入尺寸、训练轮数和阈值，保证比较公平。</a:t>
            </a:r>
          </a:p>
        </p:txBody>
      </p:sp>
    </p:spTree>
    <p:extLst>
      <p:ext uri="{BB962C8B-B14F-4D97-AF65-F5344CB8AC3E}">
        <p14:creationId xmlns:p14="http://schemas.microsoft.com/office/powerpoint/2010/main" val="1128577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" name=""/>
          <p:cNvCxnSpPr>
            <a:stCxn xmlns:a="http://schemas.openxmlformats.org/drawingml/2006/main" id="21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V="1">
            <a:off x="9963150" y="3390900"/>
            <a:ext cx="70485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85C5C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8210550" y="3419475"/>
            <a:ext cx="17526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8A3D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H="1">
            <a:off x="8210550" y="2066925"/>
            <a:ext cx="17526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A2B6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410450" y="2962275"/>
            <a:ext cx="80010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5A99B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7410450" y="2066925"/>
            <a:ext cx="80010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5A99B"/>
            </a:solidFill>
            <a:prstDash val="soli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4533900" y="2962275"/>
            <a:ext cx="76200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8A3D"/>
            </a:solidFill>
            <a:prstDash val="soli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533900" y="2181225"/>
            <a:ext cx="76200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C4E8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962150" y="37242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8A3D"/>
            </a:solidFill>
            <a:prstDash val="soli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962150" y="21812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C4E8"/>
            </a:solidFill>
            <a:prstDash val="solid"/>
            <a:tailEnd type="arrow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50568C-3550-4C0E-B495-DB0A9931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10EA1-2E3E-4CB6-96E4-4590677C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2475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SkyFusion-TD 网络架构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7C7E6-2489-401D-9790-88B2BE85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3DF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B9D3DF"/>
                </a:solidFill>
                <a:latin typeface="FangSong"/>
                <a:ea typeface="FangSong"/>
                <a:cs typeface="FangSong"/>
              </a:rPr>
              <a:t>双流编码、质量感知融合、高分辨率检测头构成主干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F1508-2B6E-4D31-B8A1-2B7334DA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29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3C4E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33C4E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B8048-3575-4099-8F3A-3BD0845A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16A5C-7B24-4890-BB3E-4F26F8DF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13716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2354D"/>
          </a:solidFill>
          <a:ln xmlns:a="http://schemas.openxmlformats.org/drawingml/2006/main" w="19050">
            <a:solidFill>
              <a:srgbClr val="33C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D549F-E5B9-4FB6-8CA7-4AA2C347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3716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503023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8566C-757B-41A2-ABE5-F0CFC255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C4E8"/>
                </a:solidFill>
                <a:latin typeface="FangSong"/>
                <a:ea typeface="FangSong"/>
                <a:cs typeface="FangSong"/>
              </a:defRPr>
            </a:pPr>
            <a:r>
              <a:rPr sz="1800" b="1">
                <a:solidFill>
                  <a:srgbClr val="33C4E8"/>
                </a:solidFill>
                <a:latin typeface="FangSong"/>
                <a:ea typeface="FangSong"/>
                <a:cs typeface="FangSong"/>
              </a:rPr>
              <a:t>RGB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F640B-D428-4CAB-BF9D-2FA8A7D1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8A3D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FF8A3D"/>
                </a:solidFill>
                <a:latin typeface="FangSong"/>
                <a:ea typeface="FangSong"/>
                <a:cs typeface="FangSong"/>
              </a:rPr>
              <a:t>Thermal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B5A24-75BC-4563-8FBB-72B9C098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192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23A55"/>
          </a:solidFill>
          <a:ln xmlns:a="http://schemas.openxmlformats.org/drawingml/2006/main" w="9525">
            <a:solidFill>
              <a:srgbClr val="36657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8A7CC-C5DA-4D25-AAE0-0CBB24FA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6230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23A55"/>
          </a:solidFill>
          <a:ln xmlns:a="http://schemas.openxmlformats.org/drawingml/2006/main" w="9525">
            <a:solidFill>
              <a:srgbClr val="6B493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47924-B4A3-4A3D-A4AE-9899E226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669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575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RGB Encoder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50642-265E-471B-B31C-66D4CA9D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050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FD8E5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BFD8E5"/>
                </a:solidFill>
                <a:latin typeface="FangSong"/>
                <a:ea typeface="FangSong"/>
                <a:cs typeface="FangSong"/>
              </a:rPr>
              <a:t>C2 / C3 / C4 / C5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55778-8104-4F00-B51A-225DFE32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99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575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T Encoder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FA5B0-84D6-44A5-A325-8042DF29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481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7C8B8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E7C8B8"/>
                </a:solidFill>
                <a:latin typeface="FangSong"/>
                <a:ea typeface="FangSong"/>
                <a:cs typeface="FangSong"/>
              </a:rPr>
              <a:t>C2 / C3 / C4 / C5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F84D9-A9AF-4036-9F1B-E241796A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57400"/>
            <a:ext cx="21145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4A57"/>
          </a:solidFill>
          <a:ln xmlns:a="http://schemas.openxmlformats.org/drawingml/2006/main" w="19050">
            <a:solidFill>
              <a:srgbClr val="05A99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6A392A-BD4D-4C46-A6B0-92C3A404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356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8CE4F6"/>
                </a:solidFill>
                <a:latin typeface="FangSong"/>
                <a:ea typeface="FangSong"/>
                <a:cs typeface="FangSong"/>
              </a:defRPr>
            </a:pPr>
            <a:r>
              <a:rPr sz="2175" b="1">
                <a:solidFill>
                  <a:srgbClr val="8CE4F6"/>
                </a:solidFill>
                <a:latin typeface="FangSong"/>
                <a:ea typeface="FangSong"/>
                <a:cs typeface="FangSong"/>
              </a:rPr>
              <a:t>QAFM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42C539-DF00-4FD1-81BD-46105262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14650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500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质量感知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500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跨模态融合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E2F87-7E66-450A-8692-4720F513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62100"/>
            <a:ext cx="17526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23A55"/>
          </a:solidFill>
          <a:ln xmlns:a="http://schemas.openxmlformats.org/drawingml/2006/main" w="9525">
            <a:solidFill>
              <a:srgbClr val="436B8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AB9FF3-429F-4699-9006-B9E585E3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17526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5A3B24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0402CE-2021-4C51-87DF-50026D4F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67200"/>
            <a:ext cx="17526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4F2C38"/>
          </a:solidFill>
          <a:ln xmlns:a="http://schemas.openxmlformats.org/drawingml/2006/main" w="19050">
            <a:solidFill>
              <a:srgbClr val="E85C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057DEA-85C3-49AC-9621-DE8A91AC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907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BiFPN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56E2A6-C3DB-4B9A-B463-550AFD12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907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CE6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C8DCE6"/>
                </a:solidFill>
                <a:latin typeface="FangSong"/>
                <a:ea typeface="FangSong"/>
                <a:cs typeface="FangSong"/>
              </a:rPr>
              <a:t>跨尺度聚合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54F8F9-366B-4BC6-8A44-14D41FB9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8A3D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FF8A3D"/>
                </a:solidFill>
                <a:latin typeface="FangSong"/>
                <a:ea typeface="FangSong"/>
                <a:cs typeface="FangSong"/>
              </a:rPr>
              <a:t>Tiny-P2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F9B123-0E20-45E5-952E-D5C5F691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43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3D5BF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F3D5BF"/>
                </a:solidFill>
                <a:latin typeface="FangSong"/>
                <a:ea typeface="FangSong"/>
                <a:cs typeface="FangSong"/>
              </a:rPr>
              <a:t>4倍下采样检测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1C6C2B-9DDE-4F47-99B7-D4FDEE09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76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9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500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Decoupled Head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364F07-9914-414F-91EE-35B5223A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149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9CBD4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E9CBD4"/>
                </a:solidFill>
                <a:latin typeface="FangSong"/>
                <a:ea typeface="FangSong"/>
                <a:cs typeface="FangSong"/>
              </a:rPr>
              <a:t>分类与回归解耦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4AF2FD-6442-4C26-90B7-646B24F3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86050"/>
            <a:ext cx="990600" cy="14097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C4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3A5500-EEDB-40D4-90B0-B3BA9742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8956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50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208B0E-B612-4377-B1DD-71B7F37A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0"/>
            <a:ext cx="647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9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类别</a:t>
            </a:r>
          </a:p>
          <a:p xmlns:a="http://schemas.openxmlformats.org/drawingml/2006/main">
            <a:pPr algn="ctr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位置</a:t>
            </a:r>
          </a:p>
          <a:p xmlns:a="http://schemas.openxmlformats.org/drawingml/2006/main">
            <a:pPr algn="ctr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置信度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5F38E8-6B3F-42A8-B4A1-D3E29D44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9334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E2333"/>
          </a:solidFill>
          <a:ln xmlns:a="http://schemas.openxmlformats.org/drawingml/2006/main" w="9525">
            <a:solidFill>
              <a:srgbClr val="21465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783ADF-EF78-487D-99CD-CF393058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67400"/>
            <a:ext cx="883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设计取舍：中层融合兼顾模态独立性与语义交互，P2检测头专门保留小目标细节。</a:t>
            </a:r>
          </a:p>
        </p:txBody>
      </p:sp>
    </p:spTree>
    <p:extLst>
      <p:ext uri="{BB962C8B-B14F-4D97-AF65-F5344CB8AC3E}">
        <p14:creationId xmlns:p14="http://schemas.microsoft.com/office/powerpoint/2010/main" val="1288663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896350" y="317182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5A99B"/>
            </a:solidFill>
            <a:prstDash val="solid"/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848350" y="3171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5A99B"/>
            </a:solidFill>
            <a:prstDash val="solid"/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819400" y="3171825"/>
            <a:ext cx="87630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8A3D"/>
            </a:solidFill>
            <a:prstDash val="solid"/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819400" y="2333625"/>
            <a:ext cx="87630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C4E8"/>
            </a:solidFill>
            <a:prstDash val="solid"/>
            <a:tailEnd type="arrow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0A77DC-9F3D-4B93-9B1B-81F35F75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786E6-D84F-4CA5-AA95-C454DC96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24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质量感知跨模态融合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45C0B-563F-450A-91A3-39D4966B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融合权重由场景质量决定，避免低质量模态污染联合特征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FAFEE-7A7D-4279-8C75-7FB63C31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29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FC86E-1749-45BA-942D-D498D140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F9616-FD83-47A0-ACBA-BDF6306F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1336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7F9FC"/>
          </a:solidFill>
          <a:ln xmlns:a="http://schemas.openxmlformats.org/drawingml/2006/main" w="9525">
            <a:solidFill>
              <a:srgbClr val="33C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47319-CBC0-4950-814E-00BC939B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1336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FF8A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CF63E-9272-4BAD-8BAD-68582F80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5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RGB特征 Fᵣ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9C9AA-3218-443B-A14B-2F2444C2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亮度 / 对比度 / 模糊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ED5EC-66CD-41D4-9FFE-3563DC70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5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热红外特征 Fₜ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A2E1E-F23B-4F65-A171-72605A8B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热对比 / 噪声 / 饱和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2059A-D2BA-4760-B4EB-48F97A36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81250"/>
            <a:ext cx="21526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0A29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123F2-8621-4D11-ACE7-DFB2F13E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479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3C4E8"/>
                </a:solidFill>
                <a:latin typeface="FangSong"/>
                <a:ea typeface="FangSong"/>
                <a:cs typeface="FangSong"/>
              </a:defRPr>
            </a:pPr>
            <a:r>
              <a:rPr sz="1725" b="1">
                <a:solidFill>
                  <a:srgbClr val="33C4E8"/>
                </a:solidFill>
                <a:latin typeface="FangSong"/>
                <a:ea typeface="FangSong"/>
                <a:cs typeface="FangSong"/>
              </a:rPr>
              <a:t>质量估计器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2B550-0053-424F-8898-CE443F09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4325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621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输出像素级门控 α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同时约束跨模态一致性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E7B8D-D7F4-4BDB-B24C-2CEB2058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2190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19050">
            <a:solidFill>
              <a:srgbClr val="05A9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86F61-A2FE-4D6D-AC83-65D8E3B5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47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5A99B"/>
                </a:solidFill>
                <a:latin typeface="FangSong"/>
                <a:ea typeface="FangSong"/>
                <a:cs typeface="FangSong"/>
              </a:defRPr>
            </a:pPr>
            <a:r>
              <a:rPr sz="1725" b="1">
                <a:solidFill>
                  <a:srgbClr val="05A99B"/>
                </a:solidFill>
                <a:latin typeface="FangSong"/>
                <a:ea typeface="FangSong"/>
                <a:cs typeface="FangSong"/>
              </a:rPr>
              <a:t>门控融合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8F47A-E06C-480E-8308-AB0B24D6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24200"/>
            <a:ext cx="1695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F = a × Fr +</a:t>
            </a:r>
          </a:p>
          <a:p xmlns:a="http://schemas.openxmlformats.org/drawingml/2006/main">
            <a:pPr algn="ctr">
              <a:defRPr sz="13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(1-a) × Ft + 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60E9F1-FD63-4484-97C7-432CDD02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81250"/>
            <a:ext cx="17907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B276DF-C905-4269-85FF-4143F892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670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融合特征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43135E-33E2-4635-ABCD-AA6860E3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43250"/>
            <a:ext cx="1181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保留纹理</a:t>
            </a:r>
          </a:p>
          <a:p xmlns:a="http://schemas.openxmlformats.org/drawingml/2006/main">
            <a:pPr algn="ctr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强化热目标</a:t>
            </a:r>
          </a:p>
          <a:p xmlns:a="http://schemas.openxmlformats.org/drawingml/2006/main">
            <a:pPr algn="ctr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抑制噪声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41FA2-957C-4108-AD19-EE0A1BA0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39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29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98FD04-1D20-4555-9D89-251CB047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C4E8"/>
                </a:solidFill>
                <a:latin typeface="FangSong"/>
                <a:ea typeface="FangSong"/>
                <a:cs typeface="FangSong"/>
              </a:defRPr>
            </a:pPr>
            <a:r>
              <a:rPr sz="1500" b="1">
                <a:solidFill>
                  <a:srgbClr val="33C4E8"/>
                </a:solidFill>
                <a:latin typeface="FangSong"/>
                <a:ea typeface="FangSong"/>
                <a:cs typeface="FangSong"/>
              </a:rPr>
              <a:t>医学影像启发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010372-0B28-4C90-A47E-39EED381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006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425" b="0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与多模态MRI/CT融合相同，先校正空间关系，再判断每个模态在当前区域是否可信。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F3C88F-DE52-4CE7-9115-837B5D46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57850"/>
            <a:ext cx="828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FCBD7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AFCBD7"/>
                </a:solidFill>
                <a:latin typeface="FangSong"/>
                <a:ea typeface="FangSong"/>
                <a:cs typeface="FangSong"/>
              </a:rPr>
              <a:t>验证方式：与RGB、热红外、简单拼接和固定权重融合逐项对照。</a:t>
            </a:r>
          </a:p>
        </p:txBody>
      </p:sp>
    </p:spTree>
    <p:extLst>
      <p:ext uri="{BB962C8B-B14F-4D97-AF65-F5344CB8AC3E}">
        <p14:creationId xmlns:p14="http://schemas.microsoft.com/office/powerpoint/2010/main" val="8401932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6" name=""/>
          <p:cNvCxnSpPr>
            <a:stCxn xmlns:a="http://schemas.openxmlformats.org/drawingml/2006/main" id="1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982200" y="25527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85C5C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43800" y="25527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FB0"/>
            </a:solidFill>
            <a:prstDash val="solid"/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105400" y="25527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FB0"/>
            </a:solidFill>
            <a:prstDash val="solid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67000" y="25527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FB0"/>
            </a:solidFill>
            <a:prstDash val="solid"/>
            <a:tailEnd type="arrow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6D0DEE-CB4C-496E-9B16-19A39A7A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C9C12-D236-436E-8EEB-3A12BAA8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24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小目标特征保真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38689-CB92-4189-A60F-B1A49254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高分辨率分支与无损下采样共同减少极小目标信息丢失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888A5-C177-4369-BF25-B8CE7386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29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874DC-78D3-40BD-80BB-5785E6C0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9621B-C12D-4D88-81AF-151C96FC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383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7F9FC"/>
          </a:solidFill>
          <a:ln xmlns:a="http://schemas.openxmlformats.org/drawingml/2006/main" w="19050">
            <a:solidFill>
              <a:srgbClr val="33C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1217A-6A4B-42D7-911E-2C90B0F7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5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输入 1024×1024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BE3E8-B813-4CAC-BBEF-4BA3747D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保持更高原始分辨率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8FAF8-9E70-4693-96C1-8DECA2D0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09750"/>
            <a:ext cx="20383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19050">
            <a:solidFill>
              <a:srgbClr val="05A99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3847F-5B9E-4828-BBE1-6B983E00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5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SPD-Conv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18689-99CE-4387-B040-FE9C7690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479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1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空间信息重排后降采样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7E60A-C03E-4B4A-8053-9DA92B58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09750"/>
            <a:ext cx="20383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5A0FA-3E5F-4A49-9373-01971546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955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5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P2特征层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C3E19-9CB4-4B55-8D49-947D23BA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479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保留4倍下采样细节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C7E3F-30A2-4AC9-BC94-AC20A927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20383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19050">
            <a:solidFill>
              <a:srgbClr val="E85C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885AB-BCCD-4620-AF87-B6123FFE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5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Tiny Head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79398-91B7-4B0F-934A-D64FFBF8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独立处理极小目标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C9B5FA-F9D3-4D85-9A89-AC92C47C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09750"/>
            <a:ext cx="1219200" cy="14859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A2941"/>
          </a:solidFill>
          <a:ln xmlns:a="http://schemas.openxmlformats.org/drawingml/2006/main" w="9525">
            <a:solidFill>
              <a:srgbClr val="33C4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9CBCD-BA48-4A72-9C16-F3DD1C8E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764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3C4E8"/>
                </a:solidFill>
                <a:latin typeface="FangSong"/>
                <a:ea typeface="FangSong"/>
                <a:cs typeface="FangSong"/>
              </a:defRPr>
            </a:pPr>
            <a:r>
              <a:rPr sz="2250" b="1">
                <a:solidFill>
                  <a:srgbClr val="33C4E8"/>
                </a:solidFill>
                <a:latin typeface="FangSong"/>
                <a:ea typeface="FangSong"/>
                <a:cs typeface="FangSong"/>
              </a:rPr>
              <a:t>APs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09C199-9FC4-4274-9CC4-8F45DE8B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6670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小目标</a:t>
            </a:r>
          </a:p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召回率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CAD7CC-48C6-4055-9E2E-575ACD88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80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为什么有效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1D84C-571A-4411-BF11-1E7F994A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973504-B2EF-4E03-AC51-DB7209F8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3C4E8"/>
                </a:solidFill>
                <a:latin typeface="FangSong"/>
                <a:ea typeface="FangSong"/>
                <a:cs typeface="FangSong"/>
              </a:defRPr>
            </a:pPr>
            <a:r>
              <a:rPr sz="1425" b="1">
                <a:solidFill>
                  <a:srgbClr val="33C4E8"/>
                </a:solidFill>
                <a:latin typeface="FangSong"/>
                <a:ea typeface="FangSong"/>
                <a:cs typeface="FangSong"/>
              </a:rPr>
              <a:t>细节保留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C27944-C937-4416-8A06-B70949D7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P2层比常规P3层多保留一倍空间分辨率，微小车辆不会过早消失。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9F03A6-CB30-448C-B91D-F5277BBD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76750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AB1C1B-DCBB-4BA2-9359-5E46D07D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7053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8A3D"/>
                </a:solidFill>
                <a:latin typeface="FangSong"/>
                <a:ea typeface="FangSong"/>
                <a:cs typeface="FangSong"/>
              </a:defRPr>
            </a:pPr>
            <a:r>
              <a:rPr sz="1425" b="1">
                <a:solidFill>
                  <a:srgbClr val="FF8A3D"/>
                </a:solidFill>
                <a:latin typeface="FangSong"/>
                <a:ea typeface="FangSong"/>
                <a:cs typeface="FangSong"/>
              </a:rPr>
              <a:t>尺度匹配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E5C4E5-ABC9-4F87-AFD9-5CE6C5F7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4350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独立检测头避免大目标梯度主导小目标学习。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83E82E-9AB7-4B96-B91B-0ED519C6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76750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BB47BA-5DD5-405D-B90D-4A3678C0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A99B"/>
                </a:solidFill>
                <a:latin typeface="FangSong"/>
                <a:ea typeface="FangSong"/>
                <a:cs typeface="FangSong"/>
              </a:defRPr>
            </a:pPr>
            <a:r>
              <a:rPr sz="1425" b="1">
                <a:solidFill>
                  <a:srgbClr val="05A99B"/>
                </a:solidFill>
                <a:latin typeface="FangSong"/>
                <a:ea typeface="FangSong"/>
                <a:cs typeface="FangSong"/>
              </a:rPr>
              <a:t>上下文补偿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125659-3CE1-41EF-805B-F7A0105A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4350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融合周边车道与热响应信息，降低弱纹理目标的不确定性。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F9C1DA-E4A1-4D74-B5DC-A4197488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912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1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计算约束：仅在P2启用轻量卷积，避免小目标增益以明显降低FPS为代价。</a:t>
            </a:r>
          </a:p>
        </p:txBody>
      </p:sp>
    </p:spTree>
    <p:extLst>
      <p:ext uri="{BB962C8B-B14F-4D97-AF65-F5344CB8AC3E}">
        <p14:creationId xmlns:p14="http://schemas.microsoft.com/office/powerpoint/2010/main" val="14794480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52C2F6-B922-4503-9F5B-DCC2E261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73A31-71F7-469C-B040-77C99EA7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24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密集遮挡下的判别优化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339F9-2D5A-4409-B185-6FFEBFCC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训练分配、损失函数和后处理共同减少漏检与重复框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91BB5-6D41-4640-81DC-BA8DE1F1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29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850A5-DB4F-4600-A1B5-29B9C12F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02ADD-DCCF-4529-AA33-990DD188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3C4E8"/>
                </a:solidFill>
                <a:latin typeface="FangSong"/>
                <a:ea typeface="FangSong"/>
                <a:cs typeface="FangSong"/>
              </a:defRPr>
            </a:pPr>
            <a:r>
              <a:rPr sz="2250" b="1">
                <a:solidFill>
                  <a:srgbClr val="33C4E8"/>
                </a:solidFill>
                <a:latin typeface="FangSong"/>
                <a:ea typeface="FangSong"/>
                <a:cs typeface="FangSong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A27E0-5D15-4950-A454-D75A42CA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43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正负样本分配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4CDF7-2AFB-403C-99C6-3C0AE356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621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采用任务对齐分配，综合分类置信度与定位质量选择正样本。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47803-DC2D-45A4-A078-DFD3FBE2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1813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3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74820-4BD1-4ED7-A455-A36F68EB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383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275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减少密集目标之间的标签冲突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A4476-66D3-4A7F-A055-53474055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0534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06685-C1E2-4DF0-B93A-916C9A3F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5A99B"/>
                </a:solidFill>
                <a:latin typeface="FangSong"/>
                <a:ea typeface="FangSong"/>
                <a:cs typeface="FangSong"/>
              </a:defRPr>
            </a:pPr>
            <a:r>
              <a:rPr sz="2250" b="1">
                <a:solidFill>
                  <a:srgbClr val="05A99B"/>
                </a:solidFill>
                <a:latin typeface="FangSong"/>
                <a:ea typeface="FangSong"/>
                <a:cs typeface="FangSong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B16D3-D993-4D34-87BB-F3884FB4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71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分类与回归损失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8235F-5D53-4C84-A3C9-AF66BE93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9090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VFL关注高质量正样本，SIoU与DFL提高小框定位稳定性。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5EEACA-8915-4301-81E4-20EB1B8D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86100"/>
            <a:ext cx="31813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ABFA6-B385-4C9A-BDC3-FE85B378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6707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275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提高难例识别与框精度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8DCFE-3015-49E2-BCFC-3A68DD43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0534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957B3-72A9-4974-BD72-A0563BDF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8A3D"/>
                </a:solidFill>
                <a:latin typeface="FangSong"/>
                <a:ea typeface="FangSong"/>
                <a:cs typeface="FangSong"/>
              </a:defRPr>
            </a:pPr>
            <a:r>
              <a:rPr sz="2250" b="1">
                <a:solidFill>
                  <a:srgbClr val="FF8A3D"/>
                </a:solidFill>
                <a:latin typeface="FangSong"/>
                <a:ea typeface="FangSong"/>
                <a:cs typeface="FangSong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7DF41-65CF-450D-8A16-7CE7A79F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00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后处理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99070-12A5-465F-B6FE-1CE52C4B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96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密度自适应Soft-NMS，对拥堵区域降低过强抑制。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B924E0-8801-4A60-8F2D-FF3C5ECD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31813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252DD5-0611-48F5-8CC7-7ABD1301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958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275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保留相邻车辆并控制重复框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9F626F-AFC9-4971-A1FF-499FDD92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05500"/>
            <a:ext cx="9944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CFE31-1B62-4DD0-9D91-F234542D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102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2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总损失：L = w1 × L_VFL + w2 × L_SIoU + w3 × L_DFL + w4 × L_align</a:t>
            </a:r>
          </a:p>
        </p:txBody>
      </p:sp>
    </p:spTree>
    <p:extLst>
      <p:ext uri="{BB962C8B-B14F-4D97-AF65-F5344CB8AC3E}">
        <p14:creationId xmlns:p14="http://schemas.microsoft.com/office/powerpoint/2010/main" val="1081408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543550" y="25146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8A3D"/>
            </a:solidFill>
            <a:prstDash val="solid"/>
            <a:tailEnd type="arrow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B43FAC-0647-461E-BFB9-B54F1BE3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1232F-DE38-4018-BE4E-84AF102A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24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训练策略与稳定性控制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4078B-D909-4AF3-A6C4-0F8489C1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两阶段训练降低双流网络从零收敛的难度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3F586-AB26-4843-B213-32A444F5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29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8FE5C-E418-46A1-8D9A-A3355E69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DBAAD-701D-459B-8A2D-97FB02EB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857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19050">
            <a:solidFill>
              <a:srgbClr val="33C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E83E4-EFF1-4AD8-AE6C-CF39DDA1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00200"/>
            <a:ext cx="53911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A29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CB60B-AA0B-4CC8-9E92-1D1F2622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859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80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阶段一：稳定基线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66CA5-5888-482B-8E48-F975DBF0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275">
                <a:solidFill>
                  <a:srgbClr val="102A43"/>
                </a:solidFill>
                <a:latin typeface="FangSong"/>
                <a:ea typeface="FangSong"/>
                <a:cs typeface="FangSong"/>
              </a:defRPr>
            </a:pPr>
            <a:r>
              <a:rPr sz="1275">
                <a:solidFill>
                  <a:srgbClr val="102A43"/>
                </a:solidFill>
                <a:latin typeface="FangSong"/>
                <a:ea typeface="FangSong"/>
                <a:cs typeface="FangSong"/>
              </a:rPr>
              <a:t>分别训练RGB与热红外单模态模型</a:t>
            </a:r>
          </a:p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275">
                <a:solidFill>
                  <a:srgbClr val="102A43"/>
                </a:solidFill>
                <a:latin typeface="FangSong"/>
                <a:ea typeface="FangSong"/>
                <a:cs typeface="FangSong"/>
              </a:defRPr>
            </a:pPr>
            <a:r>
              <a:rPr sz="1275">
                <a:solidFill>
                  <a:srgbClr val="102A43"/>
                </a:solidFill>
                <a:latin typeface="FangSong"/>
                <a:ea typeface="FangSong"/>
                <a:cs typeface="FangSong"/>
              </a:rPr>
              <a:t>初始化双流编码器并冻结浅层若干轮</a:t>
            </a:r>
          </a:p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275">
                <a:solidFill>
                  <a:srgbClr val="102A43"/>
                </a:solidFill>
                <a:latin typeface="FangSong"/>
                <a:ea typeface="FangSong"/>
                <a:cs typeface="FangSong"/>
              </a:defRPr>
            </a:pPr>
            <a:r>
              <a:rPr sz="1275">
                <a:solidFill>
                  <a:srgbClr val="102A43"/>
                </a:solidFill>
                <a:latin typeface="FangSong"/>
                <a:ea typeface="FangSong"/>
                <a:cs typeface="FangSong"/>
              </a:rPr>
              <a:t>确认数据切分、标签与指标脚本可靠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28D65-2CD7-4A94-BD31-B33C389B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C4E8"/>
                </a:solidFill>
                <a:latin typeface="FangSong"/>
                <a:ea typeface="FangSong"/>
                <a:cs typeface="FangSong"/>
              </a:defRPr>
            </a:pPr>
            <a:r>
              <a:rPr sz="1800" b="1">
                <a:solidFill>
                  <a:srgbClr val="33C4E8"/>
                </a:solidFill>
                <a:latin typeface="FangSong"/>
                <a:ea typeface="FangSong"/>
                <a:cs typeface="FangSong"/>
              </a:rPr>
              <a:t>阶段二：联合优化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5D7A9-DB25-4F1E-AD5F-F59EDE38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591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275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275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加载双流权重，逐步解冻融合模块</a:t>
            </a:r>
          </a:p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275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275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使用模态丢弃模拟单传感器失真</a:t>
            </a:r>
          </a:p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275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275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最后加入P2与密集场景模块完成微调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03513-0D6A-42C8-ADBB-9748D761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80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关键训练设置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F4C1C-57CA-4DF4-B058-F4A27BE3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24574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4482E-1E0C-4F82-92C8-FB3D4F06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A99B"/>
                </a:solidFill>
                <a:latin typeface="FangSong"/>
                <a:ea typeface="FangSong"/>
                <a:cs typeface="FangSong"/>
              </a:defRPr>
            </a:pPr>
            <a:r>
              <a:rPr sz="1425" b="1">
                <a:solidFill>
                  <a:srgbClr val="05A99B"/>
                </a:solidFill>
                <a:latin typeface="FangSong"/>
                <a:ea typeface="FangSong"/>
                <a:cs typeface="FangSong"/>
              </a:rPr>
              <a:t>输入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6D300-583B-4657-9AD2-1F2E33D3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1024×1024起步；显存不足时梯度累积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763F6-5BB2-4096-84F6-17907B53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72000"/>
            <a:ext cx="24574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4516E-DF4A-4CB8-A7A6-576962E1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A99B"/>
                </a:solidFill>
                <a:latin typeface="FangSong"/>
                <a:ea typeface="FangSong"/>
                <a:cs typeface="FangSong"/>
              </a:defRPr>
            </a:pPr>
            <a:r>
              <a:rPr sz="1425" b="1">
                <a:solidFill>
                  <a:srgbClr val="05A99B"/>
                </a:solidFill>
                <a:latin typeface="FangSong"/>
                <a:ea typeface="FangSong"/>
                <a:cs typeface="FangSong"/>
              </a:rPr>
              <a:t>增强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814A73-8212-4A15-BF11-7C187E27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Copy-Paste优先复制小目标；几何增强同步两模态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86D85A-84CF-4DE1-9BB9-79253772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24574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CFCFE5-77B6-4C98-879E-63E21F40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625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A99B"/>
                </a:solidFill>
                <a:latin typeface="FangSong"/>
                <a:ea typeface="FangSong"/>
                <a:cs typeface="FangSong"/>
              </a:defRPr>
            </a:pPr>
            <a:r>
              <a:rPr sz="1425" b="1">
                <a:solidFill>
                  <a:srgbClr val="05A99B"/>
                </a:solidFill>
                <a:latin typeface="FangSong"/>
                <a:ea typeface="FangSong"/>
                <a:cs typeface="FangSong"/>
              </a:rPr>
              <a:t>优化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6AE1FB-13A0-484F-8D85-98E5B768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625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AdamW或SGD；余弦退火；EMA；混合精度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4108C6-B83C-4F4A-8B18-EFC9EE52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72000"/>
            <a:ext cx="24574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2CBD0A-3733-406A-9CD0-2A2B9E17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625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A99B"/>
                </a:solidFill>
                <a:latin typeface="FangSong"/>
                <a:ea typeface="FangSong"/>
                <a:cs typeface="FangSong"/>
              </a:defRPr>
            </a:pPr>
            <a:r>
              <a:rPr sz="1425" b="1">
                <a:solidFill>
                  <a:srgbClr val="05A99B"/>
                </a:solidFill>
                <a:latin typeface="FangSong"/>
                <a:ea typeface="FangSong"/>
                <a:cs typeface="FangSong"/>
              </a:rPr>
              <a:t>早停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34F07F-4C0B-4EA6-88B2-6A9A4A77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625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以mAP与APs联合判据保存最优权重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DA9FC5-C574-49D9-9CAF-9C783883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1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所有超参数、随机种子和模型权重写入配置文件，确保结果可复现。</a:t>
            </a:r>
          </a:p>
        </p:txBody>
      </p:sp>
    </p:spTree>
    <p:extLst>
      <p:ext uri="{BB962C8B-B14F-4D97-AF65-F5344CB8AC3E}">
        <p14:creationId xmlns:p14="http://schemas.microsoft.com/office/powerpoint/2010/main" val="8797627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5FA8C-B98D-4C40-9925-86E23D22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41AA3-3F5A-4950-A1B2-D8091106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24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消融实验与性能证据链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37A83-4520-4B91-B159-B9E5211C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每项改进只改变一个变量，避免把调参收益误判为结构创新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9F4A8-4838-408E-B97D-50685565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29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8B9DA-A463-4060-B28A-4949DD81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1466850"/>
          <a:ext xmlns:a="http://schemas.openxmlformats.org/drawingml/2006/main" cx="108585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33600"/>
                <a:gridCol w="1619250"/>
                <a:gridCol w="1676400"/>
                <a:gridCol w="1752600"/>
                <a:gridCol w="3676650"/>
              </a:tblGrid>
              <a:tr h="541564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FangSong"/>
                          <a:ea typeface="FangSong"/>
                          <a:cs typeface="FangSong"/>
                        </a:rPr>
                        <a:t>实验组</a:t>
                      </a:r>
                    </a:p>
                  </a:txBody>
                  <a:tcPr marL="91440" marR="91440" marT="45720" marB="45720" anchor="ctr">
                    <a:solidFill>
                      <a:srgbClr val="0A29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FangSong"/>
                          <a:ea typeface="FangSong"/>
                          <a:cs typeface="FangSong"/>
                        </a:rPr>
                        <a:t>QAFM</a:t>
                      </a:r>
                    </a:p>
                  </a:txBody>
                  <a:tcPr marL="91440" marR="91440" marT="45720" marB="45720" anchor="ctr">
                    <a:solidFill>
                      <a:srgbClr val="0A29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FangSong"/>
                          <a:ea typeface="FangSong"/>
                          <a:cs typeface="FangSong"/>
                        </a:rPr>
                        <a:t>Tiny-P2</a:t>
                      </a:r>
                    </a:p>
                  </a:txBody>
                  <a:tcPr marL="91440" marR="91440" marT="45720" marB="45720" anchor="ctr">
                    <a:solidFill>
                      <a:srgbClr val="0A29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FangSong"/>
                          <a:ea typeface="FangSong"/>
                          <a:cs typeface="FangSong"/>
                        </a:rPr>
                        <a:t>密集优化</a:t>
                      </a:r>
                    </a:p>
                  </a:txBody>
                  <a:tcPr marL="91440" marR="91440" marT="45720" marB="45720" anchor="ctr">
                    <a:solidFill>
                      <a:srgbClr val="0A29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FangSong"/>
                          <a:ea typeface="FangSong"/>
                          <a:cs typeface="FangSong"/>
                        </a:rPr>
                        <a:t>主要验证指标</a:t>
                      </a:r>
                    </a:p>
                  </a:txBody>
                  <a:tcPr marL="91440" marR="91440" marT="45720" marB="45720" anchor="ctr">
                    <a:solidFill>
                      <a:srgbClr val="0A2941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E0 RGB基线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—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—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—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mAP / APs / 夜间Recall</a:t>
                      </a:r>
                    </a:p>
                  </a:txBody>
                  <a:tcPr marL="57150" marR="57150" marT="38100" marB="38100" anchor="ctr"/>
                </a:tc>
              </a:tr>
              <a:tr h="541564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E1 热红外基线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—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—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—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mAP / APs / 白天Recall</a:t>
                      </a:r>
                    </a:p>
                  </a:txBody>
                  <a:tcPr marL="57150" marR="57150" marT="38100" marB="38100" anchor="ctr"/>
                </a:tc>
              </a:tr>
              <a:tr h="541564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E2 简单融合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Concat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—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—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相对E0/E1的融合增益</a:t>
                      </a:r>
                    </a:p>
                  </a:txBody>
                  <a:tcPr marL="57150" marR="57150" marT="38100" marB="38100" anchor="ctr"/>
                </a:tc>
              </a:tr>
              <a:tr h="541564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E3 融合改进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✓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—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—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昼夜分场景mAP</a:t>
                      </a:r>
                    </a:p>
                  </a:txBody>
                  <a:tcPr marL="57150" marR="57150" marT="38100" marB="38100" anchor="ctr"/>
                </a:tc>
              </a:tr>
              <a:tr h="541564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E4 小目标改进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✓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✓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—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APs / Recall / FLOPs</a:t>
                      </a:r>
                    </a:p>
                  </a:txBody>
                  <a:tcPr marL="57150" marR="57150" marT="38100" marB="38100" anchor="ctr"/>
                </a:tc>
              </a:tr>
              <a:tr h="541564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E5 完整模型</a:t>
                      </a:r>
                    </a:p>
                  </a:txBody>
                  <a:tcPr marL="57150" marR="57150" marT="38100" marB="38100" anchor="ctr">
                    <a:solidFill>
                      <a:srgbClr val="E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✓</a:t>
                      </a:r>
                    </a:p>
                  </a:txBody>
                  <a:tcPr marL="57150" marR="57150" marT="38100" marB="38100" anchor="ctr">
                    <a:solidFill>
                      <a:srgbClr val="E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✓</a:t>
                      </a:r>
                    </a:p>
                  </a:txBody>
                  <a:tcPr marL="57150" marR="57150" marT="38100" marB="38100" anchor="ctr">
                    <a:solidFill>
                      <a:srgbClr val="E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✓</a:t>
                      </a:r>
                    </a:p>
                  </a:txBody>
                  <a:tcPr marL="57150" marR="57150" marT="38100" marB="38100" anchor="ctr">
                    <a:solidFill>
                      <a:srgbClr val="E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FangSong"/>
                          <a:ea typeface="FangSong"/>
                          <a:cs typeface="FangSong"/>
                        </a:rPr>
                        <a:t>mAP / APs / FPS / 显存</a:t>
                      </a:r>
                    </a:p>
                  </a:txBody>
                  <a:tcPr marL="57150" marR="57150" marT="38100" marB="38100" anchor="ctr">
                    <a:solidFill>
                      <a:srgbClr val="E7F5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FB827-4481-4133-9B10-5547F8A2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EBE40-3B6F-4AA3-86CA-60DC4800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8A3D"/>
                </a:solidFill>
                <a:latin typeface="FangSong"/>
                <a:ea typeface="FangSong"/>
                <a:cs typeface="FangSong"/>
              </a:defRPr>
            </a:pPr>
            <a:r>
              <a:rPr sz="1425" b="1">
                <a:solidFill>
                  <a:srgbClr val="FF8A3D"/>
                </a:solidFill>
                <a:latin typeface="FangSong"/>
                <a:ea typeface="FangSong"/>
                <a:cs typeface="FangSong"/>
              </a:rPr>
              <a:t>参赛时填入实测值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21FE3-0F27-4A65-BB44-F8CE001C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715000"/>
            <a:ext cx="805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A43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102A43"/>
                </a:solidFill>
                <a:latin typeface="FangSong"/>
                <a:ea typeface="FangSong"/>
                <a:cs typeface="FangSong"/>
              </a:rPr>
              <a:t>建议额外报告95%置信区间，并对夜间、小目标和拥堵切片分别给出结果。</a:t>
            </a:r>
          </a:p>
        </p:txBody>
      </p:sp>
    </p:spTree>
    <p:extLst>
      <p:ext uri="{BB962C8B-B14F-4D97-AF65-F5344CB8AC3E}">
        <p14:creationId xmlns:p14="http://schemas.microsoft.com/office/powerpoint/2010/main" val="3781449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6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201150" y="23622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A4B6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34200" y="23622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A4B6"/>
            </a:solidFill>
            <a:prstDash val="solid"/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667250" y="23622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A4B6"/>
            </a:solidFill>
            <a:prstDash val="solid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00300" y="23622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A4B6"/>
            </a:solidFill>
            <a:prstDash val="solid"/>
            <a:tailEnd type="arrow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ABD6D6-2812-43B7-8A65-9A9C60A1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76338-EDC3-4172-87B5-848A36CF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24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推理系统与演示闭环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DC336-6399-4D4C-9AC2-3C10A671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演示重点放在不同光照、不同尺度和视频连续性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B5B8F-2A82-47B2-AB1C-6BA024D8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29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E1436-3CF8-4D8F-89CA-FE21D127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313BC-7489-48B7-8F67-A713A570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8288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19050">
            <a:solidFill>
              <a:srgbClr val="33C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41221-58FB-485A-9E76-4F2A613A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5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2F99D-898A-4EE0-AA15-1C87053B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图片 / 视频 / 双光流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58C5F-A599-44B9-AA77-3913DEC4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76400"/>
            <a:ext cx="18288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F9FC"/>
          </a:solidFill>
          <a:ln xmlns:a="http://schemas.openxmlformats.org/drawingml/2006/main" w="19050">
            <a:solidFill>
              <a:srgbClr val="05A99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C76E9-23F5-4914-B2F4-C7A8F3B0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240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5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预处理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8D8E1-6DC3-402E-A24F-A6196103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0030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同步、配准、尺寸缩放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12F9F-8110-4F88-BD91-50A3FD8D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76400"/>
            <a:ext cx="18288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B95E1-8BE5-469E-A6D1-B6108701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240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5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模型推理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8570EC-60F5-488F-851D-B5538192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0030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PyTorch / ONNX / TensorRT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9BA2F-17BA-4139-865E-AB10987C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18288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19050">
            <a:solidFill>
              <a:srgbClr val="E85C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C1644-398D-4B1E-9751-B0D7A79F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240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5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结果分析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1C770-A212-41F3-A91D-3446D49D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0030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框、类别、置信度、计数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DCD4B4-9201-4FDB-A82B-92EC3830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676400"/>
            <a:ext cx="18288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3A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29F34-9C1C-4F07-9E9F-6D885882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240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5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导出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9BB8D7-D29C-4816-823E-814E64A2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12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视频、CSV、性能日志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802142-4F10-4D1B-9D98-0D0220FD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80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三段演示素材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56BB60-BFF9-49A9-BA9B-0E602093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33718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0A29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AB3020-583A-495A-AC00-0D463302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C4E8"/>
                </a:solidFill>
                <a:latin typeface="FangSong"/>
                <a:ea typeface="FangSong"/>
                <a:cs typeface="FangSong"/>
              </a:defRPr>
            </a:pPr>
            <a:r>
              <a:rPr sz="1500" b="1">
                <a:solidFill>
                  <a:srgbClr val="33C4E8"/>
                </a:solidFill>
                <a:latin typeface="FangSong"/>
                <a:ea typeface="FangSong"/>
                <a:cs typeface="FangSong"/>
              </a:rPr>
              <a:t>白天高空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7877BB-4676-410A-A77B-2376CBCA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展示极小目标与车流计数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1BD89B-FFE2-4464-AE10-EA2AAC50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24350"/>
            <a:ext cx="33718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0A29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05C94B-0C7A-4944-9304-2349D677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7200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8A3D"/>
                </a:solidFill>
                <a:latin typeface="FangSong"/>
                <a:ea typeface="FangSong"/>
                <a:cs typeface="FangSong"/>
              </a:defRPr>
            </a:pPr>
            <a:r>
              <a:rPr sz="1500" b="1">
                <a:solidFill>
                  <a:srgbClr val="FF8A3D"/>
                </a:solidFill>
                <a:latin typeface="FangSong"/>
                <a:ea typeface="FangSong"/>
                <a:cs typeface="FangSong"/>
              </a:rPr>
              <a:t>夜间拥堵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8A4747-3538-426F-AA7C-42E25C60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2920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对比RGB、红外和融合结果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388950-5061-4AFA-9ADA-879FD0BD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24350"/>
            <a:ext cx="33718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0A29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06FB87-6831-4774-B9CD-5E5F9DC8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A99B"/>
                </a:solidFill>
                <a:latin typeface="FangSong"/>
                <a:ea typeface="FangSong"/>
                <a:cs typeface="FangSong"/>
              </a:defRPr>
            </a:pPr>
            <a:r>
              <a:rPr sz="1500" b="1">
                <a:solidFill>
                  <a:srgbClr val="05A99B"/>
                </a:solidFill>
                <a:latin typeface="FangSong"/>
                <a:ea typeface="FangSong"/>
                <a:cs typeface="FangSong"/>
              </a:rPr>
              <a:t>模态退化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1E066B-B07A-483F-9D26-4FF33463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2920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200" b="0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人为降低RGB亮度，观察门控权重变化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45AE0A-6A5D-4D4A-9DB3-9B35F865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960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1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实时性验收：记录端到端延迟、纯模型FPS、显存占用与连续运行稳定性。</a:t>
            </a:r>
          </a:p>
        </p:txBody>
      </p:sp>
    </p:spTree>
    <p:extLst>
      <p:ext uri="{BB962C8B-B14F-4D97-AF65-F5344CB8AC3E}">
        <p14:creationId xmlns:p14="http://schemas.microsoft.com/office/powerpoint/2010/main" val="20026961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1E0FC6-D01B-485C-9476-1FC31B9A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2DAB1-06D1-4772-9C6B-705CFF87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24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团队分工与协作规划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9817C-63B1-44E4-9FAB-F7FF1A3A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四条工作线并行推进，关键节点由组长统一验收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B6578-8C77-490D-8B19-65ABB547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29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01116-2450-4700-AA88-9BB72D09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66750" y="1504950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190750"/>
                <a:gridCol w="4000500"/>
                <a:gridCol w="3238500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成员</a:t>
                      </a:r>
                    </a:p>
                  </a:txBody>
                  <a:tcPr marL="91440" marR="91440" marT="45720" marB="45720" anchor="ctr">
                    <a:solidFill>
                      <a:srgbClr val="0A29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solidFill>
                      <a:srgbClr val="0A29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主要负责内容</a:t>
                      </a:r>
                    </a:p>
                  </a:txBody>
                  <a:tcPr marL="91440" marR="91440" marT="45720" marB="45720" anchor="ctr">
                    <a:solidFill>
                      <a:srgbClr val="0A29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阶段交付</a:t>
                      </a:r>
                    </a:p>
                  </a:txBody>
                  <a:tcPr marL="91440" marR="91440" marT="45720" marB="45720" anchor="ctr">
                    <a:solidFill>
                      <a:srgbClr val="0A294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张涵杰</a:t>
                      </a:r>
                    </a:p>
                  </a:txBody>
                  <a:tcPr marL="76200" marR="76200" marT="47625" marB="47625" anchor="ctr">
                    <a:solidFill>
                      <a:srgbClr val="E8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组长 / 总体统筹</a:t>
                      </a:r>
                    </a:p>
                  </a:txBody>
                  <a:tcPr marL="76200" marR="76200" marT="47625" marB="47625" anchor="ctr">
                    <a:solidFill>
                      <a:srgbClr val="E8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赛题拆解、技术路线、进度控制、QAFM方案把关</a:t>
                      </a:r>
                    </a:p>
                  </a:txBody>
                  <a:tcPr marL="76200" marR="76200" marT="47625" marB="47625" anchor="ctr">
                    <a:solidFill>
                      <a:srgbClr val="E8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周计划、阶段评审、最终集成</a:t>
                      </a:r>
                    </a:p>
                  </a:txBody>
                  <a:tcPr marL="76200" marR="76200" marT="47625" marB="47625" anchor="ctr">
                    <a:solidFill>
                      <a:srgbClr val="E8F3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陈宇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算法与数据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成对数据校验、数据切分、基线训练、实验日志维护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数据流水线、基线权重、训练记录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林宸宇</a:t>
                      </a:r>
                    </a:p>
                  </a:txBody>
                  <a:tcPr marL="76200" marR="76200" marT="47625" marB="47625" anchor="ctr">
                    <a:solidFill>
                      <a:srgbClr val="E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模型优化与评估</a:t>
                      </a:r>
                    </a:p>
                  </a:txBody>
                  <a:tcPr marL="76200" marR="76200" marT="47625" marB="47625" anchor="ctr">
                    <a:solidFill>
                      <a:srgbClr val="E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Tiny-P2、密集场景优化、消融实验、指标统计</a:t>
                      </a:r>
                    </a:p>
                  </a:txBody>
                  <a:tcPr marL="76200" marR="76200" marT="47625" marB="47625" anchor="ctr">
                    <a:solidFill>
                      <a:srgbClr val="E7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改进模块、消融结果、性能报告</a:t>
                      </a:r>
                    </a:p>
                  </a:txBody>
                  <a:tcPr marL="76200" marR="76200" marT="47625" marB="47625" anchor="ctr">
                    <a:solidFill>
                      <a:srgbClr val="E7F5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王麒瑞</a:t>
                      </a:r>
                    </a:p>
                  </a:txBody>
                  <a:tcPr marL="76200" marR="76200" marT="47625" marB="47625" anchor="ctr">
                    <a:solidFill>
                      <a:srgbClr val="FF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工程部署与展示</a:t>
                      </a:r>
                    </a:p>
                  </a:txBody>
                  <a:tcPr marL="76200" marR="76200" marT="47625" marB="47625" anchor="ctr">
                    <a:solidFill>
                      <a:srgbClr val="FF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推理部署、可视化界面、演示视频、PPT与文档整理</a:t>
                      </a:r>
                    </a:p>
                  </a:txBody>
                  <a:tcPr marL="76200" marR="76200" marT="47625" marB="47625" anchor="ctr">
                    <a:solidFill>
                      <a:srgbClr val="FFF0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推理程序、演示视频、提交材料</a:t>
                      </a:r>
                    </a:p>
                  </a:txBody>
                  <a:tcPr marL="76200" marR="76200" marT="47625" marB="47625" anchor="ctr">
                    <a:solidFill>
                      <a:srgbClr val="FFF0E4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16C1E-934D-40AF-89D2-B7CEB596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6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阶段协作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947B8-B9DD-4579-995F-ECCB1C53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457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C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91593-CF8D-4A96-A812-E0FE9123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3C4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33C4E8"/>
                </a:solidFill>
                <a:latin typeface="Noto Sans CJK SC"/>
                <a:ea typeface="Noto Sans CJK SC"/>
                <a:cs typeface="Noto Sans CJK SC"/>
              </a:rPr>
              <a:t>W1-2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DA837-3742-4F2F-9B8E-ED916D35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054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rPr>
              <a:t>全员完成数据检查与基线复现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34E2F-FFB0-41D1-9E8F-356C4BA3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429250"/>
            <a:ext cx="2457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A99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A0998-B7DB-4FBB-9EA3-033D133E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5626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A9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05A99B"/>
                </a:solidFill>
                <a:latin typeface="Noto Sans CJK SC"/>
                <a:ea typeface="Noto Sans CJK SC"/>
                <a:cs typeface="Noto Sans CJK SC"/>
              </a:rPr>
              <a:t>W3-4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07E62-0A20-4BD7-B3B2-3A52E1D8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054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rPr>
              <a:t>张涵杰、林宸宇开发核心模块，陈宇同步训练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A1E02-285B-4C5D-90DC-C368A187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29250"/>
            <a:ext cx="2457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57BA4-2090-46EF-9CBD-BCA396C4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626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W5-6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A6985-8FB0-4526-965E-61C5D1F4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5054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rPr>
              <a:t>陈宇、林宸宇完成消融，张涵杰统一复核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6CC1F-8544-4C6C-BB8E-8AE771F9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29250"/>
            <a:ext cx="2457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C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58549-8E4F-48AA-B1E2-C15586CF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5626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85C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E85C5C"/>
                </a:solidFill>
                <a:latin typeface="Noto Sans CJK SC"/>
                <a:ea typeface="Noto Sans CJK SC"/>
                <a:cs typeface="Noto Sans CJK SC"/>
              </a:rPr>
              <a:t>W7-8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3A8A3-2DB4-4901-B0C9-EC2B8D3C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054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rPr>
              <a:t>王麒瑞完成展示集成，全员参与答辩演练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345183-9247-493B-9A17-672DB9C6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43650"/>
            <a:ext cx="1013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00" b="1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协作机制：统一代码仓库、统一实验命名、每周复盘一次、关键结果交叉复核。</a:t>
            </a:r>
          </a:p>
        </p:txBody>
      </p:sp>
    </p:spTree>
    <p:extLst>
      <p:ext uri="{BB962C8B-B14F-4D97-AF65-F5344CB8AC3E}">
        <p14:creationId xmlns:p14="http://schemas.microsoft.com/office/powerpoint/2010/main" val="7227554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485804-E53D-4119-81E9-D55486CF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368C6-94DE-48AC-B3AB-6C4E79E4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24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实施与交付计划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9E369-AAD4-42FC-AAD3-FD1088F1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八周完成从基线、创新验证到答辩材料的完整闭环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9F2A4-D801-42C7-829B-15B85555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29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5A99B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4E341-853C-4E5E-94EC-58863330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2638F-7E68-4008-A4BF-9B399455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C4E8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33C4E8"/>
                </a:solidFill>
                <a:latin typeface="FangSong"/>
                <a:ea typeface="FangSong"/>
                <a:cs typeface="FangSong"/>
              </a:rPr>
              <a:t>W1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DDB4E-7FC0-4DD0-B651-1B03E117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62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34895-A8C3-4D08-83EA-1EF1F266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7526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74029-A1B4-4266-A8AB-3016F0AE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049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数据校验与单模态基线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F2734-8C89-4B38-BAC6-270DA5B7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C4E8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33C4E8"/>
                </a:solidFill>
                <a:latin typeface="FangSong"/>
                <a:ea typeface="FangSong"/>
                <a:cs typeface="FangSong"/>
              </a:rPr>
              <a:t>W2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A54E3-EDC7-4C32-9353-6AF4AC58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52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C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0D4E3-9A3E-44B5-B352-70EBE8F9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3431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032CF-37FE-45E7-A3AF-16D07606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95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双流框架与简单融合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39067-10E2-457B-99A8-9F4BC1F7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A99B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05A99B"/>
                </a:solidFill>
                <a:latin typeface="FangSong"/>
                <a:ea typeface="FangSong"/>
                <a:cs typeface="FangSong"/>
              </a:rPr>
              <a:t>W3-4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15157-C9E9-4291-B95B-A6B365A3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2E07C-45D8-440C-B5C5-899A54AE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337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4639F6-82AB-47FA-AACF-A3EDC715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86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QAFM与Tiny-P2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D4FFA8-D6B0-40DB-A2DA-E6424215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A99B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05A99B"/>
                </a:solidFill>
                <a:latin typeface="FangSong"/>
                <a:ea typeface="FangSong"/>
                <a:cs typeface="FangSong"/>
              </a:rPr>
              <a:t>W5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85308D-A560-4AE9-A02A-EB12151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A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C445AA-EFA1-48E6-B854-AB9E8492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242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FCAA67-BD1C-43CC-9BA3-E5D5D7E3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766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密集优化与完整训练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617260-E3E8-47A0-B107-908AE12A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8A3D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FF8A3D"/>
                </a:solidFill>
                <a:latin typeface="FangSong"/>
                <a:ea typeface="FangSong"/>
                <a:cs typeface="FangSong"/>
              </a:rPr>
              <a:t>W6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C7B90E-3364-44DE-8FDA-10110BF5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24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BE997A-D95D-4CA3-864F-002E23D6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148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45E41F-C039-40E8-AE22-AEF39D5F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671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消融、速度与鲁棒性测试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3694F6-B80B-42AF-BE77-E789A725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8A3D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FF8A3D"/>
                </a:solidFill>
                <a:latin typeface="FangSong"/>
                <a:ea typeface="FangSong"/>
                <a:cs typeface="FangSong"/>
              </a:rPr>
              <a:t>W7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8B7EA9-7365-4C56-963C-4D2CA562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14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8EA742-1147-4A7F-924F-FEA97203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053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C8A9E1-9FB3-46B4-A9C5-B428AC91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577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推理界面与演示视频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049B6D-2D34-4311-942F-CB42DE01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85C5C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E85C5C"/>
                </a:solidFill>
                <a:latin typeface="FangSong"/>
                <a:ea typeface="FangSong"/>
                <a:cs typeface="FangSong"/>
              </a:rPr>
              <a:t>W8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90B030-5A56-48B5-A872-8FFAC33F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2A2BAB-D79F-4778-992F-4179D347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48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350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PPT、方案书与答辩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685156-E177-4F2F-A2B1-26A5017A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66850"/>
            <a:ext cx="50101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0A29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C56304-4A5B-44A1-9CDE-58097E5F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260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3C4E8"/>
                </a:solidFill>
                <a:latin typeface="FangSong"/>
                <a:ea typeface="FangSong"/>
                <a:cs typeface="FangSong"/>
              </a:defRPr>
            </a:pPr>
            <a:r>
              <a:rPr sz="1725" b="1">
                <a:solidFill>
                  <a:srgbClr val="33C4E8"/>
                </a:solidFill>
                <a:latin typeface="FangSong"/>
                <a:ea typeface="FangSong"/>
                <a:cs typeface="FangSong"/>
              </a:rPr>
              <a:t>官方评分映射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3828BA-0774-4006-8CD5-D4F54FE2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28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200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项目创意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D9B7A3-AFF5-454D-9626-32F3D749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8A3D"/>
                </a:solidFill>
                <a:latin typeface="FangSong"/>
                <a:ea typeface="FangSong"/>
                <a:cs typeface="FangSong"/>
              </a:defRPr>
            </a:pPr>
            <a:r>
              <a:rPr sz="1200" b="1">
                <a:solidFill>
                  <a:srgbClr val="FF8A3D"/>
                </a:solidFill>
                <a:latin typeface="FangSong"/>
                <a:ea typeface="FangSong"/>
                <a:cs typeface="FangSong"/>
              </a:rPr>
              <a:t>20分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F8229E-C391-40C6-A30B-3A8312D3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28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4D9E3"/>
                </a:solidFill>
                <a:latin typeface="FangSong"/>
                <a:ea typeface="FangSong"/>
                <a:cs typeface="FangSong"/>
              </a:defRPr>
            </a:pPr>
            <a:r>
              <a:rPr sz="1050" b="0">
                <a:solidFill>
                  <a:srgbClr val="C4D9E3"/>
                </a:solidFill>
                <a:latin typeface="FangSong"/>
                <a:ea typeface="FangSong"/>
                <a:cs typeface="FangSong"/>
              </a:rPr>
              <a:t>三个模块与医学影像迁移逻辑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0C6F35-D6AE-4432-B3B1-5AD508F3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52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200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实施方案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A679AA-B259-414B-85B4-A2627A4E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5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8A3D"/>
                </a:solidFill>
                <a:latin typeface="FangSong"/>
                <a:ea typeface="FangSong"/>
                <a:cs typeface="FangSong"/>
              </a:defRPr>
            </a:pPr>
            <a:r>
              <a:rPr sz="1200" b="1">
                <a:solidFill>
                  <a:srgbClr val="FF8A3D"/>
                </a:solidFill>
                <a:latin typeface="FangSong"/>
                <a:ea typeface="FangSong"/>
                <a:cs typeface="FangSong"/>
              </a:rPr>
              <a:t>30分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3C0204-8F32-4618-8E2C-9D56410B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5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4D9E3"/>
                </a:solidFill>
                <a:latin typeface="FangSong"/>
                <a:ea typeface="FangSong"/>
                <a:cs typeface="FangSong"/>
              </a:defRPr>
            </a:pPr>
            <a:r>
              <a:rPr sz="1050" b="0">
                <a:solidFill>
                  <a:srgbClr val="C4D9E3"/>
                </a:solidFill>
                <a:latin typeface="FangSong"/>
                <a:ea typeface="FangSong"/>
                <a:cs typeface="FangSong"/>
              </a:rPr>
              <a:t>数据、训练、消融和八周计划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C080E4-DF3E-4A47-8CDE-042243F3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200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技术实现与交付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9C36BD-ED5A-4A80-82A2-A6702ED3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76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8A3D"/>
                </a:solidFill>
                <a:latin typeface="FangSong"/>
                <a:ea typeface="FangSong"/>
                <a:cs typeface="FangSong"/>
              </a:defRPr>
            </a:pPr>
            <a:r>
              <a:rPr sz="1200" b="1">
                <a:solidFill>
                  <a:srgbClr val="FF8A3D"/>
                </a:solidFill>
                <a:latin typeface="FangSong"/>
                <a:ea typeface="FangSong"/>
                <a:cs typeface="FangSong"/>
              </a:rPr>
              <a:t>30分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144719-E6E0-4BB7-BBC4-E576682F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76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4D9E3"/>
                </a:solidFill>
                <a:latin typeface="FangSong"/>
                <a:ea typeface="FangSong"/>
                <a:cs typeface="FangSong"/>
              </a:defRPr>
            </a:pPr>
            <a:r>
              <a:rPr sz="1050" b="0">
                <a:solidFill>
                  <a:srgbClr val="C4D9E3"/>
                </a:solidFill>
                <a:latin typeface="FangSong"/>
                <a:ea typeface="FangSong"/>
                <a:cs typeface="FangSong"/>
              </a:rPr>
              <a:t>可运行模型、推理脚本与部署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BB9C74-ACB6-4013-BBC1-DC9B8767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200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项目展示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76F762-E880-4A52-A780-BDF434EC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00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8A3D"/>
                </a:solidFill>
                <a:latin typeface="FangSong"/>
                <a:ea typeface="FangSong"/>
                <a:cs typeface="FangSong"/>
              </a:defRPr>
            </a:pPr>
            <a:r>
              <a:rPr sz="1200" b="1">
                <a:solidFill>
                  <a:srgbClr val="FF8A3D"/>
                </a:solidFill>
                <a:latin typeface="FangSong"/>
                <a:ea typeface="FangSong"/>
                <a:cs typeface="FangSong"/>
              </a:rPr>
              <a:t>20分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17067A-695C-4B8C-A8FB-60146EE4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00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4D9E3"/>
                </a:solidFill>
                <a:latin typeface="FangSong"/>
                <a:ea typeface="FangSong"/>
                <a:cs typeface="FangSong"/>
              </a:defRPr>
            </a:pPr>
            <a:r>
              <a:rPr sz="1050" b="0">
                <a:solidFill>
                  <a:srgbClr val="C4D9E3"/>
                </a:solidFill>
                <a:latin typeface="FangSong"/>
                <a:ea typeface="FangSong"/>
                <a:cs typeface="FangSong"/>
              </a:rPr>
              <a:t>PPT、方案书、演示视频与日志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7A7984-E50E-47DF-BE2A-8A152DA7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24300"/>
            <a:ext cx="50101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1AB0BE-67D3-4BB3-9FC1-979B3FF7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71950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827"/>
                </a:solidFill>
                <a:latin typeface="FangSong"/>
                <a:ea typeface="FangSong"/>
                <a:cs typeface="FangSong"/>
              </a:defRPr>
            </a:pPr>
            <a:r>
              <a:rPr sz="1575" b="1">
                <a:solidFill>
                  <a:srgbClr val="061827"/>
                </a:solidFill>
                <a:latin typeface="FangSong"/>
                <a:ea typeface="FangSong"/>
                <a:cs typeface="FangSong"/>
              </a:rPr>
              <a:t>最终提交包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10D302-15D1-4C2F-80CF-DA6792C6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29150"/>
            <a:ext cx="4267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75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200">
                <a:solidFill>
                  <a:srgbClr val="102A43"/>
                </a:solidFill>
                <a:latin typeface="FangSong"/>
                <a:ea typeface="FangSong"/>
                <a:cs typeface="FangSong"/>
              </a:defRPr>
            </a:pPr>
            <a:r>
              <a:rPr sz="1200">
                <a:solidFill>
                  <a:srgbClr val="102A43"/>
                </a:solidFill>
                <a:latin typeface="FangSong"/>
                <a:ea typeface="FangSong"/>
                <a:cs typeface="FangSong"/>
              </a:rPr>
              <a:t>项目概要介绍与项目简介PPT</a:t>
            </a:r>
          </a:p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200">
                <a:solidFill>
                  <a:srgbClr val="102A43"/>
                </a:solidFill>
                <a:latin typeface="FangSong"/>
                <a:ea typeface="FangSong"/>
                <a:cs typeface="FangSong"/>
              </a:defRPr>
            </a:pPr>
            <a:r>
              <a:rPr sz="1200">
                <a:solidFill>
                  <a:srgbClr val="102A43"/>
                </a:solidFill>
                <a:latin typeface="FangSong"/>
                <a:ea typeface="FangSong"/>
                <a:cs typeface="FangSong"/>
              </a:rPr>
              <a:t>详细技术方案与配置文件</a:t>
            </a:r>
          </a:p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200">
                <a:solidFill>
                  <a:srgbClr val="102A43"/>
                </a:solidFill>
                <a:latin typeface="FangSong"/>
                <a:ea typeface="FangSong"/>
                <a:cs typeface="FangSong"/>
              </a:defRPr>
            </a:pPr>
            <a:r>
              <a:rPr sz="1200">
                <a:solidFill>
                  <a:srgbClr val="102A43"/>
                </a:solidFill>
                <a:latin typeface="FangSong"/>
                <a:ea typeface="FangSong"/>
                <a:cs typeface="FangSong"/>
              </a:rPr>
              <a:t>模型权重、推理脚本和使用说明</a:t>
            </a:r>
          </a:p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200">
                <a:solidFill>
                  <a:srgbClr val="102A43"/>
                </a:solidFill>
                <a:latin typeface="FangSong"/>
                <a:ea typeface="FangSong"/>
                <a:cs typeface="FangSong"/>
              </a:defRPr>
            </a:pPr>
            <a:r>
              <a:rPr sz="1200">
                <a:solidFill>
                  <a:srgbClr val="102A43"/>
                </a:solidFill>
                <a:latin typeface="FangSong"/>
                <a:ea typeface="FangSong"/>
                <a:cs typeface="FangSong"/>
              </a:rPr>
              <a:t>不同场景演示视频与实验报告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ECC2C0-BFE9-4FA1-983A-66F3C9A4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150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86581"/>
                </a:solidFill>
                <a:latin typeface="FangSong"/>
                <a:ea typeface="FangSong"/>
                <a:cs typeface="FangSong"/>
              </a:defRPr>
            </a:pPr>
            <a:r>
              <a:rPr sz="1275" b="1">
                <a:solidFill>
                  <a:srgbClr val="486581"/>
                </a:solidFill>
                <a:latin typeface="FangSong"/>
                <a:ea typeface="FangSong"/>
                <a:cs typeface="FangSong"/>
              </a:rPr>
              <a:t>团队并行：数据与实验、算法研发、工程演示、文档答辩四条工作流同步推进。</a:t>
            </a:r>
          </a:p>
        </p:txBody>
      </p:sp>
    </p:spTree>
    <p:extLst>
      <p:ext uri="{BB962C8B-B14F-4D97-AF65-F5344CB8AC3E}">
        <p14:creationId xmlns:p14="http://schemas.microsoft.com/office/powerpoint/2010/main" val="17962131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71824-7CB2-4CDD-964F-9706D11C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1EFC8-182F-44B2-A3EF-C47DDECC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2475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方案结论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1C4C1-4703-4D6A-B4ED-301CBCE7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3DF"/>
                </a:solidFill>
                <a:latin typeface="FangSong"/>
                <a:ea typeface="FangSong"/>
                <a:cs typeface="FangSong"/>
              </a:defRPr>
            </a:pPr>
            <a:r>
              <a:rPr sz="1275" b="0">
                <a:solidFill>
                  <a:srgbClr val="B9D3DF"/>
                </a:solidFill>
                <a:latin typeface="FangSong"/>
                <a:ea typeface="FangSong"/>
                <a:cs typeface="FangSong"/>
              </a:rPr>
              <a:t>A18的关键不是堆叠模块，而是建立可信的多模态小目标证据链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9D8AC-3C6E-48B0-A85A-AF4BDAF6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29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3C4E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33C4E8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1976B-823A-4536-8982-71A5BAB2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26269-D111-4684-84DF-20519860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3C4E8"/>
                </a:solidFill>
                <a:latin typeface="FangSong"/>
                <a:ea typeface="FangSong"/>
                <a:cs typeface="FangSong"/>
              </a:defRPr>
            </a:pPr>
            <a:r>
              <a:rPr sz="2550" b="1">
                <a:solidFill>
                  <a:srgbClr val="33C4E8"/>
                </a:solidFill>
                <a:latin typeface="FangSong"/>
                <a:ea typeface="FangSong"/>
                <a:cs typeface="FangSong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742E7-2FD9-46B4-AB5F-322BBD0C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573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800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融合有依据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906D9-2B36-4CEE-9BCE-5B563D44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14550"/>
            <a:ext cx="847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CE6"/>
                </a:solidFill>
                <a:latin typeface="FangSong"/>
                <a:ea typeface="FangSong"/>
                <a:cs typeface="FangSong"/>
              </a:defRPr>
            </a:pPr>
            <a:r>
              <a:rPr sz="1350" b="0">
                <a:solidFill>
                  <a:srgbClr val="C8DCE6"/>
                </a:solidFill>
                <a:latin typeface="FangSong"/>
                <a:ea typeface="FangSong"/>
                <a:cs typeface="FangSong"/>
              </a:rPr>
              <a:t>质量感知门控根据照度和模态可靠性分配权重，夜间与退化场景可解释。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D056F-7233-4E6A-ACAE-30FE1F26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10420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0CB91-AA21-4A41-BEC2-DAFFF4FD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8A3D"/>
                </a:solidFill>
                <a:latin typeface="FangSong"/>
                <a:ea typeface="FangSong"/>
                <a:cs typeface="FangSong"/>
              </a:defRPr>
            </a:pPr>
            <a:r>
              <a:rPr sz="2550" b="1">
                <a:solidFill>
                  <a:srgbClr val="FF8A3D"/>
                </a:solidFill>
                <a:latin typeface="FangSong"/>
                <a:ea typeface="FangSong"/>
                <a:cs typeface="FangSong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96C82-0505-4565-BADA-65C48BA8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099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800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小目标有专项设计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440C8-0A4A-4503-AF61-2BE97034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67100"/>
            <a:ext cx="847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CE6"/>
                </a:solidFill>
                <a:latin typeface="FangSong"/>
                <a:ea typeface="FangSong"/>
                <a:cs typeface="FangSong"/>
              </a:defRPr>
            </a:pPr>
            <a:r>
              <a:rPr sz="1350" b="0">
                <a:solidFill>
                  <a:srgbClr val="C8DCE6"/>
                </a:solidFill>
                <a:latin typeface="FangSong"/>
                <a:ea typeface="FangSong"/>
                <a:cs typeface="FangSong"/>
              </a:rPr>
              <a:t>高分辨率P2分支、空间信息保真和召回优先评估直接对应小于32×32像素目标。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D03AB-32DB-4C1A-969C-91E13D7B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10420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2BB9E1-E518-4D2F-AEFC-009F5315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5A99B"/>
                </a:solidFill>
                <a:latin typeface="FangSong"/>
                <a:ea typeface="FangSong"/>
                <a:cs typeface="FangSong"/>
              </a:defRPr>
            </a:pPr>
            <a:r>
              <a:rPr sz="2550" b="1">
                <a:solidFill>
                  <a:srgbClr val="05A99B"/>
                </a:solidFill>
                <a:latin typeface="FangSong"/>
                <a:ea typeface="FangSong"/>
                <a:cs typeface="FangSong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41A2A-426D-4D90-A032-D234748F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362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800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结果能够被验证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751ED-3BE7-4F58-82B0-9F035867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19650"/>
            <a:ext cx="847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CE6"/>
                </a:solidFill>
                <a:latin typeface="FangSong"/>
                <a:ea typeface="FangSong"/>
                <a:cs typeface="FangSong"/>
              </a:defRPr>
            </a:pPr>
            <a:r>
              <a:rPr sz="1350" b="0">
                <a:solidFill>
                  <a:srgbClr val="C8DCE6"/>
                </a:solidFill>
                <a:latin typeface="FangSong"/>
                <a:ea typeface="FangSong"/>
                <a:cs typeface="FangSong"/>
              </a:rPr>
              <a:t>单模态基线、简单融合、逐模块消融与实时部署共同构成完整证据。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F0A03-29BF-4ACB-BAF3-D616747C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91200"/>
            <a:ext cx="933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F344B"/>
          </a:solidFill>
          <a:ln xmlns:a="http://schemas.openxmlformats.org/drawingml/2006/main" w="9525">
            <a:solidFill>
              <a:srgbClr val="33C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442C8-7A40-4091-A20C-3D433C04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905500"/>
            <a:ext cx="883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FangSong"/>
                <a:ea typeface="FangSong"/>
                <a:cs typeface="FangSong"/>
              </a:defRPr>
            </a:pPr>
            <a:r>
              <a:rPr sz="1425" b="1">
                <a:solidFill>
                  <a:srgbClr val="FFFFFF"/>
                </a:solidFill>
                <a:latin typeface="FangSong"/>
                <a:ea typeface="FangSong"/>
                <a:cs typeface="FangSong"/>
              </a:rPr>
              <a:t>下一步：先跑通DroneVehicle的RGB与热红外基线，再冻结实验规范后开发QAFM。</a:t>
            </a:r>
          </a:p>
        </p:txBody>
      </p:sp>
    </p:spTree>
    <p:extLst>
      <p:ext uri="{BB962C8B-B14F-4D97-AF65-F5344CB8AC3E}">
        <p14:creationId xmlns:p14="http://schemas.microsoft.com/office/powerpoint/2010/main" val="2017270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2026-09-29T12:30:53.7820000Z</dcterms:created>
  <dcterms:modified xsi:type="dcterms:W3CDTF">2026-09-29T12:30:53.7820000Z</dcterms:modified>
</coreProperties>
</file>