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fntdata" ContentType="application/x-fontdata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tags/tag1.xml" ContentType="application/vnd.openxmlformats-officedocument.presentationml.tags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embedTrueTypeFonts="1">
  <p:sldMasterIdLst>
    <p:sldMasterId id="2147483672" r:id="rId1"/>
  </p:sldMasterIdLst>
  <p:notesMasterIdLst>
    <p:notesMasterId r:id="rId2"/>
  </p:notesMasterIdLst>
  <p:sldIdLst>
    <p:sldId id="286" r:id="rId3"/>
    <p:sldId id="287" r:id="rId4"/>
    <p:sldId id="288" r:id="rId5"/>
    <p:sldId id="289" r:id="rId6"/>
    <p:sldId id="290" r:id="rId7"/>
    <p:sldId id="291" r:id="rId8"/>
    <p:sldId id="292" r:id="rId9"/>
    <p:sldId id="293" r:id="rId10"/>
    <p:sldId id="294" r:id="rId11"/>
    <p:sldId id="295" r:id="rId12"/>
    <p:sldId id="297" r:id="rId13"/>
    <p:sldId id="298" r:id="rId14"/>
    <p:sldId id="299" r:id="rId15"/>
  </p:sldIdLst>
  <p:sldSz type="screen16x9" cy="6858000" cx="12192000"/>
  <p:notesSz cx="6858000" cy="9144000"/>
  <p:embeddedFontLst>
    <p:embeddedFont>
      <p:font typeface="FZYaYiHei GB18030L2 R" panose="02000500000000000000" charset="-122"/>
      <p:regular r:id="rId16"/>
    </p:embeddedFont>
    <p:embeddedFont>
      <p:font typeface="Inter" panose="02000503000000020004"/>
      <p:regular r:id="rId17"/>
      <p:bold r:id="rId18"/>
    </p:embeddedFont>
    <p:embeddedFont>
      <p:font typeface="Calibri" panose="020F0502020204030204" charset="0"/>
      <p:regular r:id="rId19"/>
      <p:bold r:id="rId20"/>
      <p:italic r:id="rId21"/>
      <p:boldItalic r:id="rId22"/>
    </p:embeddedFont>
    <p:embeddedFont>
      <p:font typeface="仿宋" panose="02010609060101010101" charset="-122"/>
      <p:regular r:id="rId23"/>
    </p:embeddedFont>
  </p:embeddedFontLst>
  <p:defaultTextStyle>
    <a:defPPr>
      <a:defRPr lang="en-US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Relationship Id="rId22" Type="http://schemas.openxmlformats.org/officeDocument/2006/relationships/font" Target="fonts/font7.fntdata"/><Relationship Id="rId23" Type="http://schemas.openxmlformats.org/officeDocument/2006/relationships/font" Target="fonts/font8.fntdata"/><Relationship Id="rId24" Type="http://schemas.openxmlformats.org/officeDocument/2006/relationships/tableStyles" Target="tableStyles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/Relationships>
</file>

<file path=ppt/charts/_rels/chart1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Office_Excel_2007_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mAP@50 (%)</c:v>
                </c:pt>
              </c:strCache>
            </c:strRef>
          </c:tx>
          <c:spPr>
            <a:solidFill>
              <a:srgbClr val="5B8CB8">
                <a:alpha val="100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none" lIns="0" tIns="0" rIns="0" bIns="0" anchor="t" anchorCtr="0"/>
              <a:lstStyle/>
              <a:p>
                <a:pPr algn="l">
                  <a:defRPr lang="zh-CN" sz="900" b="0" i="0" u="none" strike="noStrike" kern="1200" baseline="0">
                    <a:solidFill>
                      <a:srgbClr val="0A1F3D">
                        <a:alpha val="100000"/>
                      </a:srgbClr>
                    </a:solidFill>
                    <a:latin typeface="Inter, sans-serif"/>
                    <a:ea typeface="Inter, sans-serif"/>
                    <a:cs typeface="Inter, sans-serif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Sheet1!$A$2:$A$8</c:f>
              <c:strCache>
                <c:ptCount val="7"/>
                <c:pt idx="0">
                  <c:v>Oriented
R-CNN
(RGB)</c:v>
                </c:pt>
                <c:pt idx="1">
                  <c:v>Oriented
R-CNN
(IR)</c:v>
                </c:pt>
                <c:pt idx="2">
                  <c:v>Halfway
Fusion</c:v>
                </c:pt>
                <c:pt idx="3">
                  <c:v>CIAN</c:v>
                </c:pt>
                <c:pt idx="4">
                  <c:v>AR-CNN</c:v>
                </c:pt>
                <c:pt idx="5">
                  <c:v>TSFADet</c:v>
                </c:pt>
                <c:pt idx="6">
                  <c:v>Cacade-
TSFADet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62.3</c:v>
                </c:pt>
                <c:pt idx="1">
                  <c:v>65.5</c:v>
                </c:pt>
                <c:pt idx="2">
                  <c:v>68.19</c:v>
                </c:pt>
                <c:pt idx="3">
                  <c:v>70.23</c:v>
                </c:pt>
                <c:pt idx="4">
                  <c:v>71.58</c:v>
                </c:pt>
                <c:pt idx="5">
                  <c:v>73.06</c:v>
                </c:pt>
                <c:pt idx="6">
                  <c:v>73.9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overlap val="-10"/>
        <c:axId val="1"/>
        <c:axId val="1001"/>
      </c:barChart>
      <c:catAx>
        <c:axId val="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12700" cap="flat" cmpd="sng" algn="ctr">
            <a:solidFill>
              <a:srgbClr val="A6A6A6">
                <a:alpha val="100000"/>
              </a:srgbClr>
            </a:solidFill>
            <a:prstDash val="solid"/>
            <a:round/>
          </a:ln>
        </c:spPr>
        <c:txPr>
          <a:bodyPr rot="0" spcFirstLastPara="0" vertOverflow="ellipsis" vert="horz" wrap="none" lIns="0" tIns="0" rIns="0" bIns="0" anchor="t" anchorCtr="0"/>
          <a:lstStyle/>
          <a:p>
            <a:pPr algn="l">
              <a:defRPr lang="zh-CN" sz="800" b="0" i="0" u="none" strike="noStrike" kern="1200" baseline="0">
                <a:solidFill>
                  <a:srgbClr val="0A1F3D">
                    <a:alpha val="100000"/>
                  </a:srgbClr>
                </a:solidFill>
                <a:latin typeface="Inter, sans-serif"/>
                <a:ea typeface="Inter, sans-serif"/>
                <a:cs typeface="Inter, sans-serif"/>
              </a:defRPr>
            </a:pPr>
          </a:p>
        </c:txPr>
        <c:crossAx val="1001"/>
        <c:crosses val="autoZero"/>
        <c:auto val="1"/>
        <c:lblAlgn val="ctr"/>
        <c:lblOffset val="100"/>
        <c:tickLblSkip val="1"/>
        <c:noMultiLvlLbl val="0"/>
      </c:catAx>
      <c:valAx>
        <c:axId val="1001"/>
        <c:scaling>
          <c:orientation val="minMax"/>
          <c:max val="80.0"/>
          <c:min val="55.0"/>
        </c:scaling>
        <c:delete val="0"/>
        <c:axPos val="l"/>
        <c:majorGridlines>
          <c:spPr>
            <a:ln w="12700" cap="flat" cmpd="sng" algn="ctr">
              <a:solidFill>
                <a:srgbClr val="C5CDD6">
                  <a:alpha val="100000"/>
                </a:srgbClr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 cap="flat" cmpd="sng" algn="ctr">
            <a:noFill/>
            <a:prstDash val="solid"/>
            <a:round/>
          </a:ln>
        </c:spPr>
        <c:txPr>
          <a:bodyPr rot="0" spcFirstLastPara="0" vertOverflow="ellipsis" vert="horz" wrap="none" lIns="0" tIns="0" rIns="0" bIns="0" anchor="t" anchorCtr="0"/>
          <a:lstStyle/>
          <a:p>
            <a:pPr algn="l">
              <a:defRPr lang="zh-CN" sz="900" b="0" i="0" u="none" strike="noStrike" kern="1200" baseline="0">
                <a:solidFill>
                  <a:srgbClr val="0A1F3D">
                    <a:alpha val="100000"/>
                  </a:srgbClr>
                </a:solidFill>
                <a:latin typeface="Inter, sans-serif"/>
                <a:ea typeface="Inter, sans-serif"/>
                <a:cs typeface="Inter, sans-serif"/>
              </a:defRPr>
            </a:pPr>
          </a:p>
        </c:txPr>
        <c:crossAx val="1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80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1048981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1048982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cs-CZ"/>
          </a:p>
        </p:txBody>
      </p:sp>
      <p:sp>
        <p:nvSpPr>
          <p:cNvPr id="1048983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/>
        </p:spPr>
        <p:txBody>
          <a:bodyPr bIns="45720" lIns="91440" rIns="91440" rtlCol="0" tIns="45720" vert="horz"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1048984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1048985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/>
      </p:grpSpPr>
      <p:sp>
        <p:nvSpPr>
          <p:cNvPr id="1048593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104859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/>
        </p:txBody>
      </p:sp>
      <p:sp>
        <p:nvSpPr>
          <p:cNvPr id="1048595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1048616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1048617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cs-CZ"/>
          </a:p>
        </p:txBody>
      </p:sp>
      <p:sp>
        <p:nvSpPr>
          <p:cNvPr id="1048618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/>
        </p:spPr>
        <p:txBody>
          <a:bodyPr bIns="45720" lIns="91440" rIns="91440" rtlCol="0" tIns="45720" vert="horz"/>
          <a:p>
            <a:pPr lvl="0"/>
            <a:endParaRPr lang="en-US" smtClean="0"/>
          </a:p>
        </p:txBody>
      </p:sp>
      <p:sp>
        <p:nvSpPr>
          <p:cNvPr id="1048619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1048620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7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1048648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1048649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cs-CZ"/>
          </a:p>
        </p:txBody>
      </p:sp>
      <p:sp>
        <p:nvSpPr>
          <p:cNvPr id="104865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/>
        </p:spPr>
        <p:txBody>
          <a:bodyPr bIns="45720" lIns="91440" rIns="91440" rtlCol="0" tIns="45720" vert="horz"/>
          <a:p>
            <a:pPr lvl="0"/>
            <a:endParaRPr lang="en-US" smtClean="0"/>
          </a:p>
        </p:txBody>
      </p:sp>
      <p:sp>
        <p:nvSpPr>
          <p:cNvPr id="104865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104865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104866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1048664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cs-CZ"/>
          </a:p>
        </p:txBody>
      </p:sp>
      <p:sp>
        <p:nvSpPr>
          <p:cNvPr id="104866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/>
        </p:spPr>
        <p:txBody>
          <a:bodyPr bIns="45720" lIns="91440" rIns="91440" rtlCol="0" tIns="45720" vert="horz"/>
          <a:p>
            <a:pPr lvl="0"/>
            <a:endParaRPr lang="en-US" smtClean="0"/>
          </a:p>
        </p:txBody>
      </p:sp>
      <p:sp>
        <p:nvSpPr>
          <p:cNvPr id="104866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104866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1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1048682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1048683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cs-CZ"/>
          </a:p>
        </p:txBody>
      </p:sp>
      <p:sp>
        <p:nvSpPr>
          <p:cNvPr id="1048684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/>
        </p:spPr>
        <p:txBody>
          <a:bodyPr bIns="45720" lIns="91440" rIns="91440" rtlCol="0" tIns="45720" vert="horz"/>
          <a:p>
            <a:pPr lvl="0"/>
            <a:endParaRPr lang="en-US" smtClean="0"/>
          </a:p>
        </p:txBody>
      </p:sp>
      <p:sp>
        <p:nvSpPr>
          <p:cNvPr id="1048685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1048686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104870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1048708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cs-CZ"/>
          </a:p>
        </p:txBody>
      </p:sp>
      <p:sp>
        <p:nvSpPr>
          <p:cNvPr id="104870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/>
        </p:spPr>
        <p:txBody>
          <a:bodyPr bIns="45720" lIns="91440" rIns="91440" rtlCol="0" tIns="45720" vert="horz"/>
          <a:p>
            <a:pPr lvl="0"/>
            <a:endParaRPr lang="en-US" smtClean="0"/>
          </a:p>
        </p:txBody>
      </p:sp>
      <p:sp>
        <p:nvSpPr>
          <p:cNvPr id="104871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104871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1048739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1048740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cs-CZ"/>
          </a:p>
        </p:txBody>
      </p:sp>
      <p:sp>
        <p:nvSpPr>
          <p:cNvPr id="104874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/>
        </p:spPr>
        <p:txBody>
          <a:bodyPr bIns="45720" lIns="91440" rIns="91440" rtlCol="0" tIns="45720" vert="horz"/>
          <a:p>
            <a:pPr lvl="0"/>
            <a:endParaRPr lang="en-US" smtClean="0"/>
          </a:p>
        </p:txBody>
      </p:sp>
      <p:sp>
        <p:nvSpPr>
          <p:cNvPr id="104874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1048743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0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1048771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1048772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cs-CZ"/>
          </a:p>
        </p:txBody>
      </p:sp>
      <p:sp>
        <p:nvSpPr>
          <p:cNvPr id="1048773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/>
        </p:spPr>
        <p:txBody>
          <a:bodyPr bIns="45720" lIns="91440" rIns="91440" rtlCol="0" tIns="45720" vert="horz"/>
          <a:p>
            <a:pPr lvl="0"/>
            <a:endParaRPr lang="en-US" smtClean="0"/>
          </a:p>
        </p:txBody>
      </p:sp>
      <p:sp>
        <p:nvSpPr>
          <p:cNvPr id="1048774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1048775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3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1048804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1048805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cs-CZ"/>
          </a:p>
        </p:txBody>
      </p:sp>
      <p:sp>
        <p:nvSpPr>
          <p:cNvPr id="1048806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/>
        </p:spPr>
        <p:txBody>
          <a:bodyPr bIns="45720" lIns="91440" rIns="91440" rtlCol="0" tIns="45720" vert="horz"/>
          <a:p>
            <a:pPr lvl="0"/>
            <a:endParaRPr lang="en-US" smtClean="0"/>
          </a:p>
        </p:txBody>
      </p:sp>
      <p:sp>
        <p:nvSpPr>
          <p:cNvPr id="1048807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1048808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7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1048818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1048819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cs-CZ"/>
          </a:p>
        </p:txBody>
      </p:sp>
      <p:sp>
        <p:nvSpPr>
          <p:cNvPr id="104882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/>
        </p:spPr>
        <p:txBody>
          <a:bodyPr bIns="45720" lIns="91440" rIns="91440" rtlCol="0" tIns="45720" vert="horz"/>
          <a:p>
            <a:pPr lvl="0"/>
            <a:endParaRPr lang="en-US" smtClean="0"/>
          </a:p>
        </p:txBody>
      </p:sp>
      <p:sp>
        <p:nvSpPr>
          <p:cNvPr id="104882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104882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1048850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1048851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cs-CZ"/>
          </a:p>
        </p:txBody>
      </p:sp>
      <p:sp>
        <p:nvSpPr>
          <p:cNvPr id="1048852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/>
        </p:spPr>
        <p:txBody>
          <a:bodyPr bIns="45720" lIns="91440" rIns="91440" rtlCol="0" tIns="45720" vert="horz"/>
          <a:p>
            <a:pPr lvl="0"/>
            <a:endParaRPr lang="en-US" smtClean="0"/>
          </a:p>
        </p:txBody>
      </p:sp>
      <p:sp>
        <p:nvSpPr>
          <p:cNvPr id="1048853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1048854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4" name=""/>
        <p:cNvGrpSpPr/>
        <p:nvPr/>
      </p:nvGrpSpPr>
      <p:grpSpPr>
        <a:xfrm/>
      </p:grpSpPr>
      <p:sp>
        <p:nvSpPr>
          <p:cNvPr id="1048874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104887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/>
        </p:txBody>
      </p:sp>
      <p:sp>
        <p:nvSpPr>
          <p:cNvPr id="1048876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7" name=""/>
        <p:cNvGrpSpPr/>
        <p:nvPr/>
      </p:nvGrpSpPr>
      <p:grpSpPr>
        <a:xfrm/>
      </p:grpSpPr>
      <p:sp>
        <p:nvSpPr>
          <p:cNvPr id="1048927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104892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/>
        </p:txBody>
      </p:sp>
      <p:sp>
        <p:nvSpPr>
          <p:cNvPr id="1048929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940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94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4894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94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5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956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104895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4895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95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6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961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962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96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4896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96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6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96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1048968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96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1048970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971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48972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973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931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48932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93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48597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9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74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975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976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104897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4897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97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4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945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946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104894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4894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94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951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95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4895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95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4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93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93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4893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93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/>
      </p:grpSpPr>
      <p:pic>
        <p:nvPicPr>
          <p:cNvPr id="2097152" name="图片 8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  <p:sp>
        <p:nvSpPr>
          <p:cNvPr id="1048586" name="矩形 1"/>
          <p:cNvSpPr>
            <a:spLocks noGrp="1"/>
          </p:cNvSpPr>
          <p:nvPr/>
        </p:nvSpPr>
        <p:spPr>
          <a:xfrm>
            <a:off x="0" y="0"/>
            <a:ext cx="7239000" cy="6858000"/>
          </a:xfrm>
          <a:prstGeom prst="rect"/>
          <a:solidFill>
            <a:srgbClr val="061827">
              <a:alpha val="90196"/>
            </a:srgbClr>
          </a:solidFill>
          <a:ln w="0">
            <a:noFill/>
            <a:prstDash val="solid"/>
          </a:ln>
        </p:spPr>
      </p:sp>
      <p:sp>
        <p:nvSpPr>
          <p:cNvPr id="1048587" name="矩形 2"/>
          <p:cNvSpPr>
            <a:spLocks noGrp="1"/>
          </p:cNvSpPr>
          <p:nvPr/>
        </p:nvSpPr>
        <p:spPr>
          <a:xfrm>
            <a:off x="685800" y="876300"/>
            <a:ext cx="914400" cy="57150"/>
          </a:xfrm>
          <a:prstGeom prst="rect"/>
          <a:solidFill>
            <a:srgbClr val="FF8A3D"/>
          </a:solidFill>
          <a:ln w="0">
            <a:noFill/>
            <a:prstDash val="solid"/>
          </a:ln>
        </p:spPr>
      </p:sp>
      <p:sp>
        <p:nvSpPr>
          <p:cNvPr id="1048588" name="矩形 3"/>
          <p:cNvSpPr>
            <a:spLocks noGrp="1"/>
          </p:cNvSpPr>
          <p:nvPr/>
        </p:nvSpPr>
        <p:spPr>
          <a:xfrm>
            <a:off x="685800" y="1219200"/>
            <a:ext cx="4857750" cy="685800"/>
          </a:xfrm>
          <a:prstGeom prst="rect"/>
          <a:noFill/>
          <a:ln w="0">
            <a:noFill/>
            <a:prstDash val="solid"/>
          </a:ln>
        </p:spPr>
        <p:txBody>
          <a:bodyPr anchor="t">
            <a:normAutofit/>
          </a:bodyPr>
          <a:p>
            <a:pPr algn="l">
              <a:defRPr b="1" sz="3900">
                <a:solidFill>
                  <a:srgbClr val="FFFFFF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defRPr>
            </a:pPr>
            <a:r>
              <a:rPr b="1" sz="3900">
                <a:solidFill>
                  <a:srgbClr val="FFFFFF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天巡双瞳</a:t>
            </a:r>
            <a:endParaRPr b="1" sz="3900">
              <a:solidFill>
                <a:srgbClr val="FFFFFF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048589" name="矩形 4"/>
          <p:cNvSpPr>
            <a:spLocks noGrp="1"/>
          </p:cNvSpPr>
          <p:nvPr/>
        </p:nvSpPr>
        <p:spPr>
          <a:xfrm>
            <a:off x="685800" y="2076450"/>
            <a:ext cx="5619750" cy="1466850"/>
          </a:xfrm>
          <a:prstGeom prst="rect"/>
          <a:noFill/>
          <a:ln w="0">
            <a:noFill/>
            <a:prstDash val="solid"/>
          </a:ln>
        </p:spPr>
        <p:txBody>
          <a:bodyPr anchor="t">
            <a:normAutofit/>
          </a:bodyPr>
          <a:p>
            <a:pPr algn="l">
              <a:defRPr b="1" sz="2325">
                <a:solidFill>
                  <a:srgbClr val="FFFFFF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defRPr>
            </a:pPr>
            <a:r>
              <a:rPr b="1" sz="2325">
                <a:solidFill>
                  <a:srgbClr val="FFFFFF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面向全天候交通场景的</a:t>
            </a:r>
            <a:endParaRPr b="1" sz="2325">
              <a:solidFill>
                <a:srgbClr val="FFFFFF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algn="l">
              <a:defRPr b="1" sz="2325">
                <a:solidFill>
                  <a:srgbClr val="FFFFFF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defRPr>
            </a:pPr>
            <a:r>
              <a:rPr b="1" sz="2325">
                <a:solidFill>
                  <a:srgbClr val="FFFFFF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无人机视角多模态小目标检测系统</a:t>
            </a:r>
            <a:endParaRPr b="1" sz="2325">
              <a:solidFill>
                <a:srgbClr val="FFFFFF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048590" name="矩形 5"/>
          <p:cNvSpPr>
            <a:spLocks noGrp="1"/>
          </p:cNvSpPr>
          <p:nvPr/>
        </p:nvSpPr>
        <p:spPr>
          <a:xfrm>
            <a:off x="723900" y="3810000"/>
            <a:ext cx="4572000" cy="400050"/>
          </a:xfrm>
          <a:prstGeom prst="rect"/>
          <a:noFill/>
          <a:ln w="0">
            <a:noFill/>
            <a:prstDash val="solid"/>
          </a:ln>
        </p:spPr>
        <p:txBody>
          <a:bodyPr anchor="t">
            <a:normAutofit/>
          </a:bodyPr>
          <a:p>
            <a:pPr algn="l">
              <a:defRPr b="1" sz="1650">
                <a:solidFill>
                  <a:srgbClr val="33C4E8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defRPr>
            </a:pPr>
            <a:r>
              <a:rPr b="1" sz="1650">
                <a:solidFill>
                  <a:srgbClr val="33C4E8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A18 计算类赛题完整解决方案</a:t>
            </a:r>
            <a:endParaRPr b="1" sz="1650">
              <a:solidFill>
                <a:srgbClr val="33C4E8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048591" name="矩形 6"/>
          <p:cNvSpPr>
            <a:spLocks noGrp="1"/>
          </p:cNvSpPr>
          <p:nvPr/>
        </p:nvSpPr>
        <p:spPr>
          <a:xfrm>
            <a:off x="723900" y="4400550"/>
            <a:ext cx="5334000" cy="323850"/>
          </a:xfrm>
          <a:prstGeom prst="rect"/>
          <a:noFill/>
          <a:ln w="0">
            <a:noFill/>
            <a:prstDash val="solid"/>
          </a:ln>
        </p:spPr>
        <p:txBody>
          <a:bodyPr anchor="t">
            <a:normAutofit/>
          </a:bodyPr>
          <a:p>
            <a:pPr algn="l">
              <a:defRPr b="0" sz="1350">
                <a:solidFill>
                  <a:srgbClr val="C1D8E3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defRPr>
            </a:pPr>
            <a:r>
              <a:rPr b="0" sz="1350">
                <a:solidFill>
                  <a:srgbClr val="C1D8E3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RGB–Thermal 融合  ·  极小目标增强  ·  实时推理</a:t>
            </a:r>
            <a:endParaRPr b="0" sz="1350">
              <a:solidFill>
                <a:srgbClr val="C1D8E3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048592" name="矩形 7"/>
          <p:cNvSpPr>
            <a:spLocks noGrp="1"/>
          </p:cNvSpPr>
          <p:nvPr/>
        </p:nvSpPr>
        <p:spPr>
          <a:xfrm>
            <a:off x="723900" y="6076950"/>
            <a:ext cx="4000500" cy="285750"/>
          </a:xfrm>
          <a:prstGeom prst="rect"/>
          <a:noFill/>
          <a:ln w="0">
            <a:noFill/>
            <a:prstDash val="solid"/>
          </a:ln>
        </p:spPr>
        <p:txBody>
          <a:bodyPr anchor="t">
            <a:normAutofit/>
          </a:bodyPr>
          <a:p>
            <a:pPr algn="l">
              <a:defRPr b="0" sz="1200">
                <a:solidFill>
                  <a:srgbClr val="94B5C5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defRPr>
            </a:pPr>
            <a:r>
              <a:rPr b="0" sz="1200">
                <a:solidFill>
                  <a:srgbClr val="94B5C5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医学影像团队  /  项目简介PPT</a:t>
            </a:r>
            <a:endParaRPr b="0" sz="1200">
              <a:solidFill>
                <a:srgbClr val="94B5C5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AutoShape 2"/>
          <p:cNvSpPr/>
          <p:nvPr/>
        </p:nvSpPr>
        <p:spPr>
          <a:xfrm>
            <a:off x="0" y="0"/>
            <a:ext cx="12188952" cy="6858000"/>
          </a:xfrm>
          <a:prstGeom prst="rect"/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048600" name="TextBox 3"/>
          <p:cNvSpPr txBox="1"/>
          <p:nvPr/>
        </p:nvSpPr>
        <p:spPr>
          <a:xfrm>
            <a:off x="457086" y="2710904"/>
            <a:ext cx="4507323" cy="133350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none"/>
          <a:p>
            <a:pPr algn="l"/>
            <a:r>
              <a:rPr b="0" sz="900" i="0" lang="en-US" strike="noStrike">
                <a:solidFill>
                  <a:srgbClr val="0A1F3D">
                    <a:alpha val="50196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Contents</a:t>
            </a:r>
            <a:endParaRPr sz="1100" lang="en-US"/>
          </a:p>
        </p:txBody>
      </p:sp>
      <p:sp>
        <p:nvSpPr>
          <p:cNvPr id="1048601" name="TextBox 4"/>
          <p:cNvSpPr txBox="1"/>
          <p:nvPr/>
        </p:nvSpPr>
        <p:spPr>
          <a:xfrm>
            <a:off x="457086" y="3082379"/>
            <a:ext cx="4507323" cy="600075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none"/>
          <a:p>
            <a:pPr algn="l"/>
            <a:r>
              <a:rPr b="1" sz="4200" i="0" lang="en-US" strike="noStrike"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目录</a:t>
            </a:r>
            <a:endParaRPr sz="1100" lang="en-US"/>
          </a:p>
        </p:txBody>
      </p:sp>
      <p:sp>
        <p:nvSpPr>
          <p:cNvPr id="1048602" name="TextBox 5"/>
          <p:cNvSpPr txBox="1"/>
          <p:nvPr/>
        </p:nvSpPr>
        <p:spPr>
          <a:xfrm>
            <a:off x="457086" y="3954809"/>
            <a:ext cx="4056487" cy="161925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none"/>
          <a:p>
            <a:pPr algn="l"/>
            <a:r>
              <a:rPr b="0" sz="1200" i="0" lang="en-US" strike="noStrike">
                <a:solidFill>
                  <a:srgbClr val="0A1F3D">
                    <a:alpha val="70196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无人机视角下的目标检测模型全景调研与技术选型</a:t>
            </a:r>
            <a:endParaRPr sz="1100" lang="en-US"/>
          </a:p>
        </p:txBody>
      </p:sp>
      <p:sp>
        <p:nvSpPr>
          <p:cNvPr id="1048603" name="AutoShape 6"/>
          <p:cNvSpPr/>
          <p:nvPr/>
        </p:nvSpPr>
        <p:spPr>
          <a:xfrm>
            <a:off x="5421494" y="1731616"/>
            <a:ext cx="6310222" cy="9525"/>
          </a:xfrm>
          <a:prstGeom prst="line"/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48604" name="TextBox 7"/>
          <p:cNvSpPr txBox="1"/>
          <p:nvPr/>
        </p:nvSpPr>
        <p:spPr>
          <a:xfrm>
            <a:off x="5421494" y="1369666"/>
            <a:ext cx="266633" cy="152400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none"/>
          <a:p>
            <a:pPr algn="l"/>
            <a:r>
              <a:rPr b="0" sz="1000" i="0" lang="en-US" strike="noStrike">
                <a:solidFill>
                  <a:srgbClr val="0A1F3D">
                    <a:alpha val="4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01</a:t>
            </a:r>
            <a:endParaRPr sz="1100" lang="en-US"/>
          </a:p>
        </p:txBody>
      </p:sp>
      <p:sp>
        <p:nvSpPr>
          <p:cNvPr id="1048605" name="TextBox 8"/>
          <p:cNvSpPr txBox="1"/>
          <p:nvPr/>
        </p:nvSpPr>
        <p:spPr>
          <a:xfrm>
            <a:off x="5840490" y="1302991"/>
            <a:ext cx="5891228" cy="238125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none"/>
          <a:p>
            <a:pPr algn="l"/>
            <a:r>
              <a:rPr b="0" sz="1600" i="0" lang="en-US" strike="noStrike">
                <a:solidFill>
                  <a:srgbClr val="0A1F3D">
                    <a:alpha val="10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单模态检测基线与技术瓶颈</a:t>
            </a:r>
            <a:endParaRPr sz="1100" lang="en-US"/>
          </a:p>
        </p:txBody>
      </p:sp>
      <p:sp>
        <p:nvSpPr>
          <p:cNvPr id="1048606" name="AutoShape 9"/>
          <p:cNvSpPr/>
          <p:nvPr/>
        </p:nvSpPr>
        <p:spPr>
          <a:xfrm>
            <a:off x="5421494" y="3015555"/>
            <a:ext cx="6310222" cy="9525"/>
          </a:xfrm>
          <a:prstGeom prst="line"/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48607" name="TextBox 10"/>
          <p:cNvSpPr txBox="1"/>
          <p:nvPr/>
        </p:nvSpPr>
        <p:spPr>
          <a:xfrm>
            <a:off x="5421494" y="2653605"/>
            <a:ext cx="266633" cy="152400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none"/>
          <a:p>
            <a:pPr algn="l"/>
            <a:r>
              <a:rPr b="0" sz="1000" i="0" lang="en-US" strike="noStrike">
                <a:solidFill>
                  <a:srgbClr val="0A1F3D">
                    <a:alpha val="4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02</a:t>
            </a:r>
            <a:endParaRPr sz="1100" lang="en-US"/>
          </a:p>
        </p:txBody>
      </p:sp>
      <p:sp>
        <p:nvSpPr>
          <p:cNvPr id="1048608" name="TextBox 11"/>
          <p:cNvSpPr txBox="1"/>
          <p:nvPr/>
        </p:nvSpPr>
        <p:spPr>
          <a:xfrm>
            <a:off x="5840490" y="2586930"/>
            <a:ext cx="5891228" cy="238125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none"/>
          <a:p>
            <a:pPr algn="l"/>
            <a:r>
              <a:rPr b="0" sz="1600" i="0" lang="en-US" strike="noStrike">
                <a:solidFill>
                  <a:srgbClr val="0A1F3D">
                    <a:alpha val="10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多模态融合检测与前沿演进</a:t>
            </a:r>
            <a:endParaRPr sz="1100" lang="en-US"/>
          </a:p>
        </p:txBody>
      </p:sp>
      <p:sp>
        <p:nvSpPr>
          <p:cNvPr id="1048609" name="AutoShape 12"/>
          <p:cNvSpPr/>
          <p:nvPr/>
        </p:nvSpPr>
        <p:spPr>
          <a:xfrm>
            <a:off x="5421494" y="4299496"/>
            <a:ext cx="6310222" cy="9525"/>
          </a:xfrm>
          <a:prstGeom prst="line"/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48610" name="TextBox 13"/>
          <p:cNvSpPr txBox="1"/>
          <p:nvPr/>
        </p:nvSpPr>
        <p:spPr>
          <a:xfrm>
            <a:off x="5421494" y="3937546"/>
            <a:ext cx="266633" cy="152400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none"/>
          <a:p>
            <a:pPr algn="l"/>
            <a:r>
              <a:rPr b="0" sz="1000" i="0" lang="en-US" strike="noStrike">
                <a:solidFill>
                  <a:srgbClr val="0A1F3D">
                    <a:alpha val="4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03</a:t>
            </a:r>
            <a:endParaRPr sz="1100" lang="en-US"/>
          </a:p>
        </p:txBody>
      </p:sp>
      <p:sp>
        <p:nvSpPr>
          <p:cNvPr id="1048611" name="TextBox 14"/>
          <p:cNvSpPr txBox="1"/>
          <p:nvPr/>
        </p:nvSpPr>
        <p:spPr>
          <a:xfrm>
            <a:off x="5840490" y="3870871"/>
            <a:ext cx="5891228" cy="238125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none"/>
          <a:p>
            <a:pPr algn="l"/>
            <a:r>
              <a:rPr b="0" sz="1600" i="0" lang="en-US" strike="noStrike">
                <a:solidFill>
                  <a:srgbClr val="0A1F3D">
                    <a:alpha val="10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小目标检测优化与场景适配</a:t>
            </a:r>
            <a:endParaRPr sz="1100" lang="en-US"/>
          </a:p>
        </p:txBody>
      </p:sp>
      <p:sp>
        <p:nvSpPr>
          <p:cNvPr id="1048612" name="AutoShape 15"/>
          <p:cNvSpPr/>
          <p:nvPr/>
        </p:nvSpPr>
        <p:spPr>
          <a:xfrm>
            <a:off x="5421494" y="5583436"/>
            <a:ext cx="6310222" cy="9525"/>
          </a:xfrm>
          <a:prstGeom prst="line"/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48613" name="TextBox 16"/>
          <p:cNvSpPr txBox="1"/>
          <p:nvPr/>
        </p:nvSpPr>
        <p:spPr>
          <a:xfrm>
            <a:off x="5421494" y="5221486"/>
            <a:ext cx="266633" cy="152400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none"/>
          <a:p>
            <a:pPr algn="l"/>
            <a:r>
              <a:rPr b="0" sz="1000" i="0" lang="en-US" strike="noStrike">
                <a:solidFill>
                  <a:srgbClr val="0A1F3D">
                    <a:alpha val="4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04</a:t>
            </a:r>
            <a:endParaRPr sz="1100" lang="en-US"/>
          </a:p>
        </p:txBody>
      </p:sp>
      <p:sp>
        <p:nvSpPr>
          <p:cNvPr id="1048614" name="TextBox 17"/>
          <p:cNvSpPr txBox="1"/>
          <p:nvPr/>
        </p:nvSpPr>
        <p:spPr>
          <a:xfrm>
            <a:off x="5840490" y="5154811"/>
            <a:ext cx="5891228" cy="238125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none"/>
          <a:p>
            <a:pPr algn="l"/>
            <a:r>
              <a:rPr b="0" sz="1600" i="0" lang="en-US" strike="noStrike">
                <a:solidFill>
                  <a:srgbClr val="0A1F3D">
                    <a:alpha val="10000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A18方案选型建议与技术论证</a:t>
            </a:r>
            <a:endParaRPr sz="1100"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AutoShape 2"/>
          <p:cNvSpPr/>
          <p:nvPr/>
        </p:nvSpPr>
        <p:spPr>
          <a:xfrm>
            <a:off x="0" y="0"/>
            <a:ext cx="12188952" cy="6858000"/>
          </a:xfrm>
          <a:prstGeom prst="rect"/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048622" name="TextBox 3"/>
          <p:cNvSpPr txBox="1"/>
          <p:nvPr/>
        </p:nvSpPr>
        <p:spPr>
          <a:xfrm>
            <a:off x="457086" y="476250"/>
            <a:ext cx="11274781" cy="133350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none"/>
          <a:p>
            <a:pPr algn="l"/>
            <a:r>
              <a:rPr b="0" sz="900" i="0" lang="en-US" strike="noStrike"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Detection Framework</a:t>
            </a:r>
            <a:endParaRPr sz="1100" lang="en-US"/>
          </a:p>
        </p:txBody>
      </p:sp>
      <p:sp>
        <p:nvSpPr>
          <p:cNvPr id="1048623" name="TextBox 4"/>
          <p:cNvSpPr txBox="1"/>
          <p:nvPr/>
        </p:nvSpPr>
        <p:spPr>
          <a:xfrm>
            <a:off x="457086" y="781050"/>
            <a:ext cx="11274781" cy="419100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none"/>
          <a:p>
            <a:pPr algn="l"/>
            <a:r>
              <a:rPr b="1" sz="3000" i="0" lang="en-US" strike="noStrike"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主流检测框架概览与无人机场景适配</a:t>
            </a:r>
            <a:endParaRPr sz="1100" lang="en-US"/>
          </a:p>
        </p:txBody>
      </p:sp>
      <p:sp>
        <p:nvSpPr>
          <p:cNvPr id="1048624" name="AutoShape 5"/>
          <p:cNvSpPr/>
          <p:nvPr/>
        </p:nvSpPr>
        <p:spPr>
          <a:xfrm>
            <a:off x="457086" y="1352550"/>
            <a:ext cx="9522" cy="649486"/>
          </a:xfrm>
          <a:prstGeom prst="line"/>
          <a:ln w="9525">
            <a:solidFill>
              <a:srgbClr val="5B8CB8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1048625" name="TextBox 6"/>
          <p:cNvSpPr txBox="1"/>
          <p:nvPr/>
        </p:nvSpPr>
        <p:spPr>
          <a:xfrm>
            <a:off x="599925" y="1390650"/>
            <a:ext cx="11589027" cy="562868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square"/>
          <a:p>
            <a:pPr algn="l"/>
            <a:r>
              <a:rPr b="0" sz="1600" i="1" lang="en-US" strike="noStrike">
                <a:solidFill>
                  <a:srgbClr val="0A1F3D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无人机视角目标检测的单模态基线主要分为CNN单阶段、CNN两阶段与Transformer三大路线。YOLO系列凭借精度与效</a:t>
            </a:r>
            <a:endParaRPr sz="1100" lang="en-US"/>
          </a:p>
          <a:p>
            <a:pPr algn="l"/>
            <a:r>
              <a:rPr b="0" sz="1600" i="1" strike="noStrike">
                <a:solidFill>
                  <a:srgbClr val="0A1F3D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率的优异平衡占据主导地位，而Transformer虽具全局建模优势但受限于庞大的计算量，难以满足实时推理需求。</a:t>
            </a:r>
            <a:endParaRPr b="0" sz="1600" i="1" strike="noStrike">
              <a:solidFill>
                <a:srgbClr val="0A1F3D">
                  <a:alpha val="78039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048626" name="AutoShape 7"/>
          <p:cNvSpPr/>
          <p:nvPr/>
        </p:nvSpPr>
        <p:spPr>
          <a:xfrm>
            <a:off x="457086" y="2230636"/>
            <a:ext cx="3605799" cy="4170164"/>
          </a:xfrm>
          <a:prstGeom prst="rect"/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48627" name="AutoShape 8"/>
          <p:cNvSpPr/>
          <p:nvPr/>
        </p:nvSpPr>
        <p:spPr>
          <a:xfrm>
            <a:off x="457086" y="2230636"/>
            <a:ext cx="3605799" cy="9525"/>
          </a:xfrm>
          <a:prstGeom prst="line"/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48628" name="AutoShape 9"/>
          <p:cNvSpPr/>
          <p:nvPr/>
        </p:nvSpPr>
        <p:spPr>
          <a:xfrm>
            <a:off x="695151" y="2525911"/>
            <a:ext cx="418996" cy="419100"/>
          </a:xfrm>
          <a:custGeom>
            <a:avLst/>
            <a:ahLst/>
            <a:rect l="l" t="t" r="r" b="b"/>
            <a:pathLst>
              <a:path w="9998" h="10000">
                <a:moveTo>
                  <a:pt x="5293" y="0"/>
                </a:moveTo>
                <a:lnTo>
                  <a:pt x="5293" y="3750"/>
                </a:lnTo>
                <a:lnTo>
                  <a:pt x="9998" y="3750"/>
                </a:lnTo>
                <a:lnTo>
                  <a:pt x="4117" y="10000"/>
                </a:lnTo>
                <a:lnTo>
                  <a:pt x="4117" y="6250"/>
                </a:lnTo>
                <a:lnTo>
                  <a:pt x="0" y="6250"/>
                </a:lnTo>
                <a:lnTo>
                  <a:pt x="5293" y="0"/>
                </a:lnTo>
                <a:moveTo>
                  <a:pt x="7798" y="4583"/>
                </a:moveTo>
                <a:lnTo>
                  <a:pt x="4117" y="4583"/>
                </a:lnTo>
                <a:lnTo>
                  <a:pt x="4117" y="3008"/>
                </a:lnTo>
                <a:lnTo>
                  <a:pt x="2082" y="5417"/>
                </a:lnTo>
                <a:lnTo>
                  <a:pt x="5293" y="5417"/>
                </a:lnTo>
                <a:lnTo>
                  <a:pt x="5293" y="7250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048629" name="TextBox 10"/>
          <p:cNvSpPr txBox="1"/>
          <p:nvPr/>
        </p:nvSpPr>
        <p:spPr>
          <a:xfrm>
            <a:off x="695151" y="3615929"/>
            <a:ext cx="3129669" cy="535186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square"/>
          <a:p>
            <a:pPr algn="l"/>
            <a:r>
              <a:rPr b="1" sz="1800" i="0" lang="en-US" strike="noStrike"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CNN单阶段</a:t>
            </a:r>
            <a:endParaRPr sz="1100" lang="en-US"/>
          </a:p>
          <a:p>
            <a:pPr algn="l"/>
            <a:r>
              <a:rPr b="1" sz="1200" i="0" strike="noStrike">
                <a:solidFill>
                  <a:srgbClr val="0A1F3D">
                    <a:alpha val="6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YOLO 系列</a:t>
            </a:r>
            <a:endParaRPr b="1" sz="1200" i="0" strike="noStrike">
              <a:solidFill>
                <a:srgbClr val="0A1F3D">
                  <a:alpha val="60000"/>
                </a:srgbClr>
              </a:solidFill>
              <a:latin typeface="Inter" panose="02000503000000020004"/>
              <a:ea typeface="Inter" panose="02000503000000020004"/>
              <a:cs typeface="Inter" panose="02000503000000020004"/>
            </a:endParaRPr>
          </a:p>
        </p:txBody>
      </p:sp>
      <p:sp>
        <p:nvSpPr>
          <p:cNvPr id="1048630" name="TextBox 11"/>
          <p:cNvSpPr txBox="1"/>
          <p:nvPr/>
        </p:nvSpPr>
        <p:spPr>
          <a:xfrm>
            <a:off x="695151" y="4362450"/>
            <a:ext cx="3367734" cy="664666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square"/>
          <a:p>
            <a:pPr algn="l"/>
            <a:r>
              <a:rPr b="0" sz="1200" i="0" lang="en-US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精度-速度平衡极佳且部署生态成熟，在无人机</a:t>
            </a:r>
            <a:endParaRPr sz="1100" lang="en-US"/>
          </a:p>
          <a:p>
            <a:pPr algn="l"/>
            <a:r>
              <a:rPr b="0" sz="120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场景中被广泛采用，但连续下采样导致小目标</a:t>
            </a:r>
            <a:endParaRPr b="0" sz="1200" i="0" strike="noStrike">
              <a:solidFill>
                <a:srgbClr val="0A1F3D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  <a:p>
            <a:pPr algn="l"/>
            <a:r>
              <a:rPr b="0" sz="120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召回率受限。</a:t>
            </a:r>
            <a:endParaRPr b="0" sz="1200" i="0" strike="noStrike">
              <a:solidFill>
                <a:srgbClr val="0A1F3D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048631" name="AutoShape 12"/>
          <p:cNvSpPr/>
          <p:nvPr/>
        </p:nvSpPr>
        <p:spPr>
          <a:xfrm>
            <a:off x="695151" y="5730329"/>
            <a:ext cx="3129669" cy="9525"/>
          </a:xfrm>
          <a:prstGeom prst="line"/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48632" name="TextBox 13"/>
          <p:cNvSpPr txBox="1"/>
          <p:nvPr/>
        </p:nvSpPr>
        <p:spPr>
          <a:xfrm>
            <a:off x="695151" y="5873204"/>
            <a:ext cx="3129669" cy="238125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none"/>
          <a:p>
            <a:pPr algn="l"/>
            <a:r>
              <a:rPr b="0" sz="1600" i="0" lang="en-US" strike="noStrike"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精度-速度平衡</a:t>
            </a:r>
            <a:endParaRPr sz="1100" lang="en-US"/>
          </a:p>
        </p:txBody>
      </p:sp>
      <p:sp>
        <p:nvSpPr>
          <p:cNvPr id="1048633" name="AutoShape 14"/>
          <p:cNvSpPr/>
          <p:nvPr/>
        </p:nvSpPr>
        <p:spPr>
          <a:xfrm>
            <a:off x="4291428" y="2230636"/>
            <a:ext cx="3605948" cy="4170164"/>
          </a:xfrm>
          <a:prstGeom prst="rect"/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48634" name="AutoShape 15"/>
          <p:cNvSpPr/>
          <p:nvPr/>
        </p:nvSpPr>
        <p:spPr>
          <a:xfrm>
            <a:off x="4291428" y="2230636"/>
            <a:ext cx="3605948" cy="9525"/>
          </a:xfrm>
          <a:prstGeom prst="line"/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48635" name="AutoShape 16"/>
          <p:cNvSpPr/>
          <p:nvPr/>
        </p:nvSpPr>
        <p:spPr>
          <a:xfrm>
            <a:off x="4529493" y="2525911"/>
            <a:ext cx="418996" cy="419100"/>
          </a:xfrm>
          <a:custGeom>
            <a:avLst/>
            <a:ahLst/>
            <a:rect l="l" t="t" r="r" b="b"/>
            <a:pathLst>
              <a:path w="9998" h="10000">
                <a:moveTo>
                  <a:pt x="4545" y="0"/>
                </a:moveTo>
                <a:lnTo>
                  <a:pt x="5453" y="0"/>
                </a:lnTo>
                <a:lnTo>
                  <a:pt x="5453" y="1391"/>
                </a:lnTo>
                <a:cubicBezTo>
                  <a:pt x="5992" y="1457"/>
                  <a:pt x="6491" y="1636"/>
                  <a:pt x="6949" y="1927"/>
                </a:cubicBezTo>
                <a:cubicBezTo>
                  <a:pt x="7406" y="2218"/>
                  <a:pt x="7780" y="2592"/>
                  <a:pt x="8071" y="3050"/>
                </a:cubicBezTo>
                <a:cubicBezTo>
                  <a:pt x="8361" y="3507"/>
                  <a:pt x="8540" y="4005"/>
                  <a:pt x="8607" y="4545"/>
                </a:cubicBezTo>
                <a:lnTo>
                  <a:pt x="9998" y="4545"/>
                </a:lnTo>
                <a:lnTo>
                  <a:pt x="9998" y="5455"/>
                </a:lnTo>
                <a:lnTo>
                  <a:pt x="8607" y="5455"/>
                </a:lnTo>
                <a:cubicBezTo>
                  <a:pt x="8540" y="5994"/>
                  <a:pt x="8361" y="6492"/>
                  <a:pt x="8071" y="6950"/>
                </a:cubicBezTo>
                <a:cubicBezTo>
                  <a:pt x="7780" y="7407"/>
                  <a:pt x="7406" y="7781"/>
                  <a:pt x="6949" y="8073"/>
                </a:cubicBezTo>
                <a:cubicBezTo>
                  <a:pt x="6491" y="8363"/>
                  <a:pt x="5992" y="8542"/>
                  <a:pt x="5453" y="8609"/>
                </a:cubicBezTo>
                <a:lnTo>
                  <a:pt x="5453" y="10000"/>
                </a:lnTo>
                <a:lnTo>
                  <a:pt x="4545" y="10000"/>
                </a:lnTo>
                <a:lnTo>
                  <a:pt x="4545" y="8609"/>
                </a:lnTo>
                <a:cubicBezTo>
                  <a:pt x="4005" y="8542"/>
                  <a:pt x="3507" y="8363"/>
                  <a:pt x="3049" y="8073"/>
                </a:cubicBezTo>
                <a:cubicBezTo>
                  <a:pt x="2591" y="7781"/>
                  <a:pt x="2217" y="7407"/>
                  <a:pt x="1927" y="6950"/>
                </a:cubicBezTo>
                <a:cubicBezTo>
                  <a:pt x="1636" y="6492"/>
                  <a:pt x="1457" y="5994"/>
                  <a:pt x="1391" y="5455"/>
                </a:cubicBezTo>
                <a:lnTo>
                  <a:pt x="0" y="5455"/>
                </a:lnTo>
                <a:lnTo>
                  <a:pt x="0" y="4545"/>
                </a:lnTo>
                <a:lnTo>
                  <a:pt x="1391" y="4545"/>
                </a:lnTo>
                <a:cubicBezTo>
                  <a:pt x="1457" y="4005"/>
                  <a:pt x="1636" y="3507"/>
                  <a:pt x="1927" y="3050"/>
                </a:cubicBezTo>
                <a:cubicBezTo>
                  <a:pt x="2217" y="2592"/>
                  <a:pt x="2591" y="2218"/>
                  <a:pt x="3049" y="1927"/>
                </a:cubicBezTo>
                <a:cubicBezTo>
                  <a:pt x="3507" y="1636"/>
                  <a:pt x="4005" y="1457"/>
                  <a:pt x="4545" y="1391"/>
                </a:cubicBezTo>
                <a:lnTo>
                  <a:pt x="4545" y="0"/>
                </a:lnTo>
                <a:moveTo>
                  <a:pt x="4999" y="2273"/>
                </a:moveTo>
                <a:cubicBezTo>
                  <a:pt x="4508" y="2273"/>
                  <a:pt x="4051" y="2397"/>
                  <a:pt x="3627" y="2645"/>
                </a:cubicBezTo>
                <a:cubicBezTo>
                  <a:pt x="3214" y="2887"/>
                  <a:pt x="2887" y="3215"/>
                  <a:pt x="2645" y="3627"/>
                </a:cubicBezTo>
                <a:cubicBezTo>
                  <a:pt x="2396" y="4051"/>
                  <a:pt x="2272" y="4509"/>
                  <a:pt x="2272" y="5000"/>
                </a:cubicBezTo>
                <a:cubicBezTo>
                  <a:pt x="2272" y="5490"/>
                  <a:pt x="2396" y="5948"/>
                  <a:pt x="2645" y="6373"/>
                </a:cubicBezTo>
                <a:cubicBezTo>
                  <a:pt x="2887" y="6785"/>
                  <a:pt x="3214" y="7112"/>
                  <a:pt x="3627" y="7355"/>
                </a:cubicBezTo>
                <a:cubicBezTo>
                  <a:pt x="4051" y="7603"/>
                  <a:pt x="4508" y="7727"/>
                  <a:pt x="4999" y="7727"/>
                </a:cubicBezTo>
                <a:cubicBezTo>
                  <a:pt x="5489" y="7727"/>
                  <a:pt x="5947" y="7603"/>
                  <a:pt x="6371" y="7355"/>
                </a:cubicBezTo>
                <a:cubicBezTo>
                  <a:pt x="6783" y="7112"/>
                  <a:pt x="7111" y="6785"/>
                  <a:pt x="7353" y="6373"/>
                </a:cubicBezTo>
                <a:cubicBezTo>
                  <a:pt x="7601" y="5948"/>
                  <a:pt x="7726" y="5490"/>
                  <a:pt x="7726" y="5000"/>
                </a:cubicBezTo>
                <a:cubicBezTo>
                  <a:pt x="7726" y="4509"/>
                  <a:pt x="7601" y="4051"/>
                  <a:pt x="7353" y="3627"/>
                </a:cubicBezTo>
                <a:cubicBezTo>
                  <a:pt x="7111" y="3215"/>
                  <a:pt x="6783" y="2887"/>
                  <a:pt x="6371" y="2645"/>
                </a:cubicBezTo>
                <a:cubicBezTo>
                  <a:pt x="5947" y="2397"/>
                  <a:pt x="5489" y="2273"/>
                  <a:pt x="4999" y="2273"/>
                </a:cubicBezTo>
                <a:moveTo>
                  <a:pt x="4999" y="4091"/>
                </a:moveTo>
                <a:cubicBezTo>
                  <a:pt x="5162" y="4091"/>
                  <a:pt x="5313" y="4132"/>
                  <a:pt x="5453" y="4214"/>
                </a:cubicBezTo>
                <a:cubicBezTo>
                  <a:pt x="5593" y="4295"/>
                  <a:pt x="5703" y="4405"/>
                  <a:pt x="5785" y="4545"/>
                </a:cubicBezTo>
                <a:cubicBezTo>
                  <a:pt x="5867" y="4685"/>
                  <a:pt x="5908" y="4836"/>
                  <a:pt x="5908" y="5000"/>
                </a:cubicBezTo>
                <a:cubicBezTo>
                  <a:pt x="5908" y="5163"/>
                  <a:pt x="5867" y="5315"/>
                  <a:pt x="5785" y="5455"/>
                </a:cubicBezTo>
                <a:cubicBezTo>
                  <a:pt x="5703" y="5594"/>
                  <a:pt x="5593" y="5704"/>
                  <a:pt x="5453" y="5786"/>
                </a:cubicBezTo>
                <a:cubicBezTo>
                  <a:pt x="5313" y="5868"/>
                  <a:pt x="5162" y="5909"/>
                  <a:pt x="4999" y="5909"/>
                </a:cubicBezTo>
                <a:cubicBezTo>
                  <a:pt x="4835" y="5909"/>
                  <a:pt x="4684" y="5868"/>
                  <a:pt x="4545" y="5786"/>
                </a:cubicBezTo>
                <a:cubicBezTo>
                  <a:pt x="4405" y="5704"/>
                  <a:pt x="4294" y="5594"/>
                  <a:pt x="4213" y="5455"/>
                </a:cubicBezTo>
                <a:cubicBezTo>
                  <a:pt x="4131" y="5315"/>
                  <a:pt x="4090" y="5163"/>
                  <a:pt x="4090" y="5000"/>
                </a:cubicBezTo>
                <a:cubicBezTo>
                  <a:pt x="4090" y="4836"/>
                  <a:pt x="4131" y="4685"/>
                  <a:pt x="4213" y="4545"/>
                </a:cubicBezTo>
                <a:cubicBezTo>
                  <a:pt x="4294" y="4405"/>
                  <a:pt x="4405" y="4295"/>
                  <a:pt x="4545" y="4214"/>
                </a:cubicBezTo>
                <a:cubicBezTo>
                  <a:pt x="4684" y="4132"/>
                  <a:pt x="4835" y="4091"/>
                  <a:pt x="4999" y="4091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048636" name="TextBox 17"/>
          <p:cNvSpPr txBox="1"/>
          <p:nvPr/>
        </p:nvSpPr>
        <p:spPr>
          <a:xfrm>
            <a:off x="4529493" y="3615929"/>
            <a:ext cx="3129817" cy="535186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square"/>
          <a:p>
            <a:pPr algn="l"/>
            <a:r>
              <a:rPr b="1" sz="1800" i="0" lang="en-US" strike="noStrike"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CNN两阶段</a:t>
            </a:r>
            <a:endParaRPr sz="1100" lang="en-US"/>
          </a:p>
          <a:p>
            <a:pPr algn="l"/>
            <a:r>
              <a:rPr b="1" sz="1200" i="0" strike="noStrike">
                <a:solidFill>
                  <a:srgbClr val="0A1F3D">
                    <a:alpha val="6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Faster R-CNN</a:t>
            </a:r>
            <a:endParaRPr b="1" sz="1200" i="0" strike="noStrike">
              <a:solidFill>
                <a:srgbClr val="0A1F3D">
                  <a:alpha val="60000"/>
                </a:srgbClr>
              </a:solidFill>
              <a:latin typeface="Inter" panose="02000503000000020004"/>
              <a:ea typeface="Inter" panose="02000503000000020004"/>
              <a:cs typeface="Inter" panose="02000503000000020004"/>
            </a:endParaRPr>
          </a:p>
        </p:txBody>
      </p:sp>
      <p:sp>
        <p:nvSpPr>
          <p:cNvPr id="1048637" name="TextBox 18"/>
          <p:cNvSpPr txBox="1"/>
          <p:nvPr/>
        </p:nvSpPr>
        <p:spPr>
          <a:xfrm>
            <a:off x="4529493" y="4362450"/>
            <a:ext cx="3367883" cy="664666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square"/>
          <a:p>
            <a:pPr algn="l"/>
            <a:r>
              <a:rPr b="0" sz="1200" i="0" lang="en-US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检测精度较高且擅长复杂场景，但区域建议网</a:t>
            </a:r>
            <a:endParaRPr sz="1100" lang="en-US"/>
          </a:p>
          <a:p>
            <a:pPr algn="l"/>
            <a:r>
              <a:rPr b="0" sz="120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络带来高计算复杂度，实时性不足，难以满足</a:t>
            </a:r>
            <a:endParaRPr b="0" sz="1200" i="0" strike="noStrike">
              <a:solidFill>
                <a:srgbClr val="0A1F3D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  <a:p>
            <a:pPr algn="l"/>
            <a:r>
              <a:rPr b="0" sz="120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无人机实时推理需求。</a:t>
            </a:r>
            <a:endParaRPr b="0" sz="1200" i="0" strike="noStrike">
              <a:solidFill>
                <a:srgbClr val="0A1F3D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048638" name="AutoShape 19"/>
          <p:cNvSpPr/>
          <p:nvPr/>
        </p:nvSpPr>
        <p:spPr>
          <a:xfrm>
            <a:off x="4529493" y="5730329"/>
            <a:ext cx="3129817" cy="9525"/>
          </a:xfrm>
          <a:prstGeom prst="line"/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48639" name="TextBox 20"/>
          <p:cNvSpPr txBox="1"/>
          <p:nvPr/>
        </p:nvSpPr>
        <p:spPr>
          <a:xfrm>
            <a:off x="4529493" y="5873204"/>
            <a:ext cx="3129817" cy="238125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none"/>
          <a:p>
            <a:pPr algn="l"/>
            <a:r>
              <a:rPr b="0" sz="1600" i="0" lang="en-US" strike="noStrike"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复杂场景精度</a:t>
            </a:r>
            <a:endParaRPr sz="1100" lang="en-US"/>
          </a:p>
        </p:txBody>
      </p:sp>
      <p:sp>
        <p:nvSpPr>
          <p:cNvPr id="1048640" name="AutoShape 21"/>
          <p:cNvSpPr/>
          <p:nvPr/>
        </p:nvSpPr>
        <p:spPr>
          <a:xfrm>
            <a:off x="8125918" y="2230636"/>
            <a:ext cx="3605799" cy="4170164"/>
          </a:xfrm>
          <a:prstGeom prst="rect"/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48641" name="AutoShape 22"/>
          <p:cNvSpPr/>
          <p:nvPr/>
        </p:nvSpPr>
        <p:spPr>
          <a:xfrm>
            <a:off x="8125918" y="2230636"/>
            <a:ext cx="3605799" cy="9525"/>
          </a:xfrm>
          <a:prstGeom prst="line"/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48642" name="AutoShape 23"/>
          <p:cNvSpPr/>
          <p:nvPr/>
        </p:nvSpPr>
        <p:spPr>
          <a:xfrm>
            <a:off x="8363984" y="2525911"/>
            <a:ext cx="418996" cy="419100"/>
          </a:xfrm>
          <a:custGeom>
            <a:avLst/>
            <a:ahLst/>
            <a:rect l="l" t="t" r="r" b="b"/>
            <a:pathLst>
              <a:path w="9998" h="10000">
                <a:moveTo>
                  <a:pt x="2000" y="2000"/>
                </a:moveTo>
                <a:lnTo>
                  <a:pt x="2000" y="8000"/>
                </a:lnTo>
                <a:lnTo>
                  <a:pt x="7998" y="8000"/>
                </a:lnTo>
                <a:lnTo>
                  <a:pt x="7998" y="2000"/>
                </a:lnTo>
                <a:lnTo>
                  <a:pt x="2000" y="2000"/>
                </a:lnTo>
                <a:moveTo>
                  <a:pt x="5999" y="10000"/>
                </a:moveTo>
                <a:lnTo>
                  <a:pt x="5999" y="9000"/>
                </a:lnTo>
                <a:lnTo>
                  <a:pt x="3999" y="9000"/>
                </a:lnTo>
                <a:lnTo>
                  <a:pt x="3999" y="10000"/>
                </a:lnTo>
                <a:lnTo>
                  <a:pt x="2999" y="10000"/>
                </a:lnTo>
                <a:lnTo>
                  <a:pt x="2999" y="9000"/>
                </a:lnTo>
                <a:lnTo>
                  <a:pt x="1500" y="9000"/>
                </a:lnTo>
                <a:cubicBezTo>
                  <a:pt x="1360" y="9000"/>
                  <a:pt x="1241" y="8951"/>
                  <a:pt x="1145" y="8855"/>
                </a:cubicBezTo>
                <a:cubicBezTo>
                  <a:pt x="1048" y="8758"/>
                  <a:pt x="1000" y="8640"/>
                  <a:pt x="1000" y="8500"/>
                </a:cubicBezTo>
                <a:lnTo>
                  <a:pt x="1000" y="7000"/>
                </a:lnTo>
                <a:lnTo>
                  <a:pt x="0" y="7000"/>
                </a:lnTo>
                <a:lnTo>
                  <a:pt x="0" y="6000"/>
                </a:lnTo>
                <a:lnTo>
                  <a:pt x="1000" y="6000"/>
                </a:lnTo>
                <a:lnTo>
                  <a:pt x="1000" y="4000"/>
                </a:lnTo>
                <a:lnTo>
                  <a:pt x="0" y="4000"/>
                </a:lnTo>
                <a:lnTo>
                  <a:pt x="0" y="3000"/>
                </a:lnTo>
                <a:lnTo>
                  <a:pt x="1000" y="3000"/>
                </a:lnTo>
                <a:lnTo>
                  <a:pt x="1000" y="1500"/>
                </a:lnTo>
                <a:cubicBezTo>
                  <a:pt x="1000" y="1360"/>
                  <a:pt x="1048" y="1241"/>
                  <a:pt x="1145" y="1145"/>
                </a:cubicBezTo>
                <a:cubicBezTo>
                  <a:pt x="1241" y="1048"/>
                  <a:pt x="1360" y="1000"/>
                  <a:pt x="1500" y="1000"/>
                </a:cubicBezTo>
                <a:lnTo>
                  <a:pt x="2999" y="1000"/>
                </a:lnTo>
                <a:lnTo>
                  <a:pt x="2999" y="0"/>
                </a:lnTo>
                <a:lnTo>
                  <a:pt x="3999" y="0"/>
                </a:lnTo>
                <a:lnTo>
                  <a:pt x="3999" y="1000"/>
                </a:lnTo>
                <a:lnTo>
                  <a:pt x="5999" y="1000"/>
                </a:lnTo>
                <a:lnTo>
                  <a:pt x="5999" y="0"/>
                </a:lnTo>
                <a:lnTo>
                  <a:pt x="6999" y="0"/>
                </a:lnTo>
                <a:lnTo>
                  <a:pt x="6999" y="1000"/>
                </a:lnTo>
                <a:lnTo>
                  <a:pt x="8498" y="1000"/>
                </a:lnTo>
                <a:cubicBezTo>
                  <a:pt x="8638" y="1000"/>
                  <a:pt x="8756" y="1048"/>
                  <a:pt x="8853" y="1145"/>
                </a:cubicBezTo>
                <a:cubicBezTo>
                  <a:pt x="8949" y="1241"/>
                  <a:pt x="8998" y="1360"/>
                  <a:pt x="8998" y="1500"/>
                </a:cubicBezTo>
                <a:lnTo>
                  <a:pt x="8998" y="3000"/>
                </a:lnTo>
                <a:lnTo>
                  <a:pt x="9998" y="3000"/>
                </a:lnTo>
                <a:lnTo>
                  <a:pt x="9998" y="4000"/>
                </a:lnTo>
                <a:lnTo>
                  <a:pt x="8998" y="4000"/>
                </a:lnTo>
                <a:lnTo>
                  <a:pt x="8998" y="6000"/>
                </a:lnTo>
                <a:lnTo>
                  <a:pt x="9998" y="6000"/>
                </a:lnTo>
                <a:lnTo>
                  <a:pt x="9998" y="7000"/>
                </a:lnTo>
                <a:lnTo>
                  <a:pt x="8998" y="7000"/>
                </a:lnTo>
                <a:lnTo>
                  <a:pt x="8998" y="8500"/>
                </a:lnTo>
                <a:cubicBezTo>
                  <a:pt x="8998" y="8640"/>
                  <a:pt x="8949" y="8758"/>
                  <a:pt x="8853" y="8855"/>
                </a:cubicBezTo>
                <a:cubicBezTo>
                  <a:pt x="8756" y="8951"/>
                  <a:pt x="8638" y="9000"/>
                  <a:pt x="8498" y="9000"/>
                </a:cubicBezTo>
                <a:lnTo>
                  <a:pt x="6999" y="9000"/>
                </a:lnTo>
                <a:lnTo>
                  <a:pt x="6999" y="10000"/>
                </a:lnTo>
                <a:lnTo>
                  <a:pt x="5999" y="10000"/>
                </a:lnTo>
                <a:moveTo>
                  <a:pt x="2999" y="7000"/>
                </a:moveTo>
                <a:lnTo>
                  <a:pt x="2999" y="3000"/>
                </a:lnTo>
                <a:lnTo>
                  <a:pt x="6999" y="3000"/>
                </a:lnTo>
                <a:lnTo>
                  <a:pt x="6999" y="7000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048643" name="TextBox 24"/>
          <p:cNvSpPr txBox="1"/>
          <p:nvPr/>
        </p:nvSpPr>
        <p:spPr>
          <a:xfrm>
            <a:off x="8363984" y="3604468"/>
            <a:ext cx="3129669" cy="535186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none"/>
          <a:p>
            <a:pPr algn="l"/>
            <a:r>
              <a:rPr b="1" sz="1800" i="0" lang="en-US" strike="noStrike"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Transformer</a:t>
            </a:r>
            <a:endParaRPr sz="1100" lang="en-US"/>
          </a:p>
          <a:p>
            <a:pPr algn="l"/>
            <a:r>
              <a:rPr b="1" sz="1200" i="0" strike="noStrike">
                <a:solidFill>
                  <a:srgbClr val="0A1F3D">
                    <a:alpha val="6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RT-DETR</a:t>
            </a:r>
            <a:endParaRPr b="1" sz="1200" i="0" strike="noStrike">
              <a:solidFill>
                <a:srgbClr val="0A1F3D">
                  <a:alpha val="60000"/>
                </a:srgbClr>
              </a:solidFill>
              <a:latin typeface="Inter" panose="02000503000000020004"/>
              <a:ea typeface="Inter" panose="02000503000000020004"/>
              <a:cs typeface="Inter" panose="02000503000000020004"/>
            </a:endParaRPr>
          </a:p>
        </p:txBody>
      </p:sp>
      <p:sp>
        <p:nvSpPr>
          <p:cNvPr id="1048644" name="TextBox 25"/>
          <p:cNvSpPr txBox="1"/>
          <p:nvPr/>
        </p:nvSpPr>
        <p:spPr>
          <a:xfrm>
            <a:off x="8363984" y="4350991"/>
            <a:ext cx="3367734" cy="664666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square"/>
          <a:p>
            <a:pPr algn="l"/>
            <a:r>
              <a:rPr b="0" sz="1200" i="0" lang="en-US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全局建模能力强，部分基准mAP50达73.4%，</a:t>
            </a:r>
            <a:endParaRPr sz="1100" lang="en-US"/>
          </a:p>
          <a:p>
            <a:pPr algn="l"/>
            <a:r>
              <a:rPr b="0" sz="120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但自注意力机制计算量庞大，实时性不及轻量</a:t>
            </a:r>
            <a:endParaRPr b="0" sz="1200" i="0" strike="noStrike">
              <a:solidFill>
                <a:srgbClr val="0A1F3D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  <a:p>
            <a:pPr algn="l"/>
            <a:r>
              <a:rPr b="0" sz="120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化YOLO变体。</a:t>
            </a:r>
            <a:endParaRPr b="0" sz="1200" i="0" strike="noStrike">
              <a:solidFill>
                <a:srgbClr val="0A1F3D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048645" name="AutoShape 26"/>
          <p:cNvSpPr/>
          <p:nvPr/>
        </p:nvSpPr>
        <p:spPr>
          <a:xfrm>
            <a:off x="8363984" y="5707409"/>
            <a:ext cx="3129669" cy="9525"/>
          </a:xfrm>
          <a:prstGeom prst="line"/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48646" name="TextBox 27"/>
          <p:cNvSpPr txBox="1"/>
          <p:nvPr/>
        </p:nvSpPr>
        <p:spPr>
          <a:xfrm>
            <a:off x="8363984" y="5850284"/>
            <a:ext cx="3129669" cy="257175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none"/>
          <a:p>
            <a:pPr algn="l"/>
            <a:r>
              <a:rPr b="0" sz="1800" i="0" lang="en-US" strike="noStrike">
                <a:solidFill>
                  <a:srgbClr val="5B8CB8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mAP50 73.4%</a:t>
            </a:r>
            <a:endParaRPr sz="1100"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AutoShape 2"/>
          <p:cNvSpPr/>
          <p:nvPr/>
        </p:nvSpPr>
        <p:spPr>
          <a:xfrm>
            <a:off x="0" y="0"/>
            <a:ext cx="12188952" cy="6858000"/>
          </a:xfrm>
          <a:prstGeom prst="rect"/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048654" name="TextBox 3"/>
          <p:cNvSpPr txBox="1"/>
          <p:nvPr/>
        </p:nvSpPr>
        <p:spPr>
          <a:xfrm>
            <a:off x="457086" y="476250"/>
            <a:ext cx="11274781" cy="133350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none"/>
          <a:p>
            <a:pPr algn="l"/>
            <a:r>
              <a:rPr b="0" sz="900" i="0" lang="en-US" strike="noStrike"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Baseline Evaluation</a:t>
            </a:r>
            <a:endParaRPr sz="1100" lang="en-US"/>
          </a:p>
        </p:txBody>
      </p:sp>
      <p:sp>
        <p:nvSpPr>
          <p:cNvPr id="1048655" name="TextBox 4"/>
          <p:cNvSpPr txBox="1"/>
          <p:nvPr/>
        </p:nvSpPr>
        <p:spPr>
          <a:xfrm>
            <a:off x="457086" y="762000"/>
            <a:ext cx="11274781" cy="419100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none"/>
          <a:p>
            <a:pPr algn="l"/>
            <a:r>
              <a:rPr b="1" sz="3000" i="0" lang="en-US" strike="noStrike"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DroneVehicle数据集单模态基线性能对比</a:t>
            </a:r>
            <a:endParaRPr sz="1100" lang="en-US"/>
          </a:p>
        </p:txBody>
      </p:sp>
      <p:sp>
        <p:nvSpPr>
          <p:cNvPr id="1048656" name="AutoShape 5"/>
          <p:cNvSpPr/>
          <p:nvPr/>
        </p:nvSpPr>
        <p:spPr>
          <a:xfrm>
            <a:off x="457086" y="1333500"/>
            <a:ext cx="9522" cy="649486"/>
          </a:xfrm>
          <a:prstGeom prst="line"/>
          <a:ln w="9525">
            <a:solidFill>
              <a:srgbClr val="5B8CB8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1048657" name="TextBox 6"/>
          <p:cNvSpPr txBox="1"/>
          <p:nvPr/>
        </p:nvSpPr>
        <p:spPr>
          <a:xfrm>
            <a:off x="580880" y="1371600"/>
            <a:ext cx="11608072" cy="562868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square"/>
          <a:p>
            <a:pPr algn="l"/>
            <a:r>
              <a:rPr b="0" sz="1600" i="1" lang="en-US" strike="noStrike">
                <a:solidFill>
                  <a:srgbClr val="0A1F3D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在DroneVehicle数据集上，红外单模态在Car类别上显著优于RGB（88.81% vs 78.45%），验证了热辐射线索的价值；而</a:t>
            </a:r>
            <a:endParaRPr sz="1100" lang="en-US"/>
          </a:p>
          <a:p>
            <a:pPr algn="l"/>
            <a:r>
              <a:rPr b="0" sz="1600" i="1" strike="noStrike">
                <a:solidFill>
                  <a:srgbClr val="0A1F3D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RGB在Bus等纹理丰富目标上更具优势，表明双模态具备明确的互补融合潜力。</a:t>
            </a:r>
            <a:endParaRPr b="0" sz="1600" i="1" strike="noStrike">
              <a:solidFill>
                <a:srgbClr val="0A1F3D">
                  <a:alpha val="78039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048658" name="AutoShape 7"/>
          <p:cNvSpPr/>
          <p:nvPr/>
        </p:nvSpPr>
        <p:spPr>
          <a:xfrm>
            <a:off x="457086" y="2154436"/>
            <a:ext cx="11274781" cy="4246364"/>
          </a:xfrm>
          <a:prstGeom prst="rect"/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48659" name="AutoShape 8"/>
          <p:cNvSpPr/>
          <p:nvPr/>
        </p:nvSpPr>
        <p:spPr>
          <a:xfrm>
            <a:off x="457086" y="2154436"/>
            <a:ext cx="11274781" cy="9525"/>
          </a:xfrm>
          <a:prstGeom prst="line"/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48660" name="TextBox 9"/>
          <p:cNvSpPr txBox="1"/>
          <p:nvPr/>
        </p:nvSpPr>
        <p:spPr>
          <a:xfrm>
            <a:off x="2377605" y="2373511"/>
            <a:ext cx="7433743" cy="247650"/>
          </a:xfrm>
          <a:prstGeom prst="rect"/>
          <a:ln>
            <a:headEnd type="none"/>
            <a:tailEnd type="none"/>
          </a:ln>
        </p:spPr>
        <p:txBody>
          <a:bodyPr anchor="ctr" anchorCtr="1" bIns="0" lIns="0" rIns="0" rtlCol="0" tIns="0" vert="horz" wrap="none"/>
          <a:p>
            <a:pPr algn="ctr"/>
            <a:r>
              <a:rPr b="1" sz="1500" i="0" lang="en-US" strike="noStrike"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DroneVehicle 验证集单模态基线性能 (mAP@50)</a:t>
            </a:r>
            <a:endParaRPr sz="1100" lang="en-US"/>
          </a:p>
        </p:txBody>
      </p:sp>
      <p:graphicFrame>
        <p:nvGraphicFramePr>
          <p:cNvPr id="4194304" name="Table 10"/>
          <p:cNvGraphicFramePr>
            <a:graphicFrameLocks noGrp="1"/>
          </p:cNvGraphicFramePr>
          <p:nvPr/>
        </p:nvGraphicFramePr>
        <p:xfrm>
          <a:off x="733242" y="3256062"/>
          <a:ext cx="10722469" cy="2143125"/>
        </p:xfrm>
        <a:graphic>
          <a:graphicData uri="http://schemas.openxmlformats.org/drawingml/2006/table">
            <a:tbl>
              <a:tblPr/>
              <a:tblGrid>
                <a:gridCol w="1600200"/>
                <a:gridCol w="2705100"/>
                <a:gridCol w="1143000"/>
                <a:gridCol w="1193800"/>
                <a:gridCol w="1143000"/>
                <a:gridCol w="1143000"/>
                <a:gridCol w="1739900"/>
              </a:tblGrid>
              <a:tr h="419100">
                <a:tc>
                  <a:txBody>
                    <a:bodyPr rot="0" wrap="square"/>
                    <a:p>
                      <a:pPr algn="ctr">
                        <a:defRPr b="1" sz="12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Alibaba PuHuiTi 3.0 55 Regular&quot;, sans-serif"/>
                          <a:ea typeface="&quot;Alibaba PuHuiTi 3.0 55 Regular&quot;, sans-serif"/>
                          <a:cs typeface="&quot;Alibaba PuHuiTi 3.0 55 Regular&quot;, sans-serif"/>
                        </a:defRPr>
                      </a:pPr>
                      <a:r>
                        <a:rPr b="1" sz="12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Alibaba PuHuiTi 3.0 55 Regular&quot;, sans-serif"/>
                          <a:ea typeface="&quot;Alibaba PuHuiTi 3.0 55 Regular&quot;, sans-serif"/>
                          <a:cs typeface="&quot;Alibaba PuHuiTi 3.0 55 Regular&quot;, sans-serif"/>
                        </a:rPr>
                        <a:t>模态</a:t>
                      </a:r>
                      <a:endParaRPr b="1" sz="120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&quot;Alibaba PuHuiTi 3.0 55 Regular&quot;, sans-serif"/>
                        <a:ea typeface="&quot;Alibaba PuHuiTi 3.0 55 Regular&quot;, sans-serif"/>
                        <a:cs typeface="&quot;Alibaba PuHuiTi 3.0 55 Regular&quot;, sans-serif"/>
                      </a:endParaRPr>
                    </a:p>
                  </a:txBody>
                  <a:tcPr marL="76200" marR="76200" marT="95250" marB="95250" anchor="ctr" anchorCtr="1" vert="horz"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b="1" sz="12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Alibaba PuHuiTi 3.0 55 Regular&quot;, sans-serif"/>
                          <a:ea typeface="&quot;Alibaba PuHuiTi 3.0 55 Regular&quot;, sans-serif"/>
                          <a:cs typeface="&quot;Alibaba PuHuiTi 3.0 55 Regular&quot;, sans-serif"/>
                        </a:defRPr>
                      </a:pPr>
                      <a:r>
                        <a:rPr b="1" sz="12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Alibaba PuHuiTi 3.0 55 Regular&quot;, sans-serif"/>
                          <a:ea typeface="&quot;Alibaba PuHuiTi 3.0 55 Regular&quot;, sans-serif"/>
                          <a:cs typeface="&quot;Alibaba PuHuiTi 3.0 55 Regular&quot;, sans-serif"/>
                        </a:rPr>
                        <a:t>检测方法</a:t>
                      </a:r>
                      <a:endParaRPr b="1" sz="120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&quot;Alibaba PuHuiTi 3.0 55 Regular&quot;, sans-serif"/>
                        <a:ea typeface="&quot;Alibaba PuHuiTi 3.0 55 Regular&quot;, sans-serif"/>
                        <a:cs typeface="&quot;Alibaba PuHuiTi 3.0 55 Regular&quot;, sans-serif"/>
                      </a:endParaRPr>
                    </a:p>
                  </a:txBody>
                  <a:tcPr marL="76200" marR="76200" marT="95250" marB="95250" anchor="ctr" anchorCtr="0" vert="horz"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ctr">
                        <a:defRPr b="1" sz="12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defRPr>
                      </a:pPr>
                      <a:r>
                        <a:rPr b="1" sz="12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rPr>
                        <a:t>Car</a:t>
                      </a:r>
                      <a:endParaRPr b="1" sz="120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Inter, sans-serif"/>
                        <a:ea typeface="Inter, sans-serif"/>
                        <a:cs typeface="Inter, sans-serif"/>
                      </a:endParaRPr>
                    </a:p>
                  </a:txBody>
                  <a:tcPr marL="76200" marR="76200" marT="95250" marB="95250" anchor="ctr" anchorCtr="1" vert="horz"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ctr">
                        <a:defRPr b="1" sz="12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defRPr>
                      </a:pPr>
                      <a:r>
                        <a:rPr b="1" sz="12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rPr>
                        <a:t>Truck</a:t>
                      </a:r>
                      <a:endParaRPr b="1" sz="120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Inter, sans-serif"/>
                        <a:ea typeface="Inter, sans-serif"/>
                        <a:cs typeface="Inter, sans-serif"/>
                      </a:endParaRPr>
                    </a:p>
                  </a:txBody>
                  <a:tcPr marL="76200" marR="76200" marT="95250" marB="95250" anchor="ctr" anchorCtr="1" vert="horz"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ctr">
                        <a:defRPr b="1" sz="12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defRPr>
                      </a:pPr>
                      <a:r>
                        <a:rPr b="1" sz="12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rPr>
                        <a:t>Bus</a:t>
                      </a:r>
                      <a:endParaRPr b="1" sz="120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Inter, sans-serif"/>
                        <a:ea typeface="Inter, sans-serif"/>
                        <a:cs typeface="Inter, sans-serif"/>
                      </a:endParaRPr>
                    </a:p>
                  </a:txBody>
                  <a:tcPr marL="76200" marR="76200" marT="95250" marB="95250" anchor="ctr" anchorCtr="1" vert="horz"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ctr">
                        <a:defRPr b="1" sz="12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defRPr>
                      </a:pPr>
                      <a:r>
                        <a:rPr b="1" sz="12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rPr>
                        <a:t>Van</a:t>
                      </a:r>
                      <a:endParaRPr b="1" sz="120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Inter, sans-serif"/>
                        <a:ea typeface="Inter, sans-serif"/>
                        <a:cs typeface="Inter, sans-serif"/>
                      </a:endParaRPr>
                    </a:p>
                  </a:txBody>
                  <a:tcPr marL="76200" marR="76200" marT="95250" marB="95250" anchor="ctr" anchorCtr="1" vert="horz"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ctr">
                        <a:defRPr b="1" sz="12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defRPr>
                      </a:pPr>
                      <a:r>
                        <a:rPr b="1" sz="12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rPr>
                        <a:t>mAP@50</a:t>
                      </a:r>
                      <a:endParaRPr b="1" sz="120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Inter, sans-serif"/>
                        <a:ea typeface="Inter, sans-serif"/>
                        <a:cs typeface="Inter, sans-serif"/>
                      </a:endParaRPr>
                    </a:p>
                  </a:txBody>
                  <a:tcPr marL="76200" marR="76200" marT="95250" marB="95250" anchor="ctr" anchorCtr="1" vert="horz"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</a:tr>
              <a:tr h="431800">
                <a:tc>
                  <a:txBody>
                    <a:bodyPr rot="0" wrap="square"/>
                    <a:p>
                      <a:pPr algn="ctr">
                        <a:defRPr b="0" sz="12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0" sz="12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RGB</a:t>
                      </a:r>
                      <a:endParaRPr b="0" sz="120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&quot;FZYaYiHei GB18030L2 R&quot;, sans-serif"/>
                        <a:ea typeface="&quot;FZYaYiHei GB18030L2 R&quot;, sans-serif"/>
                        <a:cs typeface="&quot;FZYaYiHei GB18030L2 R&quot;, sans-serif"/>
                      </a:endParaRPr>
                    </a:p>
                  </a:txBody>
                  <a:tcPr marL="76200" marR="76200" marT="95250" marB="95250" anchor="ctr" anchorCtr="1" vert="horz"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b="0" sz="12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0" sz="12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RetinaNet</a:t>
                      </a:r>
                      <a:endParaRPr b="0" sz="120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&quot;FZYaYiHei GB18030L2 R&quot;, sans-serif"/>
                        <a:ea typeface="&quot;FZYaYiHei GB18030L2 R&quot;, sans-serif"/>
                        <a:cs typeface="&quot;FZYaYiHei GB18030L2 R&quot;, sans-serif"/>
                      </a:endParaRPr>
                    </a:p>
                  </a:txBody>
                  <a:tcPr marL="76200" marR="76200" marT="95250" marB="95250" anchor="ctr" anchorCtr="0" vert="horz"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ctr">
                        <a:defRPr b="0" sz="12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defRPr>
                      </a:pPr>
                      <a:r>
                        <a:rPr b="0" sz="12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rPr>
                        <a:t>78.45</a:t>
                      </a:r>
                      <a:endParaRPr b="0" sz="120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Inter, sans-serif"/>
                        <a:ea typeface="Inter, sans-serif"/>
                        <a:cs typeface="Inter, sans-serif"/>
                      </a:endParaRPr>
                    </a:p>
                  </a:txBody>
                  <a:tcPr marL="76200" marR="76200" marT="95250" marB="95250" anchor="ctr" anchorCtr="1" vert="horz"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ctr">
                        <a:defRPr b="0" sz="12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defRPr>
                      </a:pPr>
                      <a:r>
                        <a:rPr b="0" sz="12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rPr>
                        <a:t>34.39</a:t>
                      </a:r>
                      <a:endParaRPr b="0" sz="120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Inter, sans-serif"/>
                        <a:ea typeface="Inter, sans-serif"/>
                        <a:cs typeface="Inter, sans-serif"/>
                      </a:endParaRPr>
                    </a:p>
                  </a:txBody>
                  <a:tcPr marL="76200" marR="76200" marT="95250" marB="95250" anchor="ctr" anchorCtr="1" vert="horz"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ctr">
                        <a:defRPr b="0" sz="12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defRPr>
                      </a:pPr>
                      <a:r>
                        <a:rPr b="0" sz="12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rPr>
                        <a:t>69.75</a:t>
                      </a:r>
                      <a:endParaRPr b="0" sz="120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Inter, sans-serif"/>
                        <a:ea typeface="Inter, sans-serif"/>
                        <a:cs typeface="Inter, sans-serif"/>
                      </a:endParaRPr>
                    </a:p>
                  </a:txBody>
                  <a:tcPr marL="76200" marR="76200" marT="95250" marB="95250" anchor="ctr" anchorCtr="1" vert="horz"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ctr">
                        <a:defRPr b="0" sz="12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defRPr>
                      </a:pPr>
                      <a:r>
                        <a:rPr b="0" sz="12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rPr>
                        <a:t>28.82</a:t>
                      </a:r>
                      <a:endParaRPr b="0" sz="120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Inter, sans-serif"/>
                        <a:ea typeface="Inter, sans-serif"/>
                        <a:cs typeface="Inter, sans-serif"/>
                      </a:endParaRPr>
                    </a:p>
                  </a:txBody>
                  <a:tcPr marL="76200" marR="76200" marT="95250" marB="95250" anchor="ctr" anchorCtr="1" vert="horz"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ctr">
                        <a:defRPr b="1" sz="12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defRPr>
                      </a:pPr>
                      <a:r>
                        <a:rPr b="1" sz="12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rPr>
                        <a:t>47.11</a:t>
                      </a:r>
                      <a:endParaRPr b="1" sz="120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Inter, sans-serif"/>
                        <a:ea typeface="Inter, sans-serif"/>
                        <a:cs typeface="Inter, sans-serif"/>
                      </a:endParaRPr>
                    </a:p>
                  </a:txBody>
                  <a:tcPr marL="76200" marR="76200" marT="95250" marB="95250" anchor="ctr" anchorCtr="1" vert="horz"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</a:tr>
              <a:tr h="419100">
                <a:tc>
                  <a:txBody>
                    <a:bodyPr rot="0" wrap="square"/>
                    <a:p>
                      <a:pPr algn="ctr">
                        <a:defRPr b="0" sz="12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0" sz="12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RGB</a:t>
                      </a:r>
                      <a:endParaRPr b="0" sz="120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&quot;FZYaYiHei GB18030L2 R&quot;, sans-serif"/>
                        <a:ea typeface="&quot;FZYaYiHei GB18030L2 R&quot;, sans-serif"/>
                        <a:cs typeface="&quot;FZYaYiHei GB18030L2 R&quot;, sans-serif"/>
                      </a:endParaRPr>
                    </a:p>
                  </a:txBody>
                  <a:tcPr marL="76200" marR="76200" marT="95250" marB="95250" anchor="ctr" anchorCtr="1" vert="horz"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b="0" sz="12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0" sz="12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Oriented R-CNN</a:t>
                      </a:r>
                      <a:endParaRPr b="0" sz="120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&quot;FZYaYiHei GB18030L2 R&quot;, sans-serif"/>
                        <a:ea typeface="&quot;FZYaYiHei GB18030L2 R&quot;, sans-serif"/>
                        <a:cs typeface="&quot;FZYaYiHei GB18030L2 R&quot;, sans-serif"/>
                      </a:endParaRPr>
                    </a:p>
                  </a:txBody>
                  <a:tcPr marL="76200" marR="76200" marT="95250" marB="95250" anchor="ctr" anchorCtr="0" vert="horz"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ctr">
                        <a:defRPr b="0" sz="12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defRPr>
                      </a:pPr>
                      <a:r>
                        <a:rPr b="0" sz="12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rPr>
                        <a:t>80.26</a:t>
                      </a:r>
                      <a:endParaRPr b="0" sz="120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Inter, sans-serif"/>
                        <a:ea typeface="Inter, sans-serif"/>
                        <a:cs typeface="Inter, sans-serif"/>
                      </a:endParaRPr>
                    </a:p>
                  </a:txBody>
                  <a:tcPr marL="76200" marR="76200" marT="95250" marB="95250" anchor="ctr" anchorCtr="1" vert="horz"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ctr">
                        <a:defRPr b="0" sz="12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defRPr>
                      </a:pPr>
                      <a:r>
                        <a:rPr b="0" sz="12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rPr>
                        <a:t>55.39</a:t>
                      </a:r>
                      <a:endParaRPr b="0" sz="120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Inter, sans-serif"/>
                        <a:ea typeface="Inter, sans-serif"/>
                        <a:cs typeface="Inter, sans-serif"/>
                      </a:endParaRPr>
                    </a:p>
                  </a:txBody>
                  <a:tcPr marL="76200" marR="76200" marT="95250" marB="95250" anchor="ctr" anchorCtr="1" vert="horz"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ctr">
                        <a:defRPr b="0" sz="12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defRPr>
                      </a:pPr>
                      <a:r>
                        <a:rPr b="0" sz="12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rPr>
                        <a:t>86.84</a:t>
                      </a:r>
                      <a:endParaRPr b="0" sz="120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Inter, sans-serif"/>
                        <a:ea typeface="Inter, sans-serif"/>
                        <a:cs typeface="Inter, sans-serif"/>
                      </a:endParaRPr>
                    </a:p>
                  </a:txBody>
                  <a:tcPr marL="76200" marR="76200" marT="95250" marB="95250" anchor="ctr" anchorCtr="1" vert="horz"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ctr">
                        <a:defRPr b="0" sz="12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defRPr>
                      </a:pPr>
                      <a:r>
                        <a:rPr b="0" sz="12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rPr>
                        <a:t>46.92</a:t>
                      </a:r>
                      <a:endParaRPr b="0" sz="120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Inter, sans-serif"/>
                        <a:ea typeface="Inter, sans-serif"/>
                        <a:cs typeface="Inter, sans-serif"/>
                      </a:endParaRPr>
                    </a:p>
                  </a:txBody>
                  <a:tcPr marL="76200" marR="76200" marT="95250" marB="95250" anchor="ctr" anchorCtr="1" vert="horz"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ctr">
                        <a:defRPr b="1" sz="12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defRPr>
                      </a:pPr>
                      <a:r>
                        <a:rPr b="1" sz="12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rPr>
                        <a:t>62.30</a:t>
                      </a:r>
                      <a:endParaRPr b="1" sz="120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Inter, sans-serif"/>
                        <a:ea typeface="Inter, sans-serif"/>
                        <a:cs typeface="Inter, sans-serif"/>
                      </a:endParaRPr>
                    </a:p>
                  </a:txBody>
                  <a:tcPr marL="76200" marR="76200" marT="95250" marB="95250" anchor="ctr" anchorCtr="1" vert="horz"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</a:tr>
              <a:tr h="419100">
                <a:tc>
                  <a:txBody>
                    <a:bodyPr rot="0" wrap="square"/>
                    <a:p>
                      <a:pPr algn="ctr">
                        <a:defRPr b="1" sz="1200" i="0" strike="noStrike">
                          <a:solidFill>
                            <a:srgbClr val="5B8CB8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1" sz="1200" i="0" strike="noStrike">
                          <a:solidFill>
                            <a:srgbClr val="5B8CB8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IR (红外)</a:t>
                      </a:r>
                      <a:endParaRPr b="1" sz="1200" i="0" strike="noStrike">
                        <a:solidFill>
                          <a:srgbClr val="5B8CB8">
                            <a:alpha val="100000"/>
                          </a:srgbClr>
                        </a:solidFill>
                        <a:latin typeface="&quot;FZYaYiHei GB18030L2 R&quot;, sans-serif"/>
                        <a:ea typeface="&quot;FZYaYiHei GB18030L2 R&quot;, sans-serif"/>
                        <a:cs typeface="&quot;FZYaYiHei GB18030L2 R&quot;, sans-serif"/>
                      </a:endParaRPr>
                    </a:p>
                  </a:txBody>
                  <a:tcPr marL="76200" marR="76200" marT="95250" marB="95250" anchor="ctr" anchorCtr="1" vert="horz"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b="0" sz="12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0" sz="12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RetinaNet</a:t>
                      </a:r>
                      <a:endParaRPr b="0" sz="120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&quot;FZYaYiHei GB18030L2 R&quot;, sans-serif"/>
                        <a:ea typeface="&quot;FZYaYiHei GB18030L2 R&quot;, sans-serif"/>
                        <a:cs typeface="&quot;FZYaYiHei GB18030L2 R&quot;, sans-serif"/>
                      </a:endParaRPr>
                    </a:p>
                  </a:txBody>
                  <a:tcPr marL="76200" marR="76200" marT="95250" marB="95250" anchor="ctr" anchorCtr="0" vert="horz"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ctr">
                        <a:defRPr b="1" sz="1200" i="0" strike="noStrike">
                          <a:solidFill>
                            <a:srgbClr val="5B8CB8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defRPr>
                      </a:pPr>
                      <a:r>
                        <a:rPr b="1" sz="1200" i="0" strike="noStrike">
                          <a:solidFill>
                            <a:srgbClr val="5B8CB8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rPr>
                        <a:t>88.81</a:t>
                      </a:r>
                      <a:endParaRPr b="1" sz="1200" i="0" strike="noStrike">
                        <a:solidFill>
                          <a:srgbClr val="5B8CB8">
                            <a:alpha val="100000"/>
                          </a:srgbClr>
                        </a:solidFill>
                        <a:latin typeface="Inter, sans-serif"/>
                        <a:ea typeface="Inter, sans-serif"/>
                        <a:cs typeface="Inter, sans-serif"/>
                      </a:endParaRPr>
                    </a:p>
                  </a:txBody>
                  <a:tcPr marL="76200" marR="76200" marT="95250" marB="95250" anchor="ctr" anchorCtr="1" vert="horz"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ctr">
                        <a:defRPr b="0" sz="12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defRPr>
                      </a:pPr>
                      <a:r>
                        <a:rPr b="0" sz="12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rPr>
                        <a:t>35.43</a:t>
                      </a:r>
                      <a:endParaRPr b="0" sz="120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Inter, sans-serif"/>
                        <a:ea typeface="Inter, sans-serif"/>
                        <a:cs typeface="Inter, sans-serif"/>
                      </a:endParaRPr>
                    </a:p>
                  </a:txBody>
                  <a:tcPr marL="76200" marR="76200" marT="95250" marB="95250" anchor="ctr" anchorCtr="1" vert="horz"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ctr">
                        <a:defRPr b="0" sz="12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defRPr>
                      </a:pPr>
                      <a:r>
                        <a:rPr b="0" sz="12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rPr>
                        <a:t>76.45</a:t>
                      </a:r>
                      <a:endParaRPr b="0" sz="120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Inter, sans-serif"/>
                        <a:ea typeface="Inter, sans-serif"/>
                        <a:cs typeface="Inter, sans-serif"/>
                      </a:endParaRPr>
                    </a:p>
                  </a:txBody>
                  <a:tcPr marL="76200" marR="76200" marT="95250" marB="95250" anchor="ctr" anchorCtr="1" vert="horz"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ctr">
                        <a:defRPr b="0" sz="12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defRPr>
                      </a:pPr>
                      <a:r>
                        <a:rPr b="0" sz="12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rPr>
                        <a:t>32.12</a:t>
                      </a:r>
                      <a:endParaRPr b="0" sz="120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Inter, sans-serif"/>
                        <a:ea typeface="Inter, sans-serif"/>
                        <a:cs typeface="Inter, sans-serif"/>
                      </a:endParaRPr>
                    </a:p>
                  </a:txBody>
                  <a:tcPr marL="76200" marR="76200" marT="95250" marB="95250" anchor="ctr" anchorCtr="1" vert="horz"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ctr">
                        <a:defRPr b="1" sz="12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defRPr>
                      </a:pPr>
                      <a:r>
                        <a:rPr b="1" sz="12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rPr>
                        <a:t>54.45</a:t>
                      </a:r>
                      <a:endParaRPr b="1" sz="120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Inter, sans-serif"/>
                        <a:ea typeface="Inter, sans-serif"/>
                        <a:cs typeface="Inter, sans-serif"/>
                      </a:endParaRPr>
                    </a:p>
                  </a:txBody>
                  <a:tcPr marL="76200" marR="76200" marT="95250" marB="95250" anchor="ctr" anchorCtr="1" vert="horz"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</a:tr>
              <a:tr h="419100">
                <a:tc>
                  <a:txBody>
                    <a:bodyPr rot="0" wrap="square"/>
                    <a:p>
                      <a:pPr algn="ctr">
                        <a:defRPr b="1" sz="1200" i="0" strike="noStrike">
                          <a:solidFill>
                            <a:srgbClr val="5B8CB8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1" sz="1200" i="0" strike="noStrike">
                          <a:solidFill>
                            <a:srgbClr val="5B8CB8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IR (红外)</a:t>
                      </a:r>
                      <a:endParaRPr b="1" sz="1200" i="0" strike="noStrike">
                        <a:solidFill>
                          <a:srgbClr val="5B8CB8">
                            <a:alpha val="100000"/>
                          </a:srgbClr>
                        </a:solidFill>
                        <a:latin typeface="&quot;FZYaYiHei GB18030L2 R&quot;, sans-serif"/>
                        <a:ea typeface="&quot;FZYaYiHei GB18030L2 R&quot;, sans-serif"/>
                        <a:cs typeface="&quot;FZYaYiHei GB18030L2 R&quot;, sans-serif"/>
                      </a:endParaRPr>
                    </a:p>
                  </a:txBody>
                  <a:tcPr marL="76200" marR="76200" marT="95250" marB="95250" anchor="ctr" anchorCtr="1" vert="horz"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b="0" sz="12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0" sz="12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Oriented R-CNN</a:t>
                      </a:r>
                      <a:endParaRPr b="0" sz="120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&quot;FZYaYiHei GB18030L2 R&quot;, sans-serif"/>
                        <a:ea typeface="&quot;FZYaYiHei GB18030L2 R&quot;, sans-serif"/>
                        <a:cs typeface="&quot;FZYaYiHei GB18030L2 R&quot;, sans-serif"/>
                      </a:endParaRPr>
                    </a:p>
                  </a:txBody>
                  <a:tcPr marL="76200" marR="76200" marT="95250" marB="95250" anchor="ctr" anchorCtr="0" vert="horz"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ctr">
                        <a:defRPr b="1" sz="12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defRPr>
                      </a:pPr>
                      <a:r>
                        <a:rPr b="1" sz="12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rPr>
                        <a:t>89.63</a:t>
                      </a:r>
                      <a:endParaRPr b="1" sz="120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Inter, sans-serif"/>
                        <a:ea typeface="Inter, sans-serif"/>
                        <a:cs typeface="Inter, sans-serif"/>
                      </a:endParaRPr>
                    </a:p>
                  </a:txBody>
                  <a:tcPr marL="76200" marR="76200" marT="95250" marB="95250" anchor="ctr" anchorCtr="1" vert="horz"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ctr">
                        <a:defRPr b="0" sz="12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defRPr>
                      </a:pPr>
                      <a:r>
                        <a:rPr b="0" sz="12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rPr>
                        <a:t>53.92</a:t>
                      </a:r>
                      <a:endParaRPr b="0" sz="120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Inter, sans-serif"/>
                        <a:ea typeface="Inter, sans-serif"/>
                        <a:cs typeface="Inter, sans-serif"/>
                      </a:endParaRPr>
                    </a:p>
                  </a:txBody>
                  <a:tcPr marL="76200" marR="76200" marT="95250" marB="95250" anchor="ctr" anchorCtr="1" vert="horz"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ctr">
                        <a:defRPr b="1" sz="1200" i="0" strike="noStrike">
                          <a:solidFill>
                            <a:srgbClr val="5B8CB8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defRPr>
                      </a:pPr>
                      <a:r>
                        <a:rPr b="1" sz="1200" i="0" strike="noStrike">
                          <a:solidFill>
                            <a:srgbClr val="5B8CB8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rPr>
                        <a:t>89.15</a:t>
                      </a:r>
                      <a:endParaRPr b="1" sz="1200" i="0" strike="noStrike">
                        <a:solidFill>
                          <a:srgbClr val="5B8CB8">
                            <a:alpha val="100000"/>
                          </a:srgbClr>
                        </a:solidFill>
                        <a:latin typeface="Inter, sans-serif"/>
                        <a:ea typeface="Inter, sans-serif"/>
                        <a:cs typeface="Inter, sans-serif"/>
                      </a:endParaRPr>
                    </a:p>
                  </a:txBody>
                  <a:tcPr marL="76200" marR="76200" marT="95250" marB="95250" anchor="ctr" anchorCtr="1" vert="horz"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ctr">
                        <a:defRPr b="0" sz="12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defRPr>
                      </a:pPr>
                      <a:r>
                        <a:rPr b="0" sz="12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rPr>
                        <a:t>40.95</a:t>
                      </a:r>
                      <a:endParaRPr b="0" sz="120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Inter, sans-serif"/>
                        <a:ea typeface="Inter, sans-serif"/>
                        <a:cs typeface="Inter, sans-serif"/>
                      </a:endParaRPr>
                    </a:p>
                  </a:txBody>
                  <a:tcPr marL="76200" marR="76200" marT="95250" marB="95250" anchor="ctr" anchorCtr="1" vert="horz"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ctr">
                        <a:defRPr b="1" sz="1200" i="0" strike="noStrike">
                          <a:solidFill>
                            <a:srgbClr val="5B8CB8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defRPr>
                      </a:pPr>
                      <a:r>
                        <a:rPr b="1" sz="1200" i="0" strike="noStrike">
                          <a:solidFill>
                            <a:srgbClr val="5B8CB8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rPr>
                        <a:t>65.50</a:t>
                      </a:r>
                      <a:endParaRPr b="1" sz="1200" i="0" strike="noStrike">
                        <a:solidFill>
                          <a:srgbClr val="5B8CB8">
                            <a:alpha val="100000"/>
                          </a:srgbClr>
                        </a:solidFill>
                        <a:latin typeface="Inter, sans-serif"/>
                        <a:ea typeface="Inter, sans-serif"/>
                        <a:cs typeface="Inter, sans-serif"/>
                      </a:endParaRPr>
                    </a:p>
                  </a:txBody>
                  <a:tcPr marL="76200" marR="76200" marT="95250" marB="95250" anchor="ctr" anchorCtr="1" vert="horz">
                    <a:lnL w="25400">
                      <a:solidFill>
                        <a:srgbClr val="C5CDD6">
                          <a:alpha val="100000"/>
                        </a:srgbClr>
                      </a:solidFill>
                    </a:lnL>
                    <a:lnR w="25400">
                      <a:solidFill>
                        <a:srgbClr val="C5CDD6">
                          <a:alpha val="100000"/>
                        </a:srgbClr>
                      </a:solidFill>
                    </a:lnR>
                    <a:lnT w="25400">
                      <a:solidFill>
                        <a:srgbClr val="C5CDD6">
                          <a:alpha val="100000"/>
                        </a:srgbClr>
                      </a:solidFill>
                    </a:lnT>
                    <a:lnB w="25400">
                      <a:solidFill>
                        <a:srgbClr val="C5CDD6">
                          <a:alpha val="100000"/>
                        </a:srgbClr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48661" name="TextBox 11"/>
          <p:cNvSpPr txBox="1"/>
          <p:nvPr/>
        </p:nvSpPr>
        <p:spPr>
          <a:xfrm>
            <a:off x="2377009" y="6015038"/>
            <a:ext cx="7434933" cy="185738"/>
          </a:xfrm>
          <a:prstGeom prst="rect"/>
          <a:ln>
            <a:headEnd type="none"/>
            <a:tailEnd type="none"/>
          </a:ln>
        </p:spPr>
        <p:txBody>
          <a:bodyPr anchor="ctr" anchorCtr="1" bIns="0" lIns="0" rIns="0" rtlCol="0" tIns="0" vert="horz" wrap="none"/>
          <a:p>
            <a:pPr algn="ctr"/>
            <a:r>
              <a:rPr b="0" sz="900" i="0" lang="en-US" strike="noStrike">
                <a:solidFill>
                  <a:srgbClr val="0A1F3D">
                    <a:alpha val="54901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红外模态在Car类别优势显著，RGB在Bus类别表现更优，两者具备强互补性</a:t>
            </a:r>
            <a:endParaRPr sz="1100"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8" name="AutoShape 2"/>
          <p:cNvSpPr/>
          <p:nvPr/>
        </p:nvSpPr>
        <p:spPr>
          <a:xfrm>
            <a:off x="0" y="0"/>
            <a:ext cx="12188952" cy="6858000"/>
          </a:xfrm>
          <a:prstGeom prst="rect"/>
          <a:solidFill>
            <a:srgbClr val="E0E0E0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048669" name="AutoShape 3"/>
          <p:cNvSpPr/>
          <p:nvPr/>
        </p:nvSpPr>
        <p:spPr>
          <a:xfrm>
            <a:off x="0" y="0"/>
            <a:ext cx="12188952" cy="6858000"/>
          </a:xfrm>
          <a:prstGeom prst="rect"/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048670" name="TextBox 4"/>
          <p:cNvSpPr txBox="1"/>
          <p:nvPr/>
        </p:nvSpPr>
        <p:spPr>
          <a:xfrm>
            <a:off x="457086" y="476250"/>
            <a:ext cx="11274781" cy="133350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none"/>
          <a:p>
            <a:pPr algn="l"/>
            <a:r>
              <a:rPr b="0" sz="900" i="0" lang="en-US" strike="noStrike">
                <a:solidFill>
                  <a:srgbClr val="0A1F3D">
                    <a:alpha val="54901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FAILURE MODES</a:t>
            </a:r>
            <a:endParaRPr sz="1100" lang="en-US"/>
          </a:p>
        </p:txBody>
      </p:sp>
      <p:sp>
        <p:nvSpPr>
          <p:cNvPr id="1048671" name="TextBox 5"/>
          <p:cNvSpPr txBox="1"/>
          <p:nvPr/>
        </p:nvSpPr>
        <p:spPr>
          <a:xfrm>
            <a:off x="457086" y="742950"/>
            <a:ext cx="11274781" cy="419100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none"/>
          <a:p>
            <a:pPr algn="l"/>
            <a:r>
              <a:rPr b="1" sz="3000" i="0" lang="en-US" strike="noStrike"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单模态模型在无人机场景的系统性失效</a:t>
            </a:r>
            <a:endParaRPr sz="1100" lang="en-US"/>
          </a:p>
        </p:txBody>
      </p:sp>
      <p:sp>
        <p:nvSpPr>
          <p:cNvPr id="1048672" name="AutoShape 6"/>
          <p:cNvSpPr/>
          <p:nvPr/>
        </p:nvSpPr>
        <p:spPr>
          <a:xfrm>
            <a:off x="457086" y="1333500"/>
            <a:ext cx="9522" cy="649486"/>
          </a:xfrm>
          <a:prstGeom prst="line"/>
          <a:ln w="9525">
            <a:solidFill>
              <a:srgbClr val="5B8CB8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1048673" name="TextBox 7"/>
          <p:cNvSpPr txBox="1"/>
          <p:nvPr/>
        </p:nvSpPr>
        <p:spPr>
          <a:xfrm>
            <a:off x="580880" y="1371600"/>
            <a:ext cx="11608072" cy="562868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square"/>
          <a:p>
            <a:pPr algn="l"/>
            <a:r>
              <a:rPr b="0" sz="1600" i="1" lang="en-US" strike="noStrike">
                <a:solidFill>
                  <a:srgbClr val="0A1F3D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单一模态模型在无人机复杂场景中面临三类核心失效模式，这些物理与信息层面的局限性导致模型在极端工况下鲁棒性骤</a:t>
            </a:r>
            <a:endParaRPr sz="1100" lang="en-US"/>
          </a:p>
          <a:p>
            <a:pPr algn="l"/>
            <a:r>
              <a:rPr b="0" sz="1600" i="1" strike="noStrike">
                <a:solidFill>
                  <a:srgbClr val="0A1F3D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降，构成了引入多模态融合与专项优化的直接动机。</a:t>
            </a:r>
            <a:endParaRPr b="0" sz="1600" i="1" strike="noStrike">
              <a:solidFill>
                <a:srgbClr val="0A1F3D">
                  <a:alpha val="78039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pic>
        <p:nvPicPr>
          <p:cNvPr id="2097153" name="Picture 8"/>
          <p:cNvPicPr>
            <a:picLocks noChangeAspect="1"/>
          </p:cNvPicPr>
          <p:nvPr/>
        </p:nvPicPr>
        <p:blipFill>
          <a:blip xmlns:r="http://schemas.openxmlformats.org/officeDocument/2006/relationships" r:embed="rId1">
            <a:alphaModFix amt="100000"/>
          </a:blip>
          <a:srcRect/>
          <a:stretch>
            <a:fillRect/>
          </a:stretch>
        </p:blipFill>
        <p:spPr>
          <a:xfrm>
            <a:off x="457086" y="2439293"/>
            <a:ext cx="4570857" cy="3429000"/>
          </a:xfrm>
          <a:prstGeom prst="rect"/>
          <a:ln>
            <a:headEnd type="none"/>
            <a:tailEnd type="none"/>
          </a:ln>
        </p:spPr>
      </p:pic>
      <p:sp>
        <p:nvSpPr>
          <p:cNvPr id="1048674" name="TextBox 9"/>
          <p:cNvSpPr txBox="1"/>
          <p:nvPr/>
        </p:nvSpPr>
        <p:spPr>
          <a:xfrm>
            <a:off x="457086" y="5963543"/>
            <a:ext cx="4570857" cy="133350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none"/>
          <a:p>
            <a:pPr algn="l"/>
            <a:r>
              <a:rPr b="0" sz="900" i="0" lang="en-US" strike="noStrike"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无人机高空视角下的密集车辆遮挡场景</a:t>
            </a:r>
            <a:endParaRPr sz="1100" lang="en-US"/>
          </a:p>
        </p:txBody>
      </p:sp>
      <p:sp>
        <p:nvSpPr>
          <p:cNvPr id="1048675" name="TextBox 10"/>
          <p:cNvSpPr txBox="1"/>
          <p:nvPr/>
        </p:nvSpPr>
        <p:spPr>
          <a:xfrm>
            <a:off x="5504073" y="2601218"/>
            <a:ext cx="166348" cy="142875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none"/>
          <a:p>
            <a:pPr algn="l"/>
            <a:r>
              <a:rPr b="0" sz="900" i="0" lang="en-US" strike="noStrike">
                <a:solidFill>
                  <a:srgbClr val="0A1F3D">
                    <a:alpha val="45098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01</a:t>
            </a:r>
            <a:endParaRPr sz="1100" lang="en-US"/>
          </a:p>
        </p:txBody>
      </p:sp>
      <p:sp>
        <p:nvSpPr>
          <p:cNvPr id="1048676" name="TextBox 11"/>
          <p:cNvSpPr txBox="1"/>
          <p:nvPr/>
        </p:nvSpPr>
        <p:spPr>
          <a:xfrm>
            <a:off x="5775170" y="2610743"/>
            <a:ext cx="5785288" cy="413296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square"/>
          <a:p>
            <a:pPr algn="l"/>
            <a:r>
              <a:rPr b="1" sz="1200" i="0" lang="en-US" strike="noStrike">
                <a:solidFill>
                  <a:srgbClr val="0A1F3D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高空小目标失效：</a:t>
            </a:r>
            <a:r>
              <a:rPr b="0" sz="1200" i="0" strike="noStrike">
                <a:solidFill>
                  <a:srgbClr val="0A1F3D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车辆像素占比极低，连续下采样后纹理和边缘特征快速消失，导致</a:t>
            </a:r>
            <a:endParaRPr sz="1100" lang="en-US"/>
          </a:p>
          <a:p>
            <a:pPr algn="l"/>
            <a:r>
              <a:rPr b="0" sz="1200" i="0" strike="noStrike">
                <a:solidFill>
                  <a:srgbClr val="0A1F3D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单模态空间信息不足以支撑精确判别</a:t>
            </a:r>
            <a:endParaRPr b="0" sz="1200" i="0" strike="noStrike">
              <a:solidFill>
                <a:srgbClr val="0A1F3D">
                  <a:alpha val="85098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048677" name="TextBox 12"/>
          <p:cNvSpPr txBox="1"/>
          <p:nvPr/>
        </p:nvSpPr>
        <p:spPr>
          <a:xfrm>
            <a:off x="5504073" y="4054822"/>
            <a:ext cx="166348" cy="142875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none"/>
          <a:p>
            <a:pPr algn="l"/>
            <a:r>
              <a:rPr b="0" sz="900" i="0" lang="en-US" strike="noStrike">
                <a:solidFill>
                  <a:srgbClr val="0A1F3D">
                    <a:alpha val="45098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02</a:t>
            </a:r>
            <a:endParaRPr sz="1100" lang="en-US"/>
          </a:p>
        </p:txBody>
      </p:sp>
      <p:sp>
        <p:nvSpPr>
          <p:cNvPr id="1048678" name="TextBox 13"/>
          <p:cNvSpPr txBox="1"/>
          <p:nvPr/>
        </p:nvSpPr>
        <p:spPr>
          <a:xfrm>
            <a:off x="5775170" y="4064347"/>
            <a:ext cx="5785288" cy="413296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square"/>
          <a:p>
            <a:pPr algn="l"/>
            <a:r>
              <a:rPr b="1" sz="1200" i="0" lang="en-US" strike="noStrike">
                <a:solidFill>
                  <a:srgbClr val="0A1F3D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夜间低可见度受限：</a:t>
            </a:r>
            <a:r>
              <a:rPr b="0" sz="1200" i="0" strike="noStrike">
                <a:solidFill>
                  <a:srgbClr val="0A1F3D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RGB 受环境照度影响严重，热红外虽能提供热辐射线索但缺乏纹</a:t>
            </a:r>
            <a:endParaRPr sz="1100" lang="en-US"/>
          </a:p>
          <a:p>
            <a:pPr algn="l"/>
            <a:r>
              <a:rPr b="0" sz="1200" i="0" strike="noStrike">
                <a:solidFill>
                  <a:srgbClr val="0A1F3D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理细节，单一模态无法实现全天候稳定检测</a:t>
            </a:r>
            <a:endParaRPr b="0" sz="1200" i="0" strike="noStrike">
              <a:solidFill>
                <a:srgbClr val="0A1F3D">
                  <a:alpha val="85098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048679" name="TextBox 14"/>
          <p:cNvSpPr txBox="1"/>
          <p:nvPr/>
        </p:nvSpPr>
        <p:spPr>
          <a:xfrm>
            <a:off x="5504073" y="5508427"/>
            <a:ext cx="166348" cy="142875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none"/>
          <a:p>
            <a:pPr algn="l"/>
            <a:r>
              <a:rPr b="0" sz="900" i="0" lang="en-US" strike="noStrike">
                <a:solidFill>
                  <a:srgbClr val="0A1F3D">
                    <a:alpha val="45098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03</a:t>
            </a:r>
            <a:endParaRPr sz="1100" lang="en-US"/>
          </a:p>
        </p:txBody>
      </p:sp>
      <p:sp>
        <p:nvSpPr>
          <p:cNvPr id="1048680" name="TextBox 15"/>
          <p:cNvSpPr txBox="1"/>
          <p:nvPr/>
        </p:nvSpPr>
        <p:spPr>
          <a:xfrm>
            <a:off x="5775170" y="5517952"/>
            <a:ext cx="5785288" cy="413296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square"/>
          <a:p>
            <a:pPr algn="l"/>
            <a:r>
              <a:rPr b="1" sz="1200" i="0" lang="en-US" strike="noStrike">
                <a:solidFill>
                  <a:srgbClr val="0A1F3D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密集遮挡判别困难：</a:t>
            </a:r>
            <a:r>
              <a:rPr b="0" sz="1200" i="0" strike="noStrike">
                <a:solidFill>
                  <a:srgbClr val="0A1F3D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拥堵路段目标相互覆盖，单模态特征在重叠区域极易发生混淆，</a:t>
            </a:r>
            <a:endParaRPr sz="1100" lang="en-US"/>
          </a:p>
          <a:p>
            <a:pPr algn="l"/>
            <a:r>
              <a:rPr b="0" sz="1200" i="0" strike="noStrike">
                <a:solidFill>
                  <a:srgbClr val="0A1F3D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导致严重的漏检与重复框问题</a:t>
            </a:r>
            <a:endParaRPr b="0" sz="1200" i="0" strike="noStrike">
              <a:solidFill>
                <a:srgbClr val="0A1F3D">
                  <a:alpha val="85098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7" name="AutoShape 2"/>
          <p:cNvSpPr/>
          <p:nvPr/>
        </p:nvSpPr>
        <p:spPr>
          <a:xfrm>
            <a:off x="0" y="0"/>
            <a:ext cx="12188952" cy="6858000"/>
          </a:xfrm>
          <a:prstGeom prst="rect"/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048688" name="TextBox 3"/>
          <p:cNvSpPr txBox="1"/>
          <p:nvPr/>
        </p:nvSpPr>
        <p:spPr>
          <a:xfrm>
            <a:off x="457086" y="476250"/>
            <a:ext cx="11274781" cy="133350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none"/>
          <a:p>
            <a:pPr algn="l"/>
            <a:r>
              <a:rPr b="0" sz="900" i="0" lang="en-US" strike="noStrike">
                <a:solidFill>
                  <a:srgbClr val="0A1F3D">
                    <a:alpha val="54901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MULTIMODAL FUSION</a:t>
            </a:r>
            <a:endParaRPr sz="1100" lang="en-US"/>
          </a:p>
        </p:txBody>
      </p:sp>
      <p:sp>
        <p:nvSpPr>
          <p:cNvPr id="1048689" name="TextBox 4"/>
          <p:cNvSpPr txBox="1"/>
          <p:nvPr/>
        </p:nvSpPr>
        <p:spPr>
          <a:xfrm>
            <a:off x="457086" y="742950"/>
            <a:ext cx="11274781" cy="419100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none"/>
          <a:p>
            <a:pPr algn="l"/>
            <a:r>
              <a:rPr b="1" sz="3000" i="0" lang="en-US" strike="noStrike"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多模态融合策略对比与性能跃迁</a:t>
            </a:r>
            <a:endParaRPr sz="1100" lang="en-US"/>
          </a:p>
        </p:txBody>
      </p:sp>
      <p:sp>
        <p:nvSpPr>
          <p:cNvPr id="1048690" name="AutoShape 5"/>
          <p:cNvSpPr/>
          <p:nvPr/>
        </p:nvSpPr>
        <p:spPr>
          <a:xfrm>
            <a:off x="457086" y="1314450"/>
            <a:ext cx="9522" cy="649486"/>
          </a:xfrm>
          <a:prstGeom prst="line"/>
          <a:ln w="9525">
            <a:solidFill>
              <a:srgbClr val="5B8CB8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1048691" name="TextBox 6"/>
          <p:cNvSpPr txBox="1"/>
          <p:nvPr/>
        </p:nvSpPr>
        <p:spPr>
          <a:xfrm>
            <a:off x="580880" y="1352550"/>
            <a:ext cx="11608072" cy="562868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square"/>
          <a:p>
            <a:pPr algn="l"/>
            <a:r>
              <a:rPr b="0" sz="1600" i="1" lang="en-US" strike="noStrike">
                <a:solidFill>
                  <a:srgbClr val="0A1F3D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中期特征融合是当前主流方案，但简单拼接易造成跨模态污染。融合方法相对单模态基线提升显著，从65.50%跃升至</a:t>
            </a:r>
            <a:endParaRPr sz="1100" lang="en-US"/>
          </a:p>
          <a:p>
            <a:pPr algn="l"/>
            <a:r>
              <a:rPr b="0" sz="1600" i="1" strike="noStrike">
                <a:solidFill>
                  <a:srgbClr val="0A1F3D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73.90%。</a:t>
            </a:r>
            <a:endParaRPr b="0" sz="1600" i="1" strike="noStrike">
              <a:solidFill>
                <a:srgbClr val="0A1F3D">
                  <a:alpha val="78039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048692" name="AutoShape 7"/>
          <p:cNvSpPr/>
          <p:nvPr/>
        </p:nvSpPr>
        <p:spPr>
          <a:xfrm>
            <a:off x="457086" y="2135386"/>
            <a:ext cx="4542290" cy="4265414"/>
          </a:xfrm>
          <a:prstGeom prst="rect"/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48693" name="AutoShape 8"/>
          <p:cNvSpPr/>
          <p:nvPr/>
        </p:nvSpPr>
        <p:spPr>
          <a:xfrm>
            <a:off x="457086" y="2135386"/>
            <a:ext cx="4542290" cy="9525"/>
          </a:xfrm>
          <a:prstGeom prst="line"/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48694" name="TextBox 9"/>
          <p:cNvSpPr txBox="1"/>
          <p:nvPr/>
        </p:nvSpPr>
        <p:spPr>
          <a:xfrm>
            <a:off x="880024" y="2354461"/>
            <a:ext cx="3696412" cy="257175"/>
          </a:xfrm>
          <a:prstGeom prst="rect"/>
          <a:ln>
            <a:headEnd type="none"/>
            <a:tailEnd type="none"/>
          </a:ln>
        </p:spPr>
        <p:txBody>
          <a:bodyPr anchor="ctr" anchorCtr="1" bIns="0" lIns="0" rIns="0" rtlCol="0" tIns="0" vert="horz" wrap="none"/>
          <a:p>
            <a:pPr algn="ctr"/>
            <a:r>
              <a:rPr b="1" sz="1300" i="0" lang="en-US" strike="noStrike"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DroneVehicle 融合方法 mAP@50 性能跃迁</a:t>
            </a:r>
            <a:endParaRPr sz="1100" lang="en-US"/>
          </a:p>
        </p:txBody>
      </p:sp>
      <p:graphicFrame>
        <p:nvGraphicFramePr>
          <p:cNvPr id="4194305" name="Chart 10"/>
          <p:cNvGraphicFramePr>
            <a:graphicFrameLocks noGrp="1"/>
          </p:cNvGraphicFramePr>
          <p:nvPr/>
        </p:nvGraphicFramePr>
        <p:xfrm>
          <a:off x="695151" y="2706886"/>
          <a:ext cx="4066158" cy="32462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48695" name="TextBox 10"/>
          <p:cNvSpPr txBox="1"/>
          <p:nvPr/>
        </p:nvSpPr>
        <p:spPr>
          <a:xfrm>
            <a:off x="1084685" y="6029325"/>
            <a:ext cx="3287089" cy="171450"/>
          </a:xfrm>
          <a:prstGeom prst="rect"/>
          <a:ln>
            <a:headEnd type="none"/>
            <a:tailEnd type="none"/>
          </a:ln>
        </p:spPr>
        <p:txBody>
          <a:bodyPr anchor="ctr" anchorCtr="1" bIns="0" lIns="0" rIns="0" rtlCol="0" tIns="0" vert="horz" wrap="none"/>
          <a:p>
            <a:pPr algn="ctr"/>
            <a:r>
              <a:rPr b="0" sz="900" i="0" lang="en-US" strike="noStrike"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融合方法相对单模态基线最高提升达 8.4 个百分点</a:t>
            </a:r>
            <a:endParaRPr sz="1100" lang="en-US"/>
          </a:p>
        </p:txBody>
      </p:sp>
      <p:sp>
        <p:nvSpPr>
          <p:cNvPr id="1048696" name="AutoShape 11"/>
          <p:cNvSpPr/>
          <p:nvPr/>
        </p:nvSpPr>
        <p:spPr>
          <a:xfrm>
            <a:off x="5380280" y="2135386"/>
            <a:ext cx="6351586" cy="2061270"/>
          </a:xfrm>
          <a:prstGeom prst="rect"/>
          <a:solidFill>
            <a:srgbClr val="E8EBEF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048697" name="AutoShape 12"/>
          <p:cNvSpPr/>
          <p:nvPr/>
        </p:nvSpPr>
        <p:spPr>
          <a:xfrm>
            <a:off x="5380280" y="2135386"/>
            <a:ext cx="6351586" cy="9525"/>
          </a:xfrm>
          <a:prstGeom prst="line"/>
          <a:ln w="19050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48698" name="TextBox 13"/>
          <p:cNvSpPr txBox="1"/>
          <p:nvPr/>
        </p:nvSpPr>
        <p:spPr>
          <a:xfrm>
            <a:off x="5608823" y="2608957"/>
            <a:ext cx="5894501" cy="133350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none"/>
          <a:p>
            <a:pPr algn="l"/>
            <a:r>
              <a:rPr b="0" sz="900" i="0" lang="en-US" strike="noStrike">
                <a:solidFill>
                  <a:srgbClr val="0A1F3D">
                    <a:alpha val="50196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01 · Early &amp; Late Fusion</a:t>
            </a:r>
            <a:endParaRPr sz="1100" lang="en-US"/>
          </a:p>
        </p:txBody>
      </p:sp>
      <p:sp>
        <p:nvSpPr>
          <p:cNvPr id="1048699" name="TextBox 14"/>
          <p:cNvSpPr txBox="1"/>
          <p:nvPr/>
        </p:nvSpPr>
        <p:spPr>
          <a:xfrm>
            <a:off x="5608823" y="2866132"/>
            <a:ext cx="5894501" cy="238125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none"/>
          <a:p>
            <a:pPr algn="l"/>
            <a:r>
              <a:rPr b="1" sz="1600" i="0" lang="en-US" strike="noStrike"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早期与晚期融合局限</a:t>
            </a:r>
            <a:endParaRPr sz="1100" lang="en-US"/>
          </a:p>
        </p:txBody>
      </p:sp>
      <p:sp>
        <p:nvSpPr>
          <p:cNvPr id="1048700" name="TextBox 15"/>
          <p:cNvSpPr txBox="1"/>
          <p:nvPr/>
        </p:nvSpPr>
        <p:spPr>
          <a:xfrm>
            <a:off x="5608823" y="3290888"/>
            <a:ext cx="6123043" cy="420886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square"/>
          <a:p>
            <a:pPr algn="l"/>
            <a:r>
              <a:rPr b="0" sz="1200" i="0" lang="en-US" strike="noStrike">
                <a:solidFill>
                  <a:srgbClr val="0A1F3D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早期融合保留原始信息但面临模态异质性对齐困难；晚期融合模态独立性好但丢失了特</a:t>
            </a:r>
            <a:endParaRPr sz="1100" lang="en-US"/>
          </a:p>
          <a:p>
            <a:pPr algn="l"/>
            <a:r>
              <a:rPr b="0" sz="1200" i="0" strike="noStrike">
                <a:solidFill>
                  <a:srgbClr val="0A1F3D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征级互补信息，场景适应性受限。</a:t>
            </a:r>
            <a:endParaRPr b="0" sz="1200" i="0" strike="noStrike">
              <a:solidFill>
                <a:srgbClr val="0A1F3D">
                  <a:alpha val="85098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048701" name="AutoShape 16"/>
          <p:cNvSpPr/>
          <p:nvPr/>
        </p:nvSpPr>
        <p:spPr>
          <a:xfrm>
            <a:off x="5380280" y="4349055"/>
            <a:ext cx="6351586" cy="2051745"/>
          </a:xfrm>
          <a:prstGeom prst="rect"/>
          <a:solidFill>
            <a:srgbClr val="E8EBEF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048702" name="AutoShape 17"/>
          <p:cNvSpPr/>
          <p:nvPr/>
        </p:nvSpPr>
        <p:spPr>
          <a:xfrm>
            <a:off x="5380280" y="4349055"/>
            <a:ext cx="6351586" cy="9525"/>
          </a:xfrm>
          <a:prstGeom prst="line"/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48703" name="TextBox 18"/>
          <p:cNvSpPr txBox="1"/>
          <p:nvPr/>
        </p:nvSpPr>
        <p:spPr>
          <a:xfrm>
            <a:off x="5608823" y="4813102"/>
            <a:ext cx="5894501" cy="133350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none"/>
          <a:p>
            <a:pPr algn="l"/>
            <a:r>
              <a:rPr b="0" sz="900" i="0" lang="en-US" strike="noStrike">
                <a:solidFill>
                  <a:srgbClr val="0A1F3D">
                    <a:alpha val="50196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02 · Mid-Level Fusion</a:t>
            </a:r>
            <a:endParaRPr sz="1100" lang="en-US"/>
          </a:p>
        </p:txBody>
      </p:sp>
      <p:sp>
        <p:nvSpPr>
          <p:cNvPr id="1048704" name="TextBox 19"/>
          <p:cNvSpPr txBox="1"/>
          <p:nvPr/>
        </p:nvSpPr>
        <p:spPr>
          <a:xfrm>
            <a:off x="5608823" y="5070277"/>
            <a:ext cx="5894501" cy="238125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none"/>
          <a:p>
            <a:pPr algn="l"/>
            <a:r>
              <a:rPr b="1" sz="1600" i="0" lang="en-US" strike="noStrike"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中期特征融合痛点</a:t>
            </a:r>
            <a:endParaRPr sz="1100" lang="en-US"/>
          </a:p>
        </p:txBody>
      </p:sp>
      <p:sp>
        <p:nvSpPr>
          <p:cNvPr id="1048705" name="TextBox 20"/>
          <p:cNvSpPr txBox="1"/>
          <p:nvPr/>
        </p:nvSpPr>
        <p:spPr>
          <a:xfrm>
            <a:off x="5608823" y="5495032"/>
            <a:ext cx="6123043" cy="420886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square"/>
          <a:p>
            <a:pPr algn="l"/>
            <a:r>
              <a:rPr b="0" sz="1200" i="0" lang="en-US" strike="noStrike">
                <a:solidFill>
                  <a:srgbClr val="0A1F3D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兼顾独立性与交互，但简单拼接或固定加权忽略了模态特征质量差异，易造成跨模态污</a:t>
            </a:r>
            <a:endParaRPr sz="1100" lang="en-US"/>
          </a:p>
          <a:p>
            <a:pPr algn="l"/>
            <a:r>
              <a:rPr b="0" sz="1200" i="0" strike="noStrike">
                <a:solidFill>
                  <a:srgbClr val="0A1F3D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染，亟需引入动态权重分配机制。</a:t>
            </a:r>
            <a:endParaRPr b="0" sz="1200" i="0" strike="noStrike">
              <a:solidFill>
                <a:srgbClr val="0A1F3D">
                  <a:alpha val="85098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2" name="AutoShape 2"/>
          <p:cNvSpPr/>
          <p:nvPr/>
        </p:nvSpPr>
        <p:spPr>
          <a:xfrm>
            <a:off x="0" y="0"/>
            <a:ext cx="12188952" cy="6858000"/>
          </a:xfrm>
          <a:prstGeom prst="rect"/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048713" name="TextBox 3"/>
          <p:cNvSpPr txBox="1"/>
          <p:nvPr/>
        </p:nvSpPr>
        <p:spPr>
          <a:xfrm>
            <a:off x="457086" y="476250"/>
            <a:ext cx="11274781" cy="133350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none"/>
          <a:p>
            <a:pPr algn="l"/>
            <a:r>
              <a:rPr b="0" sz="900" i="0" lang="en-US" strike="noStrike">
                <a:solidFill>
                  <a:srgbClr val="0A1F3D">
                    <a:alpha val="54901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FRONTIER FUSION</a:t>
            </a:r>
            <a:endParaRPr sz="1100" lang="en-US"/>
          </a:p>
        </p:txBody>
      </p:sp>
      <p:sp>
        <p:nvSpPr>
          <p:cNvPr id="1048714" name="TextBox 4"/>
          <p:cNvSpPr txBox="1"/>
          <p:nvPr/>
        </p:nvSpPr>
        <p:spPr>
          <a:xfrm>
            <a:off x="457086" y="781050"/>
            <a:ext cx="11274781" cy="419100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none"/>
          <a:p>
            <a:pPr algn="l"/>
            <a:r>
              <a:rPr b="1" sz="3000" i="0" lang="en-US" strike="noStrike"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前沿融合技术：质量感知与动态门控</a:t>
            </a:r>
            <a:endParaRPr sz="1100" lang="en-US"/>
          </a:p>
        </p:txBody>
      </p:sp>
      <p:sp>
        <p:nvSpPr>
          <p:cNvPr id="1048715" name="AutoShape 5"/>
          <p:cNvSpPr/>
          <p:nvPr/>
        </p:nvSpPr>
        <p:spPr>
          <a:xfrm>
            <a:off x="457086" y="1390650"/>
            <a:ext cx="9522" cy="649486"/>
          </a:xfrm>
          <a:prstGeom prst="line"/>
          <a:ln w="9525">
            <a:solidFill>
              <a:srgbClr val="5B8CB8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1048716" name="TextBox 6"/>
          <p:cNvSpPr txBox="1"/>
          <p:nvPr/>
        </p:nvSpPr>
        <p:spPr>
          <a:xfrm>
            <a:off x="599925" y="1428750"/>
            <a:ext cx="11589027" cy="562868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square"/>
          <a:p>
            <a:pPr algn="l"/>
            <a:r>
              <a:rPr b="0" sz="1600" i="1" lang="en-US" strike="noStrike">
                <a:solidFill>
                  <a:srgbClr val="0A1F3D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质量感知门控与跨模态对齐是当前融合技术的前沿方向。通过动态评估模态可靠性并校正分布偏移，有效避免了低质量特</a:t>
            </a:r>
            <a:endParaRPr sz="1100" lang="en-US"/>
          </a:p>
          <a:p>
            <a:pPr algn="l"/>
            <a:r>
              <a:rPr b="0" sz="1600" i="1" strike="noStrike">
                <a:solidFill>
                  <a:srgbClr val="0A1F3D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征污染，在精度与实时性上取得双重突破，为工程落地提供了可靠路径。</a:t>
            </a:r>
            <a:endParaRPr b="0" sz="1600" i="1" strike="noStrike">
              <a:solidFill>
                <a:srgbClr val="0A1F3D">
                  <a:alpha val="78039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048717" name="AutoShape 7"/>
          <p:cNvSpPr/>
          <p:nvPr/>
        </p:nvSpPr>
        <p:spPr>
          <a:xfrm>
            <a:off x="457086" y="2306836"/>
            <a:ext cx="3605799" cy="4093964"/>
          </a:xfrm>
          <a:prstGeom prst="rect"/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48718" name="AutoShape 8"/>
          <p:cNvSpPr/>
          <p:nvPr/>
        </p:nvSpPr>
        <p:spPr>
          <a:xfrm>
            <a:off x="457086" y="2306836"/>
            <a:ext cx="3605799" cy="9525"/>
          </a:xfrm>
          <a:prstGeom prst="line"/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48719" name="AutoShape 9"/>
          <p:cNvSpPr/>
          <p:nvPr/>
        </p:nvSpPr>
        <p:spPr>
          <a:xfrm>
            <a:off x="695151" y="2602111"/>
            <a:ext cx="457086" cy="457200"/>
          </a:xfrm>
          <a:custGeom>
            <a:avLst/>
            <a:ahLst/>
            <a:rect l="l" t="t" r="r" b="b"/>
            <a:pathLst>
              <a:path w="9998" h="10000">
                <a:moveTo>
                  <a:pt x="433" y="827"/>
                </a:moveTo>
                <a:lnTo>
                  <a:pt x="4999" y="0"/>
                </a:lnTo>
                <a:lnTo>
                  <a:pt x="9565" y="827"/>
                </a:lnTo>
                <a:cubicBezTo>
                  <a:pt x="9691" y="851"/>
                  <a:pt x="9794" y="906"/>
                  <a:pt x="9876" y="991"/>
                </a:cubicBezTo>
                <a:cubicBezTo>
                  <a:pt x="9957" y="1075"/>
                  <a:pt x="9998" y="1169"/>
                  <a:pt x="9998" y="1273"/>
                </a:cubicBezTo>
                <a:lnTo>
                  <a:pt x="9998" y="5809"/>
                </a:lnTo>
                <a:cubicBezTo>
                  <a:pt x="9998" y="6269"/>
                  <a:pt x="9866" y="6700"/>
                  <a:pt x="9604" y="7100"/>
                </a:cubicBezTo>
                <a:cubicBezTo>
                  <a:pt x="9340" y="7500"/>
                  <a:pt x="8975" y="7827"/>
                  <a:pt x="8509" y="8082"/>
                </a:cubicBezTo>
                <a:lnTo>
                  <a:pt x="4999" y="10000"/>
                </a:lnTo>
                <a:lnTo>
                  <a:pt x="1489" y="8082"/>
                </a:lnTo>
                <a:cubicBezTo>
                  <a:pt x="1022" y="7827"/>
                  <a:pt x="657" y="7500"/>
                  <a:pt x="394" y="7100"/>
                </a:cubicBezTo>
                <a:cubicBezTo>
                  <a:pt x="131" y="6700"/>
                  <a:pt x="0" y="6269"/>
                  <a:pt x="0" y="5809"/>
                </a:cubicBezTo>
                <a:lnTo>
                  <a:pt x="0" y="1273"/>
                </a:lnTo>
                <a:cubicBezTo>
                  <a:pt x="0" y="1169"/>
                  <a:pt x="40" y="1075"/>
                  <a:pt x="122" y="991"/>
                </a:cubicBezTo>
                <a:cubicBezTo>
                  <a:pt x="203" y="906"/>
                  <a:pt x="307" y="851"/>
                  <a:pt x="433" y="827"/>
                </a:cubicBezTo>
                <a:moveTo>
                  <a:pt x="8887" y="1636"/>
                </a:moveTo>
                <a:lnTo>
                  <a:pt x="4999" y="927"/>
                </a:lnTo>
                <a:lnTo>
                  <a:pt x="1111" y="1636"/>
                </a:lnTo>
                <a:lnTo>
                  <a:pt x="1111" y="5809"/>
                </a:lnTo>
                <a:cubicBezTo>
                  <a:pt x="1111" y="6118"/>
                  <a:pt x="1198" y="6406"/>
                  <a:pt x="1372" y="6673"/>
                </a:cubicBezTo>
                <a:cubicBezTo>
                  <a:pt x="1546" y="6939"/>
                  <a:pt x="1788" y="7157"/>
                  <a:pt x="2100" y="7327"/>
                </a:cubicBezTo>
                <a:lnTo>
                  <a:pt x="4999" y="8909"/>
                </a:lnTo>
                <a:lnTo>
                  <a:pt x="7898" y="7327"/>
                </a:lnTo>
                <a:cubicBezTo>
                  <a:pt x="8209" y="7157"/>
                  <a:pt x="8452" y="6939"/>
                  <a:pt x="8626" y="6673"/>
                </a:cubicBezTo>
                <a:cubicBezTo>
                  <a:pt x="8800" y="6406"/>
                  <a:pt x="8887" y="6118"/>
                  <a:pt x="8887" y="5809"/>
                </a:cubicBezTo>
                <a:lnTo>
                  <a:pt x="8887" y="1636"/>
                </a:lnTo>
                <a:moveTo>
                  <a:pt x="4721" y="5536"/>
                </a:moveTo>
                <a:lnTo>
                  <a:pt x="7476" y="3282"/>
                </a:lnTo>
                <a:lnTo>
                  <a:pt x="8254" y="3927"/>
                </a:lnTo>
                <a:lnTo>
                  <a:pt x="4721" y="6818"/>
                </a:lnTo>
                <a:lnTo>
                  <a:pt x="2366" y="4891"/>
                </a:lnTo>
                <a:lnTo>
                  <a:pt x="3155" y="4245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048720" name="TextBox 10"/>
          <p:cNvSpPr txBox="1"/>
          <p:nvPr/>
        </p:nvSpPr>
        <p:spPr>
          <a:xfrm>
            <a:off x="695151" y="3817591"/>
            <a:ext cx="3129669" cy="257175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none"/>
          <a:p>
            <a:pPr algn="l"/>
            <a:r>
              <a:rPr b="1" sz="1800" i="0" lang="en-US" strike="noStrike"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质量感知门控融合</a:t>
            </a:r>
            <a:endParaRPr sz="1100" lang="en-US"/>
          </a:p>
        </p:txBody>
      </p:sp>
      <p:sp>
        <p:nvSpPr>
          <p:cNvPr id="1048721" name="TextBox 11"/>
          <p:cNvSpPr txBox="1"/>
          <p:nvPr/>
        </p:nvSpPr>
        <p:spPr>
          <a:xfrm>
            <a:off x="695151" y="4246216"/>
            <a:ext cx="3367734" cy="649486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square"/>
          <a:p>
            <a:pPr algn="l"/>
            <a:r>
              <a:rPr b="0" sz="1200" i="0" lang="en-US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DEGF-YOLO引入QGU单元动态评估模态质</a:t>
            </a:r>
            <a:endParaRPr sz="1100" lang="en-US"/>
          </a:p>
          <a:p>
            <a:pPr algn="l"/>
            <a:r>
              <a:rPr b="0" sz="120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量，实现细粒度融合，核心在于"先判断可靠性</a:t>
            </a:r>
            <a:endParaRPr b="0" sz="1200" i="0" strike="noStrike">
              <a:solidFill>
                <a:srgbClr val="0A1F3D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  <a:p>
            <a:pPr algn="l"/>
            <a:r>
              <a:rPr b="0" sz="120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再融合"</a:t>
            </a:r>
            <a:endParaRPr b="0" sz="1200" i="0" strike="noStrike">
              <a:solidFill>
                <a:srgbClr val="0A1F3D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048722" name="AutoShape 12"/>
          <p:cNvSpPr/>
          <p:nvPr/>
        </p:nvSpPr>
        <p:spPr>
          <a:xfrm>
            <a:off x="695151" y="5688211"/>
            <a:ext cx="3129669" cy="9525"/>
          </a:xfrm>
          <a:prstGeom prst="line"/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48723" name="TextBox 13"/>
          <p:cNvSpPr txBox="1"/>
          <p:nvPr/>
        </p:nvSpPr>
        <p:spPr>
          <a:xfrm>
            <a:off x="695151" y="5821561"/>
            <a:ext cx="3129669" cy="295275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none"/>
          <a:p>
            <a:pPr algn="l"/>
            <a:r>
              <a:rPr b="1" sz="2100" i="0" lang="en-US" strike="noStrike"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83.1%</a:t>
            </a:r>
            <a:r>
              <a:rPr b="1" sz="900" i="0" strike="noStrike">
                <a:solidFill>
                  <a:srgbClr val="5B8CB8">
                    <a:alpha val="6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mAP50</a:t>
            </a:r>
            <a:endParaRPr sz="1100" lang="en-US"/>
          </a:p>
        </p:txBody>
      </p:sp>
      <p:sp>
        <p:nvSpPr>
          <p:cNvPr id="1048724" name="AutoShape 14"/>
          <p:cNvSpPr/>
          <p:nvPr/>
        </p:nvSpPr>
        <p:spPr>
          <a:xfrm>
            <a:off x="4291428" y="2306836"/>
            <a:ext cx="3605948" cy="4093964"/>
          </a:xfrm>
          <a:prstGeom prst="rect"/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48725" name="AutoShape 15"/>
          <p:cNvSpPr/>
          <p:nvPr/>
        </p:nvSpPr>
        <p:spPr>
          <a:xfrm>
            <a:off x="4291428" y="2306836"/>
            <a:ext cx="3605948" cy="9525"/>
          </a:xfrm>
          <a:prstGeom prst="line"/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48726" name="AutoShape 16"/>
          <p:cNvSpPr/>
          <p:nvPr/>
        </p:nvSpPr>
        <p:spPr>
          <a:xfrm>
            <a:off x="4529493" y="2602111"/>
            <a:ext cx="457086" cy="457200"/>
          </a:xfrm>
          <a:custGeom>
            <a:avLst/>
            <a:ahLst/>
            <a:rect l="l" t="t" r="r" b="b"/>
            <a:pathLst>
              <a:path w="9998" h="10000">
                <a:moveTo>
                  <a:pt x="5499" y="7500"/>
                </a:moveTo>
                <a:lnTo>
                  <a:pt x="5499" y="8970"/>
                </a:lnTo>
                <a:cubicBezTo>
                  <a:pt x="6092" y="8896"/>
                  <a:pt x="6640" y="8700"/>
                  <a:pt x="7144" y="8380"/>
                </a:cubicBezTo>
                <a:cubicBezTo>
                  <a:pt x="7646" y="8060"/>
                  <a:pt x="8058" y="7648"/>
                  <a:pt x="8378" y="7145"/>
                </a:cubicBezTo>
                <a:cubicBezTo>
                  <a:pt x="8698" y="6641"/>
                  <a:pt x="8894" y="6093"/>
                  <a:pt x="8968" y="5500"/>
                </a:cubicBezTo>
                <a:lnTo>
                  <a:pt x="7499" y="5500"/>
                </a:lnTo>
                <a:lnTo>
                  <a:pt x="7499" y="4500"/>
                </a:lnTo>
                <a:lnTo>
                  <a:pt x="8968" y="4500"/>
                </a:lnTo>
                <a:cubicBezTo>
                  <a:pt x="8894" y="3906"/>
                  <a:pt x="8698" y="3358"/>
                  <a:pt x="8378" y="2855"/>
                </a:cubicBezTo>
                <a:cubicBezTo>
                  <a:pt x="8058" y="2351"/>
                  <a:pt x="7646" y="1940"/>
                  <a:pt x="7144" y="1620"/>
                </a:cubicBezTo>
                <a:cubicBezTo>
                  <a:pt x="6640" y="1300"/>
                  <a:pt x="6092" y="1103"/>
                  <a:pt x="5499" y="1030"/>
                </a:cubicBezTo>
                <a:lnTo>
                  <a:pt x="5499" y="2500"/>
                </a:lnTo>
                <a:lnTo>
                  <a:pt x="4499" y="2500"/>
                </a:lnTo>
                <a:lnTo>
                  <a:pt x="4499" y="1030"/>
                </a:lnTo>
                <a:cubicBezTo>
                  <a:pt x="3905" y="1103"/>
                  <a:pt x="3357" y="1300"/>
                  <a:pt x="2854" y="1620"/>
                </a:cubicBezTo>
                <a:cubicBezTo>
                  <a:pt x="2351" y="1940"/>
                  <a:pt x="1940" y="2351"/>
                  <a:pt x="1620" y="2855"/>
                </a:cubicBezTo>
                <a:cubicBezTo>
                  <a:pt x="1300" y="3358"/>
                  <a:pt x="1103" y="3906"/>
                  <a:pt x="1030" y="4500"/>
                </a:cubicBezTo>
                <a:lnTo>
                  <a:pt x="2500" y="4500"/>
                </a:lnTo>
                <a:lnTo>
                  <a:pt x="2500" y="5500"/>
                </a:lnTo>
                <a:lnTo>
                  <a:pt x="1030" y="5500"/>
                </a:lnTo>
                <a:cubicBezTo>
                  <a:pt x="1103" y="6093"/>
                  <a:pt x="1300" y="6641"/>
                  <a:pt x="1620" y="7145"/>
                </a:cubicBezTo>
                <a:cubicBezTo>
                  <a:pt x="1940" y="7648"/>
                  <a:pt x="2351" y="8060"/>
                  <a:pt x="2854" y="8380"/>
                </a:cubicBezTo>
                <a:cubicBezTo>
                  <a:pt x="3357" y="8700"/>
                  <a:pt x="3905" y="8896"/>
                  <a:pt x="4499" y="8970"/>
                </a:cubicBezTo>
                <a:lnTo>
                  <a:pt x="4499" y="7500"/>
                </a:lnTo>
                <a:lnTo>
                  <a:pt x="5499" y="7500"/>
                </a:lnTo>
                <a:moveTo>
                  <a:pt x="4999" y="10000"/>
                </a:moveTo>
                <a:cubicBezTo>
                  <a:pt x="4319" y="10000"/>
                  <a:pt x="3669" y="9870"/>
                  <a:pt x="3049" y="9610"/>
                </a:cubicBezTo>
                <a:cubicBezTo>
                  <a:pt x="2456" y="9356"/>
                  <a:pt x="1928" y="8998"/>
                  <a:pt x="1465" y="8535"/>
                </a:cubicBezTo>
                <a:cubicBezTo>
                  <a:pt x="1001" y="8071"/>
                  <a:pt x="643" y="7543"/>
                  <a:pt x="390" y="6950"/>
                </a:cubicBezTo>
                <a:cubicBezTo>
                  <a:pt x="130" y="6330"/>
                  <a:pt x="0" y="5680"/>
                  <a:pt x="0" y="5000"/>
                </a:cubicBezTo>
                <a:cubicBezTo>
                  <a:pt x="0" y="4320"/>
                  <a:pt x="130" y="3670"/>
                  <a:pt x="390" y="3050"/>
                </a:cubicBezTo>
                <a:cubicBezTo>
                  <a:pt x="643" y="2456"/>
                  <a:pt x="1001" y="1928"/>
                  <a:pt x="1465" y="1465"/>
                </a:cubicBezTo>
                <a:cubicBezTo>
                  <a:pt x="1928" y="1001"/>
                  <a:pt x="2456" y="643"/>
                  <a:pt x="3049" y="390"/>
                </a:cubicBezTo>
                <a:cubicBezTo>
                  <a:pt x="3669" y="130"/>
                  <a:pt x="4319" y="0"/>
                  <a:pt x="4999" y="0"/>
                </a:cubicBezTo>
                <a:cubicBezTo>
                  <a:pt x="5679" y="0"/>
                  <a:pt x="6329" y="130"/>
                  <a:pt x="6949" y="390"/>
                </a:cubicBezTo>
                <a:cubicBezTo>
                  <a:pt x="7541" y="643"/>
                  <a:pt x="8069" y="1001"/>
                  <a:pt x="8533" y="1465"/>
                </a:cubicBezTo>
                <a:cubicBezTo>
                  <a:pt x="8996" y="1928"/>
                  <a:pt x="9354" y="2456"/>
                  <a:pt x="9608" y="3050"/>
                </a:cubicBezTo>
                <a:cubicBezTo>
                  <a:pt x="9868" y="3670"/>
                  <a:pt x="9998" y="4320"/>
                  <a:pt x="9998" y="5000"/>
                </a:cubicBezTo>
                <a:cubicBezTo>
                  <a:pt x="9998" y="5680"/>
                  <a:pt x="9868" y="6330"/>
                  <a:pt x="9608" y="6950"/>
                </a:cubicBezTo>
                <a:cubicBezTo>
                  <a:pt x="9354" y="7543"/>
                  <a:pt x="8996" y="8071"/>
                  <a:pt x="8533" y="8535"/>
                </a:cubicBezTo>
                <a:cubicBezTo>
                  <a:pt x="8069" y="8998"/>
                  <a:pt x="7541" y="9356"/>
                  <a:pt x="6949" y="9610"/>
                </a:cubicBezTo>
                <a:cubicBezTo>
                  <a:pt x="6329" y="9870"/>
                  <a:pt x="5679" y="10000"/>
                  <a:pt x="4999" y="10000"/>
                </a:cubicBezTo>
                <a:moveTo>
                  <a:pt x="4999" y="6000"/>
                </a:moveTo>
                <a:cubicBezTo>
                  <a:pt x="4819" y="6000"/>
                  <a:pt x="4652" y="5955"/>
                  <a:pt x="4499" y="5865"/>
                </a:cubicBezTo>
                <a:cubicBezTo>
                  <a:pt x="4345" y="5775"/>
                  <a:pt x="4224" y="5653"/>
                  <a:pt x="4134" y="5500"/>
                </a:cubicBezTo>
                <a:cubicBezTo>
                  <a:pt x="4044" y="5346"/>
                  <a:pt x="3999" y="5180"/>
                  <a:pt x="3999" y="5000"/>
                </a:cubicBezTo>
                <a:cubicBezTo>
                  <a:pt x="3999" y="4820"/>
                  <a:pt x="4044" y="4653"/>
                  <a:pt x="4134" y="4500"/>
                </a:cubicBezTo>
                <a:cubicBezTo>
                  <a:pt x="4224" y="4346"/>
                  <a:pt x="4345" y="4225"/>
                  <a:pt x="4499" y="4135"/>
                </a:cubicBezTo>
                <a:cubicBezTo>
                  <a:pt x="4652" y="4045"/>
                  <a:pt x="4819" y="4000"/>
                  <a:pt x="4999" y="4000"/>
                </a:cubicBezTo>
                <a:cubicBezTo>
                  <a:pt x="5179" y="4000"/>
                  <a:pt x="5345" y="4045"/>
                  <a:pt x="5499" y="4135"/>
                </a:cubicBezTo>
                <a:cubicBezTo>
                  <a:pt x="5652" y="4225"/>
                  <a:pt x="5774" y="4346"/>
                  <a:pt x="5864" y="4500"/>
                </a:cubicBezTo>
                <a:cubicBezTo>
                  <a:pt x="5954" y="4653"/>
                  <a:pt x="5999" y="4820"/>
                  <a:pt x="5999" y="5000"/>
                </a:cubicBezTo>
                <a:cubicBezTo>
                  <a:pt x="5999" y="5180"/>
                  <a:pt x="5954" y="5346"/>
                  <a:pt x="5864" y="5500"/>
                </a:cubicBezTo>
                <a:cubicBezTo>
                  <a:pt x="5774" y="5653"/>
                  <a:pt x="5652" y="5775"/>
                  <a:pt x="5499" y="5865"/>
                </a:cubicBezTo>
                <a:cubicBezTo>
                  <a:pt x="5345" y="5955"/>
                  <a:pt x="5179" y="6000"/>
                  <a:pt x="4999" y="6000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048727" name="TextBox 17"/>
          <p:cNvSpPr txBox="1"/>
          <p:nvPr/>
        </p:nvSpPr>
        <p:spPr>
          <a:xfrm>
            <a:off x="4529493" y="3817591"/>
            <a:ext cx="3129817" cy="257175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none"/>
          <a:p>
            <a:pPr algn="l"/>
            <a:r>
              <a:rPr b="1" sz="1800" i="0" lang="en-US" strike="noStrike"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跨模态对齐校正</a:t>
            </a:r>
            <a:endParaRPr sz="1100" lang="en-US"/>
          </a:p>
        </p:txBody>
      </p:sp>
      <p:sp>
        <p:nvSpPr>
          <p:cNvPr id="1048728" name="TextBox 18"/>
          <p:cNvSpPr txBox="1"/>
          <p:nvPr/>
        </p:nvSpPr>
        <p:spPr>
          <a:xfrm>
            <a:off x="4529493" y="4246216"/>
            <a:ext cx="3367883" cy="649486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square"/>
          <a:p>
            <a:pPr algn="l"/>
            <a:r>
              <a:rPr b="0" sz="1200" i="0" lang="en-US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CAMFNet通过梯度一致性引导全局-局部对</a:t>
            </a:r>
            <a:endParaRPr sz="1100" lang="en-US"/>
          </a:p>
          <a:p>
            <a:pPr algn="l"/>
            <a:r>
              <a:rPr b="0" sz="120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齐，校正粗细粒度错位，CAM与MFM模块分别</a:t>
            </a:r>
            <a:endParaRPr b="0" sz="1200" i="0" strike="noStrike">
              <a:solidFill>
                <a:srgbClr val="0A1F3D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  <a:p>
            <a:pPr algn="l"/>
            <a:r>
              <a:rPr b="0" sz="120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贡献增益</a:t>
            </a:r>
            <a:endParaRPr b="0" sz="1200" i="0" strike="noStrike">
              <a:solidFill>
                <a:srgbClr val="0A1F3D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048729" name="AutoShape 19"/>
          <p:cNvSpPr/>
          <p:nvPr/>
        </p:nvSpPr>
        <p:spPr>
          <a:xfrm>
            <a:off x="4529493" y="5688211"/>
            <a:ext cx="3129817" cy="9525"/>
          </a:xfrm>
          <a:prstGeom prst="line"/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48730" name="TextBox 20"/>
          <p:cNvSpPr txBox="1"/>
          <p:nvPr/>
        </p:nvSpPr>
        <p:spPr>
          <a:xfrm>
            <a:off x="4529493" y="5821561"/>
            <a:ext cx="3129817" cy="295275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none"/>
          <a:p>
            <a:pPr algn="l"/>
            <a:r>
              <a:rPr b="1" sz="2100" i="0" lang="en-US" strike="noStrike"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+1.7%</a:t>
            </a:r>
            <a:r>
              <a:rPr b="1" sz="900" i="0" strike="noStrike">
                <a:solidFill>
                  <a:srgbClr val="5B8CB8">
                    <a:alpha val="6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MFM 增益</a:t>
            </a:r>
            <a:endParaRPr sz="1100" lang="en-US"/>
          </a:p>
        </p:txBody>
      </p:sp>
      <p:sp>
        <p:nvSpPr>
          <p:cNvPr id="1048731" name="AutoShape 21"/>
          <p:cNvSpPr/>
          <p:nvPr/>
        </p:nvSpPr>
        <p:spPr>
          <a:xfrm>
            <a:off x="8125918" y="2306836"/>
            <a:ext cx="3605799" cy="4093964"/>
          </a:xfrm>
          <a:prstGeom prst="rect"/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48732" name="AutoShape 22"/>
          <p:cNvSpPr/>
          <p:nvPr/>
        </p:nvSpPr>
        <p:spPr>
          <a:xfrm>
            <a:off x="8125918" y="2306836"/>
            <a:ext cx="3605799" cy="9525"/>
          </a:xfrm>
          <a:prstGeom prst="line"/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48733" name="AutoShape 23"/>
          <p:cNvSpPr/>
          <p:nvPr/>
        </p:nvSpPr>
        <p:spPr>
          <a:xfrm>
            <a:off x="8363984" y="2602111"/>
            <a:ext cx="457086" cy="457200"/>
          </a:xfrm>
          <a:custGeom>
            <a:avLst/>
            <a:ahLst/>
            <a:rect l="l" t="t" r="r" b="b"/>
            <a:pathLst>
              <a:path w="9998" h="10000">
                <a:moveTo>
                  <a:pt x="3499" y="1000"/>
                </a:moveTo>
                <a:cubicBezTo>
                  <a:pt x="3679" y="1000"/>
                  <a:pt x="3845" y="1045"/>
                  <a:pt x="3999" y="1135"/>
                </a:cubicBezTo>
                <a:cubicBezTo>
                  <a:pt x="4152" y="1225"/>
                  <a:pt x="4274" y="1346"/>
                  <a:pt x="4364" y="1500"/>
                </a:cubicBezTo>
                <a:cubicBezTo>
                  <a:pt x="4454" y="1653"/>
                  <a:pt x="4499" y="1820"/>
                  <a:pt x="4499" y="2000"/>
                </a:cubicBezTo>
                <a:lnTo>
                  <a:pt x="4499" y="5410"/>
                </a:lnTo>
                <a:cubicBezTo>
                  <a:pt x="4079" y="5090"/>
                  <a:pt x="3522" y="4873"/>
                  <a:pt x="2829" y="4760"/>
                </a:cubicBezTo>
                <a:lnTo>
                  <a:pt x="2669" y="5740"/>
                </a:lnTo>
                <a:cubicBezTo>
                  <a:pt x="3315" y="5853"/>
                  <a:pt x="3782" y="6065"/>
                  <a:pt x="4069" y="6375"/>
                </a:cubicBezTo>
                <a:cubicBezTo>
                  <a:pt x="4355" y="6685"/>
                  <a:pt x="4499" y="7143"/>
                  <a:pt x="4499" y="7750"/>
                </a:cubicBezTo>
                <a:cubicBezTo>
                  <a:pt x="4499" y="7976"/>
                  <a:pt x="4442" y="8185"/>
                  <a:pt x="4329" y="8375"/>
                </a:cubicBezTo>
                <a:cubicBezTo>
                  <a:pt x="4215" y="8565"/>
                  <a:pt x="4064" y="8716"/>
                  <a:pt x="3874" y="8830"/>
                </a:cubicBezTo>
                <a:cubicBezTo>
                  <a:pt x="3684" y="8943"/>
                  <a:pt x="3475" y="9000"/>
                  <a:pt x="3249" y="9000"/>
                </a:cubicBezTo>
                <a:cubicBezTo>
                  <a:pt x="3022" y="9000"/>
                  <a:pt x="2814" y="8943"/>
                  <a:pt x="2624" y="8830"/>
                </a:cubicBezTo>
                <a:cubicBezTo>
                  <a:pt x="2434" y="8716"/>
                  <a:pt x="2283" y="8565"/>
                  <a:pt x="2170" y="8375"/>
                </a:cubicBezTo>
                <a:cubicBezTo>
                  <a:pt x="2056" y="8185"/>
                  <a:pt x="2000" y="7976"/>
                  <a:pt x="2000" y="7750"/>
                </a:cubicBezTo>
                <a:lnTo>
                  <a:pt x="2000" y="7570"/>
                </a:lnTo>
                <a:cubicBezTo>
                  <a:pt x="2226" y="7650"/>
                  <a:pt x="2449" y="7706"/>
                  <a:pt x="2669" y="7740"/>
                </a:cubicBezTo>
                <a:lnTo>
                  <a:pt x="2829" y="6760"/>
                </a:lnTo>
                <a:cubicBezTo>
                  <a:pt x="2496" y="6700"/>
                  <a:pt x="2123" y="6573"/>
                  <a:pt x="1710" y="6380"/>
                </a:cubicBezTo>
                <a:cubicBezTo>
                  <a:pt x="1496" y="6280"/>
                  <a:pt x="1325" y="6128"/>
                  <a:pt x="1195" y="5925"/>
                </a:cubicBezTo>
                <a:cubicBezTo>
                  <a:pt x="1065" y="5721"/>
                  <a:pt x="1000" y="5496"/>
                  <a:pt x="1000" y="5250"/>
                </a:cubicBezTo>
                <a:cubicBezTo>
                  <a:pt x="1000" y="4850"/>
                  <a:pt x="1093" y="4521"/>
                  <a:pt x="1280" y="4265"/>
                </a:cubicBezTo>
                <a:cubicBezTo>
                  <a:pt x="1466" y="4008"/>
                  <a:pt x="1746" y="3833"/>
                  <a:pt x="2120" y="3740"/>
                </a:cubicBezTo>
                <a:lnTo>
                  <a:pt x="2500" y="3640"/>
                </a:lnTo>
                <a:lnTo>
                  <a:pt x="2500" y="2000"/>
                </a:lnTo>
                <a:cubicBezTo>
                  <a:pt x="2500" y="1820"/>
                  <a:pt x="2544" y="1653"/>
                  <a:pt x="2634" y="1500"/>
                </a:cubicBezTo>
                <a:cubicBezTo>
                  <a:pt x="2724" y="1346"/>
                  <a:pt x="2845" y="1225"/>
                  <a:pt x="2999" y="1135"/>
                </a:cubicBezTo>
                <a:cubicBezTo>
                  <a:pt x="3152" y="1045"/>
                  <a:pt x="3319" y="1000"/>
                  <a:pt x="3499" y="1000"/>
                </a:cubicBezTo>
                <a:moveTo>
                  <a:pt x="4999" y="680"/>
                </a:moveTo>
                <a:cubicBezTo>
                  <a:pt x="4812" y="466"/>
                  <a:pt x="4589" y="300"/>
                  <a:pt x="4329" y="180"/>
                </a:cubicBezTo>
                <a:cubicBezTo>
                  <a:pt x="4069" y="60"/>
                  <a:pt x="3792" y="0"/>
                  <a:pt x="3499" y="0"/>
                </a:cubicBezTo>
                <a:cubicBezTo>
                  <a:pt x="3139" y="0"/>
                  <a:pt x="2806" y="90"/>
                  <a:pt x="2500" y="270"/>
                </a:cubicBezTo>
                <a:cubicBezTo>
                  <a:pt x="2193" y="450"/>
                  <a:pt x="1950" y="693"/>
                  <a:pt x="1770" y="1000"/>
                </a:cubicBezTo>
                <a:cubicBezTo>
                  <a:pt x="1590" y="1306"/>
                  <a:pt x="1500" y="1640"/>
                  <a:pt x="1500" y="2000"/>
                </a:cubicBezTo>
                <a:lnTo>
                  <a:pt x="1500" y="2890"/>
                </a:lnTo>
                <a:cubicBezTo>
                  <a:pt x="1066" y="3063"/>
                  <a:pt x="723" y="3323"/>
                  <a:pt x="470" y="3670"/>
                </a:cubicBezTo>
                <a:cubicBezTo>
                  <a:pt x="156" y="4103"/>
                  <a:pt x="0" y="4630"/>
                  <a:pt x="0" y="5250"/>
                </a:cubicBezTo>
                <a:cubicBezTo>
                  <a:pt x="0" y="5636"/>
                  <a:pt x="90" y="5993"/>
                  <a:pt x="270" y="6320"/>
                </a:cubicBezTo>
                <a:cubicBezTo>
                  <a:pt x="450" y="6646"/>
                  <a:pt x="693" y="6913"/>
                  <a:pt x="1000" y="7120"/>
                </a:cubicBezTo>
                <a:lnTo>
                  <a:pt x="1000" y="7750"/>
                </a:lnTo>
                <a:cubicBezTo>
                  <a:pt x="1000" y="8156"/>
                  <a:pt x="1101" y="8531"/>
                  <a:pt x="1305" y="8875"/>
                </a:cubicBezTo>
                <a:cubicBezTo>
                  <a:pt x="1508" y="9218"/>
                  <a:pt x="1781" y="9491"/>
                  <a:pt x="2125" y="9695"/>
                </a:cubicBezTo>
                <a:cubicBezTo>
                  <a:pt x="2467" y="9898"/>
                  <a:pt x="2842" y="10000"/>
                  <a:pt x="3249" y="10000"/>
                </a:cubicBezTo>
                <a:cubicBezTo>
                  <a:pt x="3595" y="10000"/>
                  <a:pt x="3920" y="9925"/>
                  <a:pt x="4224" y="9775"/>
                </a:cubicBezTo>
                <a:cubicBezTo>
                  <a:pt x="4527" y="9625"/>
                  <a:pt x="4785" y="9420"/>
                  <a:pt x="4999" y="9160"/>
                </a:cubicBezTo>
                <a:cubicBezTo>
                  <a:pt x="5212" y="9420"/>
                  <a:pt x="5470" y="9625"/>
                  <a:pt x="5774" y="9775"/>
                </a:cubicBezTo>
                <a:cubicBezTo>
                  <a:pt x="6077" y="9925"/>
                  <a:pt x="6402" y="10000"/>
                  <a:pt x="6749" y="10000"/>
                </a:cubicBezTo>
                <a:cubicBezTo>
                  <a:pt x="7155" y="10000"/>
                  <a:pt x="7530" y="9898"/>
                  <a:pt x="7873" y="9695"/>
                </a:cubicBezTo>
                <a:cubicBezTo>
                  <a:pt x="8216" y="9491"/>
                  <a:pt x="8489" y="9218"/>
                  <a:pt x="8693" y="8875"/>
                </a:cubicBezTo>
                <a:cubicBezTo>
                  <a:pt x="8896" y="8531"/>
                  <a:pt x="8998" y="8156"/>
                  <a:pt x="8998" y="7750"/>
                </a:cubicBezTo>
                <a:lnTo>
                  <a:pt x="8998" y="7120"/>
                </a:lnTo>
                <a:cubicBezTo>
                  <a:pt x="9304" y="6913"/>
                  <a:pt x="9548" y="6646"/>
                  <a:pt x="9728" y="6320"/>
                </a:cubicBezTo>
                <a:cubicBezTo>
                  <a:pt x="9908" y="5993"/>
                  <a:pt x="9998" y="5636"/>
                  <a:pt x="9998" y="5250"/>
                </a:cubicBezTo>
                <a:cubicBezTo>
                  <a:pt x="9998" y="4630"/>
                  <a:pt x="9841" y="4103"/>
                  <a:pt x="9528" y="3670"/>
                </a:cubicBezTo>
                <a:cubicBezTo>
                  <a:pt x="9274" y="3323"/>
                  <a:pt x="8931" y="3063"/>
                  <a:pt x="8498" y="2890"/>
                </a:cubicBezTo>
                <a:lnTo>
                  <a:pt x="8498" y="2000"/>
                </a:lnTo>
                <a:cubicBezTo>
                  <a:pt x="8498" y="1640"/>
                  <a:pt x="8408" y="1306"/>
                  <a:pt x="8228" y="1000"/>
                </a:cubicBezTo>
                <a:cubicBezTo>
                  <a:pt x="8048" y="693"/>
                  <a:pt x="7805" y="450"/>
                  <a:pt x="7499" y="270"/>
                </a:cubicBezTo>
                <a:cubicBezTo>
                  <a:pt x="7192" y="90"/>
                  <a:pt x="6859" y="0"/>
                  <a:pt x="6499" y="0"/>
                </a:cubicBezTo>
                <a:cubicBezTo>
                  <a:pt x="6205" y="0"/>
                  <a:pt x="5929" y="60"/>
                  <a:pt x="5669" y="180"/>
                </a:cubicBezTo>
                <a:cubicBezTo>
                  <a:pt x="5409" y="300"/>
                  <a:pt x="5185" y="466"/>
                  <a:pt x="4999" y="680"/>
                </a:cubicBezTo>
                <a:moveTo>
                  <a:pt x="7998" y="7570"/>
                </a:moveTo>
                <a:lnTo>
                  <a:pt x="7998" y="7750"/>
                </a:lnTo>
                <a:cubicBezTo>
                  <a:pt x="7998" y="7976"/>
                  <a:pt x="7941" y="8185"/>
                  <a:pt x="7828" y="8375"/>
                </a:cubicBezTo>
                <a:cubicBezTo>
                  <a:pt x="7714" y="8565"/>
                  <a:pt x="7563" y="8716"/>
                  <a:pt x="7374" y="8830"/>
                </a:cubicBezTo>
                <a:cubicBezTo>
                  <a:pt x="7184" y="8943"/>
                  <a:pt x="6975" y="9000"/>
                  <a:pt x="6749" y="9000"/>
                </a:cubicBezTo>
                <a:cubicBezTo>
                  <a:pt x="6522" y="9000"/>
                  <a:pt x="6314" y="8943"/>
                  <a:pt x="6124" y="8830"/>
                </a:cubicBezTo>
                <a:cubicBezTo>
                  <a:pt x="5934" y="8716"/>
                  <a:pt x="5782" y="8565"/>
                  <a:pt x="5669" y="8375"/>
                </a:cubicBezTo>
                <a:cubicBezTo>
                  <a:pt x="5555" y="8185"/>
                  <a:pt x="5499" y="7976"/>
                  <a:pt x="5499" y="7750"/>
                </a:cubicBezTo>
                <a:cubicBezTo>
                  <a:pt x="5499" y="7143"/>
                  <a:pt x="5642" y="6685"/>
                  <a:pt x="5929" y="6375"/>
                </a:cubicBezTo>
                <a:cubicBezTo>
                  <a:pt x="6215" y="6065"/>
                  <a:pt x="6682" y="5853"/>
                  <a:pt x="7329" y="5740"/>
                </a:cubicBezTo>
                <a:lnTo>
                  <a:pt x="7169" y="4760"/>
                </a:lnTo>
                <a:cubicBezTo>
                  <a:pt x="6475" y="4873"/>
                  <a:pt x="5919" y="5090"/>
                  <a:pt x="5499" y="5410"/>
                </a:cubicBezTo>
                <a:lnTo>
                  <a:pt x="5499" y="2000"/>
                </a:lnTo>
                <a:cubicBezTo>
                  <a:pt x="5499" y="1820"/>
                  <a:pt x="5544" y="1653"/>
                  <a:pt x="5634" y="1500"/>
                </a:cubicBezTo>
                <a:cubicBezTo>
                  <a:pt x="5724" y="1346"/>
                  <a:pt x="5845" y="1225"/>
                  <a:pt x="5999" y="1135"/>
                </a:cubicBezTo>
                <a:cubicBezTo>
                  <a:pt x="6152" y="1045"/>
                  <a:pt x="6319" y="1000"/>
                  <a:pt x="6499" y="1000"/>
                </a:cubicBezTo>
                <a:cubicBezTo>
                  <a:pt x="6679" y="1000"/>
                  <a:pt x="6845" y="1045"/>
                  <a:pt x="6999" y="1135"/>
                </a:cubicBezTo>
                <a:cubicBezTo>
                  <a:pt x="7152" y="1225"/>
                  <a:pt x="7274" y="1346"/>
                  <a:pt x="7364" y="1500"/>
                </a:cubicBezTo>
                <a:cubicBezTo>
                  <a:pt x="7454" y="1653"/>
                  <a:pt x="7499" y="1820"/>
                  <a:pt x="7499" y="2000"/>
                </a:cubicBezTo>
                <a:lnTo>
                  <a:pt x="7499" y="3640"/>
                </a:lnTo>
                <a:lnTo>
                  <a:pt x="7878" y="3740"/>
                </a:lnTo>
                <a:cubicBezTo>
                  <a:pt x="8251" y="3833"/>
                  <a:pt x="8531" y="4008"/>
                  <a:pt x="8718" y="4265"/>
                </a:cubicBezTo>
                <a:cubicBezTo>
                  <a:pt x="8904" y="4521"/>
                  <a:pt x="8998" y="4850"/>
                  <a:pt x="8998" y="5250"/>
                </a:cubicBezTo>
                <a:cubicBezTo>
                  <a:pt x="8998" y="5496"/>
                  <a:pt x="8933" y="5721"/>
                  <a:pt x="8803" y="5925"/>
                </a:cubicBezTo>
                <a:cubicBezTo>
                  <a:pt x="8673" y="6128"/>
                  <a:pt x="8501" y="6280"/>
                  <a:pt x="8288" y="6380"/>
                </a:cubicBezTo>
                <a:cubicBezTo>
                  <a:pt x="7874" y="6573"/>
                  <a:pt x="7501" y="6700"/>
                  <a:pt x="7169" y="6760"/>
                </a:cubicBezTo>
                <a:lnTo>
                  <a:pt x="7329" y="7740"/>
                </a:lnTo>
                <a:cubicBezTo>
                  <a:pt x="7548" y="7706"/>
                  <a:pt x="7771" y="7650"/>
                  <a:pt x="7998" y="7570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048734" name="TextBox 24"/>
          <p:cNvSpPr txBox="1"/>
          <p:nvPr/>
        </p:nvSpPr>
        <p:spPr>
          <a:xfrm>
            <a:off x="8363984" y="3939480"/>
            <a:ext cx="3129669" cy="257175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none"/>
          <a:p>
            <a:pPr algn="l"/>
            <a:r>
              <a:rPr b="1" sz="1800" i="0" lang="en-US" strike="noStrike"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Transformer交叉注意力</a:t>
            </a:r>
            <a:endParaRPr sz="1100" lang="en-US"/>
          </a:p>
        </p:txBody>
      </p:sp>
      <p:sp>
        <p:nvSpPr>
          <p:cNvPr id="1048735" name="TextBox 25"/>
          <p:cNvSpPr txBox="1"/>
          <p:nvPr/>
        </p:nvSpPr>
        <p:spPr>
          <a:xfrm>
            <a:off x="8363984" y="4368105"/>
            <a:ext cx="3367734" cy="405705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square"/>
          <a:p>
            <a:pPr algn="l"/>
            <a:r>
              <a:rPr b="0" sz="1200" i="0" lang="en-US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可变形交叉注意力机制捕获空间几何相关性，</a:t>
            </a:r>
            <a:endParaRPr sz="1100" lang="en-US"/>
          </a:p>
          <a:p>
            <a:pPr algn="l"/>
            <a:r>
              <a:rPr b="0" sz="120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RTF-YOLO在FLIR数据集上兼顾精度与实时性</a:t>
            </a:r>
            <a:endParaRPr b="0" sz="1200" i="0" strike="noStrike">
              <a:solidFill>
                <a:srgbClr val="0A1F3D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048736" name="AutoShape 26"/>
          <p:cNvSpPr/>
          <p:nvPr/>
        </p:nvSpPr>
        <p:spPr>
          <a:xfrm>
            <a:off x="8363984" y="5688211"/>
            <a:ext cx="3129669" cy="9525"/>
          </a:xfrm>
          <a:prstGeom prst="line"/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48737" name="TextBox 27"/>
          <p:cNvSpPr txBox="1"/>
          <p:nvPr/>
        </p:nvSpPr>
        <p:spPr>
          <a:xfrm>
            <a:off x="8363984" y="5821561"/>
            <a:ext cx="3129669" cy="295275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none"/>
          <a:p>
            <a:pPr algn="l"/>
            <a:r>
              <a:rPr b="1" sz="2100" i="0" lang="en-US" strike="noStrike"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92.9</a:t>
            </a:r>
            <a:r>
              <a:rPr b="1" sz="900" i="0" strike="noStrike">
                <a:solidFill>
                  <a:srgbClr val="5B8CB8">
                    <a:alpha val="6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FPS</a:t>
            </a:r>
            <a:endParaRPr sz="1100"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4" name="AutoShape 2"/>
          <p:cNvSpPr/>
          <p:nvPr/>
        </p:nvSpPr>
        <p:spPr>
          <a:xfrm>
            <a:off x="0" y="0"/>
            <a:ext cx="12188952" cy="6858000"/>
          </a:xfrm>
          <a:prstGeom prst="rect"/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048745" name="TextBox 3"/>
          <p:cNvSpPr txBox="1"/>
          <p:nvPr/>
        </p:nvSpPr>
        <p:spPr>
          <a:xfrm>
            <a:off x="457086" y="476250"/>
            <a:ext cx="11274781" cy="133350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none"/>
          <a:p>
            <a:pPr algn="l"/>
            <a:r>
              <a:rPr b="0" sz="900" i="0" lang="en-US" strike="noStrike"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Small Object Detection</a:t>
            </a:r>
            <a:endParaRPr sz="1100" lang="en-US"/>
          </a:p>
        </p:txBody>
      </p:sp>
      <p:sp>
        <p:nvSpPr>
          <p:cNvPr id="1048746" name="TextBox 4"/>
          <p:cNvSpPr txBox="1"/>
          <p:nvPr/>
        </p:nvSpPr>
        <p:spPr>
          <a:xfrm>
            <a:off x="457086" y="781050"/>
            <a:ext cx="11274781" cy="419100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none"/>
          <a:p>
            <a:pPr algn="l"/>
            <a:r>
              <a:rPr b="1" sz="3000" i="0" lang="en-US" strike="noStrike"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小目标检测核心挑战与主流优化技术</a:t>
            </a:r>
            <a:endParaRPr sz="1100" lang="en-US"/>
          </a:p>
        </p:txBody>
      </p:sp>
      <p:sp>
        <p:nvSpPr>
          <p:cNvPr id="1048747" name="AutoShape 5"/>
          <p:cNvSpPr/>
          <p:nvPr/>
        </p:nvSpPr>
        <p:spPr>
          <a:xfrm>
            <a:off x="457086" y="1352550"/>
            <a:ext cx="9522" cy="649486"/>
          </a:xfrm>
          <a:prstGeom prst="line"/>
          <a:ln w="9525">
            <a:solidFill>
              <a:srgbClr val="5B8CB8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1048748" name="TextBox 6"/>
          <p:cNvSpPr txBox="1"/>
          <p:nvPr/>
        </p:nvSpPr>
        <p:spPr>
          <a:xfrm>
            <a:off x="580880" y="1390650"/>
            <a:ext cx="11608072" cy="562868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square"/>
          <a:p>
            <a:pPr algn="l"/>
            <a:r>
              <a:rPr b="0" sz="1600" i="1" lang="en-US" strike="noStrike">
                <a:solidFill>
                  <a:srgbClr val="0A1F3D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无人机高空视角下车辆目标通常小于32×32像素，核心矛盾在于细节保留与计算效率的权衡。P2高分辨率检测头与空间信</a:t>
            </a:r>
            <a:endParaRPr sz="1100" lang="en-US"/>
          </a:p>
          <a:p>
            <a:pPr algn="l"/>
            <a:r>
              <a:rPr b="0" sz="1600" i="1" strike="noStrike">
                <a:solidFill>
                  <a:srgbClr val="0A1F3D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息保真下采样是当前最广泛采用的破局方案，能在控制参数量的同时显著提升微小目标召回率。</a:t>
            </a:r>
            <a:endParaRPr b="0" sz="1600" i="1" strike="noStrike">
              <a:solidFill>
                <a:srgbClr val="0A1F3D">
                  <a:alpha val="78039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048749" name="AutoShape 7"/>
          <p:cNvSpPr/>
          <p:nvPr/>
        </p:nvSpPr>
        <p:spPr>
          <a:xfrm>
            <a:off x="457086" y="2230636"/>
            <a:ext cx="3605799" cy="4170164"/>
          </a:xfrm>
          <a:prstGeom prst="rect"/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48750" name="AutoShape 8"/>
          <p:cNvSpPr/>
          <p:nvPr/>
        </p:nvSpPr>
        <p:spPr>
          <a:xfrm>
            <a:off x="457086" y="2230636"/>
            <a:ext cx="3605799" cy="9525"/>
          </a:xfrm>
          <a:prstGeom prst="line"/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48751" name="AutoShape 9"/>
          <p:cNvSpPr/>
          <p:nvPr/>
        </p:nvSpPr>
        <p:spPr>
          <a:xfrm>
            <a:off x="695151" y="2525911"/>
            <a:ext cx="438041" cy="438150"/>
          </a:xfrm>
          <a:custGeom>
            <a:avLst/>
            <a:ahLst/>
            <a:rect l="l" t="t" r="r" b="b"/>
            <a:pathLst>
              <a:path w="9998" h="10000">
                <a:moveTo>
                  <a:pt x="4545" y="0"/>
                </a:moveTo>
                <a:lnTo>
                  <a:pt x="5453" y="0"/>
                </a:lnTo>
                <a:lnTo>
                  <a:pt x="5453" y="1391"/>
                </a:lnTo>
                <a:cubicBezTo>
                  <a:pt x="5992" y="1457"/>
                  <a:pt x="6491" y="1636"/>
                  <a:pt x="6949" y="1927"/>
                </a:cubicBezTo>
                <a:cubicBezTo>
                  <a:pt x="7406" y="2218"/>
                  <a:pt x="7780" y="2592"/>
                  <a:pt x="8071" y="3050"/>
                </a:cubicBezTo>
                <a:cubicBezTo>
                  <a:pt x="8361" y="3507"/>
                  <a:pt x="8540" y="4005"/>
                  <a:pt x="8607" y="4545"/>
                </a:cubicBezTo>
                <a:lnTo>
                  <a:pt x="9998" y="4545"/>
                </a:lnTo>
                <a:lnTo>
                  <a:pt x="9998" y="5455"/>
                </a:lnTo>
                <a:lnTo>
                  <a:pt x="8607" y="5455"/>
                </a:lnTo>
                <a:cubicBezTo>
                  <a:pt x="8540" y="5994"/>
                  <a:pt x="8361" y="6492"/>
                  <a:pt x="8071" y="6950"/>
                </a:cubicBezTo>
                <a:cubicBezTo>
                  <a:pt x="7780" y="7407"/>
                  <a:pt x="7406" y="7781"/>
                  <a:pt x="6949" y="8073"/>
                </a:cubicBezTo>
                <a:cubicBezTo>
                  <a:pt x="6491" y="8363"/>
                  <a:pt x="5992" y="8542"/>
                  <a:pt x="5453" y="8609"/>
                </a:cubicBezTo>
                <a:lnTo>
                  <a:pt x="5453" y="10000"/>
                </a:lnTo>
                <a:lnTo>
                  <a:pt x="4545" y="10000"/>
                </a:lnTo>
                <a:lnTo>
                  <a:pt x="4545" y="8609"/>
                </a:lnTo>
                <a:cubicBezTo>
                  <a:pt x="4005" y="8542"/>
                  <a:pt x="3507" y="8363"/>
                  <a:pt x="3049" y="8073"/>
                </a:cubicBezTo>
                <a:cubicBezTo>
                  <a:pt x="2591" y="7781"/>
                  <a:pt x="2217" y="7407"/>
                  <a:pt x="1927" y="6950"/>
                </a:cubicBezTo>
                <a:cubicBezTo>
                  <a:pt x="1636" y="6492"/>
                  <a:pt x="1457" y="5994"/>
                  <a:pt x="1391" y="5455"/>
                </a:cubicBezTo>
                <a:lnTo>
                  <a:pt x="0" y="5455"/>
                </a:lnTo>
                <a:lnTo>
                  <a:pt x="0" y="4545"/>
                </a:lnTo>
                <a:lnTo>
                  <a:pt x="1391" y="4545"/>
                </a:lnTo>
                <a:cubicBezTo>
                  <a:pt x="1457" y="4005"/>
                  <a:pt x="1636" y="3507"/>
                  <a:pt x="1927" y="3050"/>
                </a:cubicBezTo>
                <a:cubicBezTo>
                  <a:pt x="2217" y="2592"/>
                  <a:pt x="2591" y="2218"/>
                  <a:pt x="3049" y="1927"/>
                </a:cubicBezTo>
                <a:cubicBezTo>
                  <a:pt x="3507" y="1636"/>
                  <a:pt x="4005" y="1457"/>
                  <a:pt x="4545" y="1391"/>
                </a:cubicBezTo>
                <a:lnTo>
                  <a:pt x="4545" y="0"/>
                </a:lnTo>
                <a:moveTo>
                  <a:pt x="4999" y="2273"/>
                </a:moveTo>
                <a:cubicBezTo>
                  <a:pt x="4508" y="2273"/>
                  <a:pt x="4051" y="2397"/>
                  <a:pt x="3627" y="2645"/>
                </a:cubicBezTo>
                <a:cubicBezTo>
                  <a:pt x="3214" y="2887"/>
                  <a:pt x="2887" y="3215"/>
                  <a:pt x="2645" y="3627"/>
                </a:cubicBezTo>
                <a:cubicBezTo>
                  <a:pt x="2396" y="4051"/>
                  <a:pt x="2272" y="4509"/>
                  <a:pt x="2272" y="5000"/>
                </a:cubicBezTo>
                <a:cubicBezTo>
                  <a:pt x="2272" y="5490"/>
                  <a:pt x="2396" y="5948"/>
                  <a:pt x="2645" y="6373"/>
                </a:cubicBezTo>
                <a:cubicBezTo>
                  <a:pt x="2887" y="6785"/>
                  <a:pt x="3214" y="7112"/>
                  <a:pt x="3627" y="7355"/>
                </a:cubicBezTo>
                <a:cubicBezTo>
                  <a:pt x="4051" y="7603"/>
                  <a:pt x="4508" y="7727"/>
                  <a:pt x="4999" y="7727"/>
                </a:cubicBezTo>
                <a:cubicBezTo>
                  <a:pt x="5489" y="7727"/>
                  <a:pt x="5947" y="7603"/>
                  <a:pt x="6371" y="7355"/>
                </a:cubicBezTo>
                <a:cubicBezTo>
                  <a:pt x="6783" y="7112"/>
                  <a:pt x="7111" y="6785"/>
                  <a:pt x="7353" y="6373"/>
                </a:cubicBezTo>
                <a:cubicBezTo>
                  <a:pt x="7601" y="5948"/>
                  <a:pt x="7726" y="5490"/>
                  <a:pt x="7726" y="5000"/>
                </a:cubicBezTo>
                <a:cubicBezTo>
                  <a:pt x="7726" y="4509"/>
                  <a:pt x="7601" y="4051"/>
                  <a:pt x="7353" y="3627"/>
                </a:cubicBezTo>
                <a:cubicBezTo>
                  <a:pt x="7111" y="3215"/>
                  <a:pt x="6783" y="2887"/>
                  <a:pt x="6371" y="2645"/>
                </a:cubicBezTo>
                <a:cubicBezTo>
                  <a:pt x="5947" y="2397"/>
                  <a:pt x="5489" y="2273"/>
                  <a:pt x="4999" y="2273"/>
                </a:cubicBezTo>
                <a:moveTo>
                  <a:pt x="4999" y="4091"/>
                </a:moveTo>
                <a:cubicBezTo>
                  <a:pt x="5162" y="4091"/>
                  <a:pt x="5313" y="4132"/>
                  <a:pt x="5453" y="4214"/>
                </a:cubicBezTo>
                <a:cubicBezTo>
                  <a:pt x="5593" y="4295"/>
                  <a:pt x="5703" y="4405"/>
                  <a:pt x="5785" y="4545"/>
                </a:cubicBezTo>
                <a:cubicBezTo>
                  <a:pt x="5867" y="4685"/>
                  <a:pt x="5908" y="4836"/>
                  <a:pt x="5908" y="5000"/>
                </a:cubicBezTo>
                <a:cubicBezTo>
                  <a:pt x="5908" y="5163"/>
                  <a:pt x="5867" y="5315"/>
                  <a:pt x="5785" y="5455"/>
                </a:cubicBezTo>
                <a:cubicBezTo>
                  <a:pt x="5703" y="5594"/>
                  <a:pt x="5593" y="5704"/>
                  <a:pt x="5453" y="5786"/>
                </a:cubicBezTo>
                <a:cubicBezTo>
                  <a:pt x="5313" y="5868"/>
                  <a:pt x="5162" y="5909"/>
                  <a:pt x="4999" y="5909"/>
                </a:cubicBezTo>
                <a:cubicBezTo>
                  <a:pt x="4835" y="5909"/>
                  <a:pt x="4684" y="5868"/>
                  <a:pt x="4545" y="5786"/>
                </a:cubicBezTo>
                <a:cubicBezTo>
                  <a:pt x="4405" y="5704"/>
                  <a:pt x="4294" y="5594"/>
                  <a:pt x="4213" y="5455"/>
                </a:cubicBezTo>
                <a:cubicBezTo>
                  <a:pt x="4131" y="5315"/>
                  <a:pt x="4090" y="5163"/>
                  <a:pt x="4090" y="5000"/>
                </a:cubicBezTo>
                <a:cubicBezTo>
                  <a:pt x="4090" y="4836"/>
                  <a:pt x="4131" y="4685"/>
                  <a:pt x="4213" y="4545"/>
                </a:cubicBezTo>
                <a:cubicBezTo>
                  <a:pt x="4294" y="4405"/>
                  <a:pt x="4405" y="4295"/>
                  <a:pt x="4545" y="4214"/>
                </a:cubicBezTo>
                <a:cubicBezTo>
                  <a:pt x="4684" y="4132"/>
                  <a:pt x="4835" y="4091"/>
                  <a:pt x="4999" y="4091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048752" name="TextBox 10"/>
          <p:cNvSpPr txBox="1"/>
          <p:nvPr/>
        </p:nvSpPr>
        <p:spPr>
          <a:xfrm>
            <a:off x="695151" y="3780532"/>
            <a:ext cx="3129669" cy="257175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none"/>
          <a:p>
            <a:pPr algn="l"/>
            <a:r>
              <a:rPr b="1" sz="1800" i="0" lang="en-US" strike="noStrike"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P2高分辨率检测头</a:t>
            </a:r>
            <a:endParaRPr sz="1100" lang="en-US"/>
          </a:p>
        </p:txBody>
      </p:sp>
      <p:sp>
        <p:nvSpPr>
          <p:cNvPr id="1048753" name="TextBox 11"/>
          <p:cNvSpPr txBox="1"/>
          <p:nvPr/>
        </p:nvSpPr>
        <p:spPr>
          <a:xfrm>
            <a:off x="695151" y="4209157"/>
            <a:ext cx="3367734" cy="649486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square"/>
          <a:p>
            <a:pPr algn="l"/>
            <a:r>
              <a:rPr b="0" sz="1200" i="0" lang="en-US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处理骨干网络早期特征图，空间分辨率多保留</a:t>
            </a:r>
            <a:endParaRPr sz="1100" lang="en-US"/>
          </a:p>
          <a:p>
            <a:pPr algn="l"/>
            <a:r>
              <a:rPr b="0" sz="120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一倍，LE-YOLO借此在VisDrone上mAP50提</a:t>
            </a:r>
            <a:endParaRPr b="0" sz="1200" i="0" strike="noStrike">
              <a:solidFill>
                <a:srgbClr val="0A1F3D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  <a:p>
            <a:pPr algn="l"/>
            <a:r>
              <a:rPr b="0" sz="120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升2.1%且参数量减少24.9%</a:t>
            </a:r>
            <a:endParaRPr b="0" sz="1200" i="0" strike="noStrike">
              <a:solidFill>
                <a:srgbClr val="0A1F3D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048754" name="AutoShape 12"/>
          <p:cNvSpPr/>
          <p:nvPr/>
        </p:nvSpPr>
        <p:spPr>
          <a:xfrm>
            <a:off x="695151" y="5709345"/>
            <a:ext cx="3129669" cy="9525"/>
          </a:xfrm>
          <a:prstGeom prst="line"/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48755" name="TextBox 13"/>
          <p:cNvSpPr txBox="1"/>
          <p:nvPr/>
        </p:nvSpPr>
        <p:spPr>
          <a:xfrm>
            <a:off x="695151" y="5842695"/>
            <a:ext cx="3129669" cy="285750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none"/>
          <a:p>
            <a:pPr algn="l"/>
            <a:r>
              <a:rPr b="1" sz="1900" i="0" lang="en-US" strike="noStrike"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mAP50 +2.1%</a:t>
            </a:r>
            <a:endParaRPr sz="1100" lang="en-US"/>
          </a:p>
        </p:txBody>
      </p:sp>
      <p:sp>
        <p:nvSpPr>
          <p:cNvPr id="1048756" name="AutoShape 14"/>
          <p:cNvSpPr/>
          <p:nvPr/>
        </p:nvSpPr>
        <p:spPr>
          <a:xfrm>
            <a:off x="4291428" y="2230636"/>
            <a:ext cx="3605948" cy="4170164"/>
          </a:xfrm>
          <a:prstGeom prst="rect"/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48757" name="AutoShape 15"/>
          <p:cNvSpPr/>
          <p:nvPr/>
        </p:nvSpPr>
        <p:spPr>
          <a:xfrm>
            <a:off x="4291428" y="2230636"/>
            <a:ext cx="3605948" cy="9525"/>
          </a:xfrm>
          <a:prstGeom prst="line"/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48758" name="AutoShape 16"/>
          <p:cNvSpPr/>
          <p:nvPr/>
        </p:nvSpPr>
        <p:spPr>
          <a:xfrm>
            <a:off x="4529493" y="2525911"/>
            <a:ext cx="438041" cy="438150"/>
          </a:xfrm>
          <a:custGeom>
            <a:avLst/>
            <a:ahLst/>
            <a:rect l="l" t="t" r="r" b="b"/>
            <a:pathLst>
              <a:path w="9998" h="10000">
                <a:moveTo>
                  <a:pt x="6110" y="6111"/>
                </a:moveTo>
                <a:lnTo>
                  <a:pt x="6110" y="3889"/>
                </a:lnTo>
                <a:lnTo>
                  <a:pt x="3888" y="3889"/>
                </a:lnTo>
                <a:lnTo>
                  <a:pt x="3888" y="6111"/>
                </a:lnTo>
                <a:lnTo>
                  <a:pt x="6110" y="6111"/>
                </a:lnTo>
                <a:moveTo>
                  <a:pt x="8887" y="3889"/>
                </a:moveTo>
                <a:lnTo>
                  <a:pt x="7221" y="3889"/>
                </a:lnTo>
                <a:lnTo>
                  <a:pt x="7221" y="6111"/>
                </a:lnTo>
                <a:lnTo>
                  <a:pt x="8887" y="6111"/>
                </a:lnTo>
                <a:lnTo>
                  <a:pt x="8887" y="3889"/>
                </a:lnTo>
                <a:moveTo>
                  <a:pt x="3888" y="8889"/>
                </a:moveTo>
                <a:lnTo>
                  <a:pt x="6110" y="8889"/>
                </a:lnTo>
                <a:lnTo>
                  <a:pt x="6110" y="7222"/>
                </a:lnTo>
                <a:lnTo>
                  <a:pt x="3888" y="7222"/>
                </a:lnTo>
                <a:lnTo>
                  <a:pt x="3888" y="8889"/>
                </a:lnTo>
                <a:moveTo>
                  <a:pt x="7221" y="7222"/>
                </a:moveTo>
                <a:lnTo>
                  <a:pt x="7221" y="8889"/>
                </a:lnTo>
                <a:lnTo>
                  <a:pt x="8887" y="8889"/>
                </a:lnTo>
                <a:lnTo>
                  <a:pt x="8887" y="7222"/>
                </a:lnTo>
                <a:lnTo>
                  <a:pt x="7221" y="7222"/>
                </a:lnTo>
                <a:moveTo>
                  <a:pt x="6110" y="2778"/>
                </a:moveTo>
                <a:lnTo>
                  <a:pt x="6110" y="1111"/>
                </a:lnTo>
                <a:lnTo>
                  <a:pt x="3888" y="1111"/>
                </a:lnTo>
                <a:lnTo>
                  <a:pt x="3888" y="2778"/>
                </a:lnTo>
                <a:lnTo>
                  <a:pt x="6110" y="2778"/>
                </a:lnTo>
                <a:moveTo>
                  <a:pt x="8887" y="1111"/>
                </a:moveTo>
                <a:lnTo>
                  <a:pt x="7221" y="1111"/>
                </a:lnTo>
                <a:lnTo>
                  <a:pt x="7221" y="2778"/>
                </a:lnTo>
                <a:lnTo>
                  <a:pt x="8887" y="2778"/>
                </a:lnTo>
                <a:lnTo>
                  <a:pt x="8887" y="1111"/>
                </a:lnTo>
                <a:moveTo>
                  <a:pt x="2777" y="6111"/>
                </a:moveTo>
                <a:lnTo>
                  <a:pt x="2777" y="3889"/>
                </a:lnTo>
                <a:lnTo>
                  <a:pt x="1111" y="3889"/>
                </a:lnTo>
                <a:lnTo>
                  <a:pt x="1111" y="6111"/>
                </a:lnTo>
                <a:lnTo>
                  <a:pt x="2777" y="6111"/>
                </a:lnTo>
                <a:moveTo>
                  <a:pt x="1111" y="8889"/>
                </a:moveTo>
                <a:lnTo>
                  <a:pt x="2777" y="8889"/>
                </a:lnTo>
                <a:lnTo>
                  <a:pt x="2777" y="7222"/>
                </a:lnTo>
                <a:lnTo>
                  <a:pt x="1111" y="7222"/>
                </a:lnTo>
                <a:lnTo>
                  <a:pt x="1111" y="8889"/>
                </a:lnTo>
                <a:moveTo>
                  <a:pt x="2777" y="2778"/>
                </a:moveTo>
                <a:lnTo>
                  <a:pt x="2777" y="1111"/>
                </a:lnTo>
                <a:lnTo>
                  <a:pt x="1111" y="1111"/>
                </a:lnTo>
                <a:lnTo>
                  <a:pt x="1111" y="2778"/>
                </a:lnTo>
                <a:lnTo>
                  <a:pt x="2777" y="2778"/>
                </a:lnTo>
                <a:moveTo>
                  <a:pt x="555" y="0"/>
                </a:moveTo>
                <a:lnTo>
                  <a:pt x="9443" y="0"/>
                </a:lnTo>
                <a:cubicBezTo>
                  <a:pt x="9598" y="0"/>
                  <a:pt x="9729" y="53"/>
                  <a:pt x="9837" y="161"/>
                </a:cubicBezTo>
                <a:cubicBezTo>
                  <a:pt x="9944" y="268"/>
                  <a:pt x="9998" y="400"/>
                  <a:pt x="9998" y="556"/>
                </a:cubicBezTo>
                <a:lnTo>
                  <a:pt x="9998" y="9444"/>
                </a:lnTo>
                <a:cubicBezTo>
                  <a:pt x="9998" y="9600"/>
                  <a:pt x="9944" y="9731"/>
                  <a:pt x="9837" y="9839"/>
                </a:cubicBezTo>
                <a:cubicBezTo>
                  <a:pt x="9729" y="9946"/>
                  <a:pt x="9598" y="10000"/>
                  <a:pt x="9443" y="10000"/>
                </a:cubicBezTo>
                <a:lnTo>
                  <a:pt x="555" y="10000"/>
                </a:lnTo>
                <a:cubicBezTo>
                  <a:pt x="399" y="10000"/>
                  <a:pt x="268" y="9946"/>
                  <a:pt x="161" y="9839"/>
                </a:cubicBezTo>
                <a:cubicBezTo>
                  <a:pt x="53" y="9731"/>
                  <a:pt x="0" y="9600"/>
                  <a:pt x="0" y="9444"/>
                </a:cubicBezTo>
                <a:lnTo>
                  <a:pt x="0" y="556"/>
                </a:lnTo>
                <a:cubicBezTo>
                  <a:pt x="0" y="400"/>
                  <a:pt x="53" y="268"/>
                  <a:pt x="161" y="161"/>
                </a:cubicBezTo>
                <a:cubicBezTo>
                  <a:pt x="268" y="53"/>
                  <a:pt x="399" y="0"/>
                  <a:pt x="555" y="0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048759" name="TextBox 17"/>
          <p:cNvSpPr txBox="1"/>
          <p:nvPr/>
        </p:nvSpPr>
        <p:spPr>
          <a:xfrm>
            <a:off x="4529493" y="3780532"/>
            <a:ext cx="3129817" cy="257175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none"/>
          <a:p>
            <a:pPr algn="l"/>
            <a:r>
              <a:rPr b="1" sz="1800" i="0" lang="en-US" strike="noStrike"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空间信息保真下采样</a:t>
            </a:r>
            <a:endParaRPr sz="1100" lang="en-US"/>
          </a:p>
        </p:txBody>
      </p:sp>
      <p:sp>
        <p:nvSpPr>
          <p:cNvPr id="1048760" name="TextBox 18"/>
          <p:cNvSpPr txBox="1"/>
          <p:nvPr/>
        </p:nvSpPr>
        <p:spPr>
          <a:xfrm>
            <a:off x="4529493" y="4209157"/>
            <a:ext cx="3367883" cy="649486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square"/>
          <a:p>
            <a:pPr algn="l"/>
            <a:r>
              <a:rPr b="0" sz="1200" i="0" lang="en-US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SPD-Conv通过空间到深度变换替代步长卷</a:t>
            </a:r>
            <a:endParaRPr sz="1100" lang="en-US"/>
          </a:p>
          <a:p>
            <a:pPr algn="l"/>
            <a:r>
              <a:rPr b="0" sz="120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积，避免小目标信息在下采样过程中发生不可</a:t>
            </a:r>
            <a:endParaRPr b="0" sz="1200" i="0" strike="noStrike">
              <a:solidFill>
                <a:srgbClr val="0A1F3D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  <a:p>
            <a:pPr algn="l"/>
            <a:r>
              <a:rPr b="0" sz="120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逆丢失，显著提升极小目标精度</a:t>
            </a:r>
            <a:endParaRPr b="0" sz="1200" i="0" strike="noStrike">
              <a:solidFill>
                <a:srgbClr val="0A1F3D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048761" name="AutoShape 19"/>
          <p:cNvSpPr/>
          <p:nvPr/>
        </p:nvSpPr>
        <p:spPr>
          <a:xfrm>
            <a:off x="4529493" y="5709345"/>
            <a:ext cx="3129817" cy="9525"/>
          </a:xfrm>
          <a:prstGeom prst="line"/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48762" name="TextBox 20"/>
          <p:cNvSpPr txBox="1"/>
          <p:nvPr/>
        </p:nvSpPr>
        <p:spPr>
          <a:xfrm>
            <a:off x="4529493" y="5842695"/>
            <a:ext cx="3129817" cy="285750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none"/>
          <a:p>
            <a:pPr algn="l"/>
            <a:r>
              <a:rPr b="1" sz="1900" i="0" lang="en-US" strike="noStrike"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SPD-Conv</a:t>
            </a:r>
            <a:endParaRPr sz="1100" lang="en-US"/>
          </a:p>
        </p:txBody>
      </p:sp>
      <p:sp>
        <p:nvSpPr>
          <p:cNvPr id="1048763" name="AutoShape 21"/>
          <p:cNvSpPr/>
          <p:nvPr/>
        </p:nvSpPr>
        <p:spPr>
          <a:xfrm>
            <a:off x="8125918" y="2230636"/>
            <a:ext cx="3605799" cy="4170164"/>
          </a:xfrm>
          <a:prstGeom prst="rect"/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48764" name="AutoShape 22"/>
          <p:cNvSpPr/>
          <p:nvPr/>
        </p:nvSpPr>
        <p:spPr>
          <a:xfrm>
            <a:off x="8125918" y="2230636"/>
            <a:ext cx="3605799" cy="9525"/>
          </a:xfrm>
          <a:prstGeom prst="line"/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48765" name="AutoShape 23"/>
          <p:cNvSpPr/>
          <p:nvPr/>
        </p:nvSpPr>
        <p:spPr>
          <a:xfrm>
            <a:off x="8363984" y="2525911"/>
            <a:ext cx="438041" cy="438150"/>
          </a:xfrm>
          <a:custGeom>
            <a:avLst/>
            <a:ahLst/>
            <a:rect l="l" t="t" r="r" b="b"/>
            <a:pathLst>
              <a:path w="9998" h="10000">
                <a:moveTo>
                  <a:pt x="5244" y="919"/>
                </a:moveTo>
                <a:lnTo>
                  <a:pt x="4689" y="1789"/>
                </a:lnTo>
                <a:cubicBezTo>
                  <a:pt x="4167" y="1650"/>
                  <a:pt x="3670" y="1577"/>
                  <a:pt x="3198" y="1571"/>
                </a:cubicBezTo>
                <a:cubicBezTo>
                  <a:pt x="2726" y="1564"/>
                  <a:pt x="2317" y="1627"/>
                  <a:pt x="1969" y="1759"/>
                </a:cubicBezTo>
                <a:cubicBezTo>
                  <a:pt x="1621" y="1891"/>
                  <a:pt x="1367" y="2085"/>
                  <a:pt x="1208" y="2342"/>
                </a:cubicBezTo>
                <a:cubicBezTo>
                  <a:pt x="990" y="2671"/>
                  <a:pt x="955" y="3073"/>
                  <a:pt x="1104" y="3547"/>
                </a:cubicBezTo>
                <a:cubicBezTo>
                  <a:pt x="1252" y="4021"/>
                  <a:pt x="1552" y="4492"/>
                  <a:pt x="2002" y="4960"/>
                </a:cubicBezTo>
                <a:cubicBezTo>
                  <a:pt x="2480" y="5454"/>
                  <a:pt x="3062" y="5881"/>
                  <a:pt x="3748" y="6240"/>
                </a:cubicBezTo>
                <a:cubicBezTo>
                  <a:pt x="4433" y="6599"/>
                  <a:pt x="5131" y="6841"/>
                  <a:pt x="5842" y="6966"/>
                </a:cubicBezTo>
                <a:cubicBezTo>
                  <a:pt x="6516" y="7091"/>
                  <a:pt x="7115" y="7093"/>
                  <a:pt x="7637" y="6971"/>
                </a:cubicBezTo>
                <a:cubicBezTo>
                  <a:pt x="8159" y="6849"/>
                  <a:pt x="8526" y="6624"/>
                  <a:pt x="8736" y="6294"/>
                </a:cubicBezTo>
                <a:cubicBezTo>
                  <a:pt x="8902" y="6037"/>
                  <a:pt x="8960" y="5739"/>
                  <a:pt x="8910" y="5400"/>
                </a:cubicBezTo>
                <a:cubicBezTo>
                  <a:pt x="8859" y="5060"/>
                  <a:pt x="8714" y="4706"/>
                  <a:pt x="8475" y="4338"/>
                </a:cubicBezTo>
                <a:cubicBezTo>
                  <a:pt x="8235" y="3969"/>
                  <a:pt x="7916" y="3613"/>
                  <a:pt x="7518" y="3271"/>
                </a:cubicBezTo>
                <a:lnTo>
                  <a:pt x="8072" y="2401"/>
                </a:lnTo>
                <a:cubicBezTo>
                  <a:pt x="8630" y="2849"/>
                  <a:pt x="9078" y="3331"/>
                  <a:pt x="9416" y="3849"/>
                </a:cubicBezTo>
                <a:cubicBezTo>
                  <a:pt x="9753" y="4366"/>
                  <a:pt x="9947" y="4875"/>
                  <a:pt x="9998" y="5375"/>
                </a:cubicBezTo>
                <a:cubicBezTo>
                  <a:pt x="10056" y="5895"/>
                  <a:pt x="9951" y="6367"/>
                  <a:pt x="9683" y="6789"/>
                </a:cubicBezTo>
                <a:cubicBezTo>
                  <a:pt x="9356" y="7302"/>
                  <a:pt x="8837" y="7664"/>
                  <a:pt x="8127" y="7875"/>
                </a:cubicBezTo>
                <a:cubicBezTo>
                  <a:pt x="7445" y="8073"/>
                  <a:pt x="6665" y="8104"/>
                  <a:pt x="5788" y="7969"/>
                </a:cubicBezTo>
                <a:cubicBezTo>
                  <a:pt x="4910" y="7834"/>
                  <a:pt x="4048" y="7544"/>
                  <a:pt x="3204" y="7100"/>
                </a:cubicBezTo>
                <a:cubicBezTo>
                  <a:pt x="2359" y="6655"/>
                  <a:pt x="1652" y="6121"/>
                  <a:pt x="1082" y="5499"/>
                </a:cubicBezTo>
                <a:cubicBezTo>
                  <a:pt x="512" y="4876"/>
                  <a:pt x="152" y="4249"/>
                  <a:pt x="0" y="3617"/>
                </a:cubicBezTo>
                <a:cubicBezTo>
                  <a:pt x="-159" y="2951"/>
                  <a:pt x="-72" y="2362"/>
                  <a:pt x="261" y="1848"/>
                </a:cubicBezTo>
                <a:cubicBezTo>
                  <a:pt x="529" y="1426"/>
                  <a:pt x="925" y="1106"/>
                  <a:pt x="1447" y="889"/>
                </a:cubicBezTo>
                <a:cubicBezTo>
                  <a:pt x="1947" y="678"/>
                  <a:pt x="2529" y="576"/>
                  <a:pt x="3193" y="583"/>
                </a:cubicBezTo>
                <a:cubicBezTo>
                  <a:pt x="3856" y="589"/>
                  <a:pt x="4540" y="701"/>
                  <a:pt x="5244" y="919"/>
                </a:cubicBezTo>
                <a:moveTo>
                  <a:pt x="4363" y="4279"/>
                </a:moveTo>
                <a:lnTo>
                  <a:pt x="7082" y="0"/>
                </a:lnTo>
                <a:lnTo>
                  <a:pt x="8029" y="494"/>
                </a:lnTo>
                <a:lnTo>
                  <a:pt x="5309" y="4773"/>
                </a:lnTo>
                <a:lnTo>
                  <a:pt x="4363" y="4279"/>
                </a:lnTo>
                <a:moveTo>
                  <a:pt x="2861" y="7826"/>
                </a:moveTo>
                <a:lnTo>
                  <a:pt x="2111" y="9012"/>
                </a:lnTo>
                <a:lnTo>
                  <a:pt x="7692" y="9012"/>
                </a:lnTo>
                <a:lnTo>
                  <a:pt x="7692" y="10000"/>
                </a:lnTo>
                <a:lnTo>
                  <a:pt x="1175" y="10000"/>
                </a:lnTo>
                <a:cubicBezTo>
                  <a:pt x="1131" y="10000"/>
                  <a:pt x="1088" y="9996"/>
                  <a:pt x="1044" y="9990"/>
                </a:cubicBezTo>
                <a:lnTo>
                  <a:pt x="1023" y="9980"/>
                </a:lnTo>
                <a:cubicBezTo>
                  <a:pt x="979" y="9966"/>
                  <a:pt x="935" y="9950"/>
                  <a:pt x="892" y="9931"/>
                </a:cubicBezTo>
                <a:lnTo>
                  <a:pt x="849" y="9901"/>
                </a:lnTo>
                <a:cubicBezTo>
                  <a:pt x="783" y="9861"/>
                  <a:pt x="731" y="9810"/>
                  <a:pt x="691" y="9748"/>
                </a:cubicBezTo>
                <a:cubicBezTo>
                  <a:pt x="651" y="9685"/>
                  <a:pt x="627" y="9621"/>
                  <a:pt x="620" y="9555"/>
                </a:cubicBezTo>
                <a:lnTo>
                  <a:pt x="620" y="9545"/>
                </a:lnTo>
                <a:cubicBezTo>
                  <a:pt x="612" y="9439"/>
                  <a:pt x="638" y="9344"/>
                  <a:pt x="696" y="9259"/>
                </a:cubicBezTo>
                <a:lnTo>
                  <a:pt x="1915" y="7332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048766" name="TextBox 24"/>
          <p:cNvSpPr txBox="1"/>
          <p:nvPr/>
        </p:nvSpPr>
        <p:spPr>
          <a:xfrm>
            <a:off x="8363984" y="3780532"/>
            <a:ext cx="3129669" cy="257175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none"/>
          <a:p>
            <a:pPr algn="l"/>
            <a:r>
              <a:rPr b="1" sz="1800" i="0" lang="en-US" strike="noStrike"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多尺度特征与注意力增强</a:t>
            </a:r>
            <a:endParaRPr sz="1100" lang="en-US"/>
          </a:p>
        </p:txBody>
      </p:sp>
      <p:sp>
        <p:nvSpPr>
          <p:cNvPr id="1048767" name="TextBox 25"/>
          <p:cNvSpPr txBox="1"/>
          <p:nvPr/>
        </p:nvSpPr>
        <p:spPr>
          <a:xfrm>
            <a:off x="8363984" y="4209157"/>
            <a:ext cx="3367734" cy="649486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square"/>
          <a:p>
            <a:pPr algn="l"/>
            <a:r>
              <a:rPr b="0" sz="1200" i="0" lang="en-US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MS-YOLO引入多尺度通道与空间注意力模块</a:t>
            </a:r>
            <a:endParaRPr sz="1100" lang="en-US"/>
          </a:p>
          <a:p>
            <a:pPr algn="l"/>
            <a:r>
              <a:rPr b="0" sz="120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（MSCSA），结合P2检测头增强浅层高分辨率</a:t>
            </a:r>
            <a:endParaRPr b="0" sz="1200" i="0" strike="noStrike">
              <a:solidFill>
                <a:srgbClr val="0A1F3D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  <a:p>
            <a:pPr algn="l"/>
            <a:r>
              <a:rPr b="0" sz="120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特征利用，有效应对高空小尺度目标</a:t>
            </a:r>
            <a:endParaRPr b="0" sz="1200" i="0" strike="noStrike">
              <a:solidFill>
                <a:srgbClr val="0A1F3D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048768" name="AutoShape 26"/>
          <p:cNvSpPr/>
          <p:nvPr/>
        </p:nvSpPr>
        <p:spPr>
          <a:xfrm>
            <a:off x="8363984" y="5709345"/>
            <a:ext cx="3129669" cy="9525"/>
          </a:xfrm>
          <a:prstGeom prst="line"/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48769" name="TextBox 27"/>
          <p:cNvSpPr txBox="1"/>
          <p:nvPr/>
        </p:nvSpPr>
        <p:spPr>
          <a:xfrm>
            <a:off x="8363984" y="5842695"/>
            <a:ext cx="3129669" cy="285750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none"/>
          <a:p>
            <a:pPr algn="l"/>
            <a:r>
              <a:rPr b="1" sz="1900" i="0" lang="en-US" strike="noStrike"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MSCSA</a:t>
            </a:r>
            <a:endParaRPr sz="1100"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6" name="AutoShape 2"/>
          <p:cNvSpPr/>
          <p:nvPr/>
        </p:nvSpPr>
        <p:spPr>
          <a:xfrm>
            <a:off x="0" y="0"/>
            <a:ext cx="12188952" cy="6858000"/>
          </a:xfrm>
          <a:prstGeom prst="rect"/>
          <a:solidFill>
            <a:srgbClr val="E0E0E0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048777" name="AutoShape 3"/>
          <p:cNvSpPr/>
          <p:nvPr/>
        </p:nvSpPr>
        <p:spPr>
          <a:xfrm>
            <a:off x="0" y="0"/>
            <a:ext cx="12188952" cy="6858000"/>
          </a:xfrm>
          <a:prstGeom prst="rect"/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048778" name="TextBox 4"/>
          <p:cNvSpPr txBox="1"/>
          <p:nvPr/>
        </p:nvSpPr>
        <p:spPr>
          <a:xfrm>
            <a:off x="457086" y="476250"/>
            <a:ext cx="11274781" cy="133350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none"/>
          <a:p>
            <a:pPr algn="l"/>
            <a:r>
              <a:rPr b="0" sz="900" i="0" lang="en-US" strike="noStrike"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DENSE OCCLUSION OPTIMIZATION</a:t>
            </a:r>
            <a:endParaRPr sz="1100" lang="en-US"/>
          </a:p>
        </p:txBody>
      </p:sp>
      <p:sp>
        <p:nvSpPr>
          <p:cNvPr id="1048779" name="TextBox 5"/>
          <p:cNvSpPr txBox="1"/>
          <p:nvPr/>
        </p:nvSpPr>
        <p:spPr>
          <a:xfrm>
            <a:off x="457086" y="781050"/>
            <a:ext cx="11274781" cy="419100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none"/>
          <a:p>
            <a:pPr algn="l"/>
            <a:r>
              <a:rPr b="1" sz="3000" i="0" lang="en-US" strike="noStrike"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密集遮挡判别优化与DroneVehicle效果验证</a:t>
            </a:r>
            <a:endParaRPr sz="1100" lang="en-US"/>
          </a:p>
        </p:txBody>
      </p:sp>
      <p:sp>
        <p:nvSpPr>
          <p:cNvPr id="1048780" name="AutoShape 6"/>
          <p:cNvSpPr/>
          <p:nvPr/>
        </p:nvSpPr>
        <p:spPr>
          <a:xfrm>
            <a:off x="457086" y="1390650"/>
            <a:ext cx="9522" cy="649486"/>
          </a:xfrm>
          <a:prstGeom prst="line"/>
          <a:ln w="9525">
            <a:solidFill>
              <a:srgbClr val="5B8CB8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1048781" name="TextBox 7"/>
          <p:cNvSpPr txBox="1"/>
          <p:nvPr/>
        </p:nvSpPr>
        <p:spPr>
          <a:xfrm>
            <a:off x="580880" y="1428750"/>
            <a:ext cx="11608072" cy="562868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square"/>
          <a:p>
            <a:pPr algn="l"/>
            <a:r>
              <a:rPr b="0" sz="1600" i="1" lang="en-US" strike="noStrike">
                <a:solidFill>
                  <a:srgbClr val="0A1F3D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针对密集遮挡场景，需从训练分配、损失函数到后处理进行协同改进。结合小目标优化技术，模型在DroneVehicle数据集</a:t>
            </a:r>
            <a:endParaRPr sz="1100" lang="en-US"/>
          </a:p>
          <a:p>
            <a:pPr algn="l"/>
            <a:r>
              <a:rPr b="0" sz="1600" i="1" strike="noStrike">
                <a:solidFill>
                  <a:srgbClr val="0A1F3D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上实现了精度与效率的双重提升，验证了专项优化在复杂工况下的有效性。</a:t>
            </a:r>
            <a:endParaRPr b="0" sz="1600" i="1" strike="noStrike">
              <a:solidFill>
                <a:srgbClr val="0A1F3D">
                  <a:alpha val="78039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048782" name="AutoShape 8"/>
          <p:cNvSpPr/>
          <p:nvPr/>
        </p:nvSpPr>
        <p:spPr>
          <a:xfrm>
            <a:off x="457086" y="2268736"/>
            <a:ext cx="3605799" cy="4132064"/>
          </a:xfrm>
          <a:prstGeom prst="rect"/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48783" name="AutoShape 9"/>
          <p:cNvSpPr/>
          <p:nvPr/>
        </p:nvSpPr>
        <p:spPr>
          <a:xfrm>
            <a:off x="457086" y="2268736"/>
            <a:ext cx="3605799" cy="9525"/>
          </a:xfrm>
          <a:prstGeom prst="line"/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48784" name="AutoShape 10"/>
          <p:cNvSpPr/>
          <p:nvPr/>
        </p:nvSpPr>
        <p:spPr>
          <a:xfrm>
            <a:off x="695151" y="2564011"/>
            <a:ext cx="418996" cy="419100"/>
          </a:xfrm>
          <a:custGeom>
            <a:avLst/>
            <a:ahLst/>
            <a:rect l="l" t="t" r="r" b="b"/>
            <a:pathLst>
              <a:path w="9998" h="10000">
                <a:moveTo>
                  <a:pt x="0" y="8000"/>
                </a:moveTo>
                <a:lnTo>
                  <a:pt x="2090" y="8000"/>
                </a:lnTo>
                <a:cubicBezTo>
                  <a:pt x="2190" y="7706"/>
                  <a:pt x="2369" y="7466"/>
                  <a:pt x="2629" y="7280"/>
                </a:cubicBezTo>
                <a:cubicBezTo>
                  <a:pt x="2889" y="7093"/>
                  <a:pt x="3179" y="7000"/>
                  <a:pt x="3499" y="7000"/>
                </a:cubicBezTo>
                <a:cubicBezTo>
                  <a:pt x="3819" y="7000"/>
                  <a:pt x="4109" y="7093"/>
                  <a:pt x="4369" y="7280"/>
                </a:cubicBezTo>
                <a:cubicBezTo>
                  <a:pt x="4629" y="7466"/>
                  <a:pt x="4809" y="7706"/>
                  <a:pt x="4909" y="8000"/>
                </a:cubicBezTo>
                <a:lnTo>
                  <a:pt x="9998" y="8000"/>
                </a:lnTo>
                <a:lnTo>
                  <a:pt x="9998" y="9000"/>
                </a:lnTo>
                <a:lnTo>
                  <a:pt x="4909" y="9000"/>
                </a:lnTo>
                <a:cubicBezTo>
                  <a:pt x="4809" y="9293"/>
                  <a:pt x="4629" y="9533"/>
                  <a:pt x="4369" y="9720"/>
                </a:cubicBezTo>
                <a:cubicBezTo>
                  <a:pt x="4109" y="9906"/>
                  <a:pt x="3819" y="10000"/>
                  <a:pt x="3499" y="10000"/>
                </a:cubicBezTo>
                <a:cubicBezTo>
                  <a:pt x="3179" y="10000"/>
                  <a:pt x="2889" y="9906"/>
                  <a:pt x="2629" y="9720"/>
                </a:cubicBezTo>
                <a:cubicBezTo>
                  <a:pt x="2369" y="9533"/>
                  <a:pt x="2190" y="9293"/>
                  <a:pt x="2090" y="9000"/>
                </a:cubicBezTo>
                <a:lnTo>
                  <a:pt x="0" y="9000"/>
                </a:lnTo>
                <a:lnTo>
                  <a:pt x="0" y="8000"/>
                </a:lnTo>
                <a:moveTo>
                  <a:pt x="0" y="4500"/>
                </a:moveTo>
                <a:lnTo>
                  <a:pt x="5089" y="4500"/>
                </a:lnTo>
                <a:cubicBezTo>
                  <a:pt x="5189" y="4206"/>
                  <a:pt x="5369" y="3966"/>
                  <a:pt x="5629" y="3780"/>
                </a:cubicBezTo>
                <a:cubicBezTo>
                  <a:pt x="5889" y="3593"/>
                  <a:pt x="6179" y="3500"/>
                  <a:pt x="6499" y="3500"/>
                </a:cubicBezTo>
                <a:cubicBezTo>
                  <a:pt x="6819" y="3500"/>
                  <a:pt x="7109" y="3593"/>
                  <a:pt x="7369" y="3780"/>
                </a:cubicBezTo>
                <a:cubicBezTo>
                  <a:pt x="7628" y="3966"/>
                  <a:pt x="7808" y="4206"/>
                  <a:pt x="7908" y="4500"/>
                </a:cubicBezTo>
                <a:lnTo>
                  <a:pt x="9998" y="4500"/>
                </a:lnTo>
                <a:lnTo>
                  <a:pt x="9998" y="5500"/>
                </a:lnTo>
                <a:lnTo>
                  <a:pt x="7908" y="5500"/>
                </a:lnTo>
                <a:cubicBezTo>
                  <a:pt x="7808" y="5793"/>
                  <a:pt x="7628" y="6033"/>
                  <a:pt x="7369" y="6220"/>
                </a:cubicBezTo>
                <a:cubicBezTo>
                  <a:pt x="7109" y="6406"/>
                  <a:pt x="6819" y="6500"/>
                  <a:pt x="6499" y="6500"/>
                </a:cubicBezTo>
                <a:cubicBezTo>
                  <a:pt x="6179" y="6500"/>
                  <a:pt x="5889" y="6406"/>
                  <a:pt x="5629" y="6220"/>
                </a:cubicBezTo>
                <a:cubicBezTo>
                  <a:pt x="5369" y="6033"/>
                  <a:pt x="5189" y="5793"/>
                  <a:pt x="5089" y="5500"/>
                </a:cubicBezTo>
                <a:lnTo>
                  <a:pt x="0" y="5500"/>
                </a:lnTo>
                <a:lnTo>
                  <a:pt x="0" y="4500"/>
                </a:lnTo>
                <a:moveTo>
                  <a:pt x="0" y="1000"/>
                </a:moveTo>
                <a:lnTo>
                  <a:pt x="2090" y="1000"/>
                </a:lnTo>
                <a:cubicBezTo>
                  <a:pt x="2190" y="706"/>
                  <a:pt x="2369" y="466"/>
                  <a:pt x="2629" y="280"/>
                </a:cubicBezTo>
                <a:cubicBezTo>
                  <a:pt x="2889" y="93"/>
                  <a:pt x="3179" y="0"/>
                  <a:pt x="3499" y="0"/>
                </a:cubicBezTo>
                <a:cubicBezTo>
                  <a:pt x="3819" y="0"/>
                  <a:pt x="4109" y="93"/>
                  <a:pt x="4369" y="280"/>
                </a:cubicBezTo>
                <a:cubicBezTo>
                  <a:pt x="4629" y="466"/>
                  <a:pt x="4809" y="706"/>
                  <a:pt x="4909" y="1000"/>
                </a:cubicBezTo>
                <a:lnTo>
                  <a:pt x="9998" y="1000"/>
                </a:lnTo>
                <a:lnTo>
                  <a:pt x="9998" y="2000"/>
                </a:lnTo>
                <a:lnTo>
                  <a:pt x="4909" y="2000"/>
                </a:lnTo>
                <a:cubicBezTo>
                  <a:pt x="4809" y="2293"/>
                  <a:pt x="4629" y="2533"/>
                  <a:pt x="4369" y="2720"/>
                </a:cubicBezTo>
                <a:cubicBezTo>
                  <a:pt x="4109" y="2906"/>
                  <a:pt x="3819" y="3000"/>
                  <a:pt x="3499" y="3000"/>
                </a:cubicBezTo>
                <a:cubicBezTo>
                  <a:pt x="3179" y="3000"/>
                  <a:pt x="2889" y="2906"/>
                  <a:pt x="2629" y="2720"/>
                </a:cubicBezTo>
                <a:cubicBezTo>
                  <a:pt x="2369" y="2533"/>
                  <a:pt x="2190" y="2293"/>
                  <a:pt x="2090" y="2000"/>
                </a:cubicBezTo>
                <a:lnTo>
                  <a:pt x="0" y="2000"/>
                </a:lnTo>
                <a:lnTo>
                  <a:pt x="0" y="1000"/>
                </a:lnTo>
                <a:moveTo>
                  <a:pt x="3499" y="2000"/>
                </a:moveTo>
                <a:cubicBezTo>
                  <a:pt x="3639" y="2000"/>
                  <a:pt x="3757" y="1951"/>
                  <a:pt x="3854" y="1855"/>
                </a:cubicBezTo>
                <a:cubicBezTo>
                  <a:pt x="3950" y="1758"/>
                  <a:pt x="3999" y="1640"/>
                  <a:pt x="3999" y="1500"/>
                </a:cubicBezTo>
                <a:cubicBezTo>
                  <a:pt x="3999" y="1360"/>
                  <a:pt x="3950" y="1241"/>
                  <a:pt x="3854" y="1145"/>
                </a:cubicBezTo>
                <a:cubicBezTo>
                  <a:pt x="3757" y="1048"/>
                  <a:pt x="3639" y="1000"/>
                  <a:pt x="3499" y="1000"/>
                </a:cubicBezTo>
                <a:cubicBezTo>
                  <a:pt x="3359" y="1000"/>
                  <a:pt x="3240" y="1048"/>
                  <a:pt x="3144" y="1145"/>
                </a:cubicBezTo>
                <a:cubicBezTo>
                  <a:pt x="3047" y="1241"/>
                  <a:pt x="2999" y="1360"/>
                  <a:pt x="2999" y="1500"/>
                </a:cubicBezTo>
                <a:cubicBezTo>
                  <a:pt x="2999" y="1640"/>
                  <a:pt x="3047" y="1758"/>
                  <a:pt x="3144" y="1855"/>
                </a:cubicBezTo>
                <a:cubicBezTo>
                  <a:pt x="3240" y="1951"/>
                  <a:pt x="3359" y="2000"/>
                  <a:pt x="3499" y="2000"/>
                </a:cubicBezTo>
                <a:moveTo>
                  <a:pt x="6499" y="5500"/>
                </a:moveTo>
                <a:cubicBezTo>
                  <a:pt x="6639" y="5500"/>
                  <a:pt x="6757" y="5451"/>
                  <a:pt x="6854" y="5355"/>
                </a:cubicBezTo>
                <a:cubicBezTo>
                  <a:pt x="6950" y="5258"/>
                  <a:pt x="6999" y="5140"/>
                  <a:pt x="6999" y="5000"/>
                </a:cubicBezTo>
                <a:cubicBezTo>
                  <a:pt x="6999" y="4860"/>
                  <a:pt x="6950" y="4741"/>
                  <a:pt x="6854" y="4645"/>
                </a:cubicBezTo>
                <a:cubicBezTo>
                  <a:pt x="6757" y="4548"/>
                  <a:pt x="6639" y="4500"/>
                  <a:pt x="6499" y="4500"/>
                </a:cubicBezTo>
                <a:cubicBezTo>
                  <a:pt x="6359" y="4500"/>
                  <a:pt x="6240" y="4548"/>
                  <a:pt x="6144" y="4645"/>
                </a:cubicBezTo>
                <a:cubicBezTo>
                  <a:pt x="6047" y="4741"/>
                  <a:pt x="5999" y="4860"/>
                  <a:pt x="5999" y="5000"/>
                </a:cubicBezTo>
                <a:cubicBezTo>
                  <a:pt x="5999" y="5140"/>
                  <a:pt x="6047" y="5258"/>
                  <a:pt x="6144" y="5355"/>
                </a:cubicBezTo>
                <a:cubicBezTo>
                  <a:pt x="6240" y="5451"/>
                  <a:pt x="6359" y="5500"/>
                  <a:pt x="6499" y="5500"/>
                </a:cubicBezTo>
                <a:moveTo>
                  <a:pt x="3499" y="9000"/>
                </a:moveTo>
                <a:cubicBezTo>
                  <a:pt x="3639" y="9000"/>
                  <a:pt x="3757" y="8951"/>
                  <a:pt x="3854" y="8855"/>
                </a:cubicBezTo>
                <a:cubicBezTo>
                  <a:pt x="3950" y="8758"/>
                  <a:pt x="3999" y="8640"/>
                  <a:pt x="3999" y="8500"/>
                </a:cubicBezTo>
                <a:cubicBezTo>
                  <a:pt x="3999" y="8360"/>
                  <a:pt x="3950" y="8241"/>
                  <a:pt x="3854" y="8145"/>
                </a:cubicBezTo>
                <a:cubicBezTo>
                  <a:pt x="3757" y="8048"/>
                  <a:pt x="3639" y="8000"/>
                  <a:pt x="3499" y="8000"/>
                </a:cubicBezTo>
                <a:cubicBezTo>
                  <a:pt x="3359" y="8000"/>
                  <a:pt x="3240" y="8048"/>
                  <a:pt x="3144" y="8145"/>
                </a:cubicBezTo>
                <a:cubicBezTo>
                  <a:pt x="3047" y="8241"/>
                  <a:pt x="2999" y="8360"/>
                  <a:pt x="2999" y="8500"/>
                </a:cubicBezTo>
                <a:cubicBezTo>
                  <a:pt x="2999" y="8640"/>
                  <a:pt x="3047" y="8758"/>
                  <a:pt x="3144" y="8855"/>
                </a:cubicBezTo>
                <a:cubicBezTo>
                  <a:pt x="3240" y="8951"/>
                  <a:pt x="3359" y="9000"/>
                  <a:pt x="3499" y="9000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048785" name="TextBox 11"/>
          <p:cNvSpPr txBox="1"/>
          <p:nvPr/>
        </p:nvSpPr>
        <p:spPr>
          <a:xfrm>
            <a:off x="695151" y="3803303"/>
            <a:ext cx="3129669" cy="257175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none"/>
          <a:p>
            <a:pPr algn="l"/>
            <a:r>
              <a:rPr b="0" sz="1800" i="0" lang="en-US" strike="noStrike"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训练分配与损失函数协同</a:t>
            </a:r>
            <a:endParaRPr sz="1100" lang="en-US"/>
          </a:p>
        </p:txBody>
      </p:sp>
      <p:sp>
        <p:nvSpPr>
          <p:cNvPr id="1048786" name="TextBox 12"/>
          <p:cNvSpPr txBox="1"/>
          <p:nvPr/>
        </p:nvSpPr>
        <p:spPr>
          <a:xfrm>
            <a:off x="695151" y="4222403"/>
            <a:ext cx="3367734" cy="619125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square"/>
          <a:p>
            <a:pPr algn="l"/>
            <a:r>
              <a:rPr b="0" sz="1100" i="0" lang="en-US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任务对齐分配综合分类与定位质量选择正样本，</a:t>
            </a:r>
            <a:endParaRPr sz="1100" lang="en-US"/>
          </a:p>
          <a:p>
            <a:pPr algn="l"/>
            <a:r>
              <a:rPr b="0" sz="110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减少标签冲突；VFL与SIoU/DFL提高小框定位稳</a:t>
            </a:r>
            <a:endParaRPr b="0" sz="1100" i="0" strike="noStrike">
              <a:solidFill>
                <a:srgbClr val="0A1F3D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  <a:p>
            <a:pPr algn="l"/>
            <a:r>
              <a:rPr b="0" sz="110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定性</a:t>
            </a:r>
            <a:endParaRPr b="0" sz="1100" i="0" strike="noStrike">
              <a:solidFill>
                <a:srgbClr val="0A1F3D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048787" name="AutoShape 13"/>
          <p:cNvSpPr/>
          <p:nvPr/>
        </p:nvSpPr>
        <p:spPr>
          <a:xfrm>
            <a:off x="695151" y="5709345"/>
            <a:ext cx="3129669" cy="9525"/>
          </a:xfrm>
          <a:prstGeom prst="line"/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48788" name="TextBox 14"/>
          <p:cNvSpPr txBox="1"/>
          <p:nvPr/>
        </p:nvSpPr>
        <p:spPr>
          <a:xfrm>
            <a:off x="695151" y="5842695"/>
            <a:ext cx="3129669" cy="285750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none"/>
          <a:p>
            <a:pPr algn="l"/>
            <a:r>
              <a:rPr b="0" sz="1900" i="0" lang="en-US" strike="noStrike">
                <a:solidFill>
                  <a:srgbClr val="5B8CB8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VFL · SIoU</a:t>
            </a:r>
            <a:endParaRPr sz="1100" lang="en-US"/>
          </a:p>
        </p:txBody>
      </p:sp>
      <p:sp>
        <p:nvSpPr>
          <p:cNvPr id="1048789" name="AutoShape 15"/>
          <p:cNvSpPr/>
          <p:nvPr/>
        </p:nvSpPr>
        <p:spPr>
          <a:xfrm>
            <a:off x="4291428" y="2268736"/>
            <a:ext cx="3605948" cy="4132064"/>
          </a:xfrm>
          <a:prstGeom prst="rect"/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48790" name="AutoShape 16"/>
          <p:cNvSpPr/>
          <p:nvPr/>
        </p:nvSpPr>
        <p:spPr>
          <a:xfrm>
            <a:off x="4291428" y="2268736"/>
            <a:ext cx="3605948" cy="9525"/>
          </a:xfrm>
          <a:prstGeom prst="line"/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48791" name="AutoShape 17"/>
          <p:cNvSpPr/>
          <p:nvPr/>
        </p:nvSpPr>
        <p:spPr>
          <a:xfrm>
            <a:off x="4529493" y="2564011"/>
            <a:ext cx="418996" cy="419100"/>
          </a:xfrm>
          <a:custGeom>
            <a:avLst/>
            <a:ahLst/>
            <a:rect l="l" t="t" r="r" b="b"/>
            <a:pathLst>
              <a:path w="9998" h="10000">
                <a:moveTo>
                  <a:pt x="4545" y="0"/>
                </a:moveTo>
                <a:lnTo>
                  <a:pt x="5453" y="0"/>
                </a:lnTo>
                <a:lnTo>
                  <a:pt x="5453" y="1391"/>
                </a:lnTo>
                <a:cubicBezTo>
                  <a:pt x="5992" y="1457"/>
                  <a:pt x="6491" y="1636"/>
                  <a:pt x="6949" y="1927"/>
                </a:cubicBezTo>
                <a:cubicBezTo>
                  <a:pt x="7406" y="2218"/>
                  <a:pt x="7780" y="2592"/>
                  <a:pt x="8071" y="3050"/>
                </a:cubicBezTo>
                <a:cubicBezTo>
                  <a:pt x="8361" y="3507"/>
                  <a:pt x="8540" y="4005"/>
                  <a:pt x="8607" y="4545"/>
                </a:cubicBezTo>
                <a:lnTo>
                  <a:pt x="9998" y="4545"/>
                </a:lnTo>
                <a:lnTo>
                  <a:pt x="9998" y="5455"/>
                </a:lnTo>
                <a:lnTo>
                  <a:pt x="8607" y="5455"/>
                </a:lnTo>
                <a:cubicBezTo>
                  <a:pt x="8540" y="5994"/>
                  <a:pt x="8361" y="6492"/>
                  <a:pt x="8071" y="6950"/>
                </a:cubicBezTo>
                <a:cubicBezTo>
                  <a:pt x="7780" y="7407"/>
                  <a:pt x="7406" y="7781"/>
                  <a:pt x="6949" y="8073"/>
                </a:cubicBezTo>
                <a:cubicBezTo>
                  <a:pt x="6491" y="8363"/>
                  <a:pt x="5992" y="8542"/>
                  <a:pt x="5453" y="8609"/>
                </a:cubicBezTo>
                <a:lnTo>
                  <a:pt x="5453" y="10000"/>
                </a:lnTo>
                <a:lnTo>
                  <a:pt x="4545" y="10000"/>
                </a:lnTo>
                <a:lnTo>
                  <a:pt x="4545" y="8609"/>
                </a:lnTo>
                <a:cubicBezTo>
                  <a:pt x="4005" y="8542"/>
                  <a:pt x="3507" y="8363"/>
                  <a:pt x="3049" y="8073"/>
                </a:cubicBezTo>
                <a:cubicBezTo>
                  <a:pt x="2591" y="7781"/>
                  <a:pt x="2217" y="7407"/>
                  <a:pt x="1927" y="6950"/>
                </a:cubicBezTo>
                <a:cubicBezTo>
                  <a:pt x="1636" y="6492"/>
                  <a:pt x="1457" y="5994"/>
                  <a:pt x="1391" y="5455"/>
                </a:cubicBezTo>
                <a:lnTo>
                  <a:pt x="0" y="5455"/>
                </a:lnTo>
                <a:lnTo>
                  <a:pt x="0" y="4545"/>
                </a:lnTo>
                <a:lnTo>
                  <a:pt x="1391" y="4545"/>
                </a:lnTo>
                <a:cubicBezTo>
                  <a:pt x="1457" y="4005"/>
                  <a:pt x="1636" y="3507"/>
                  <a:pt x="1927" y="3050"/>
                </a:cubicBezTo>
                <a:cubicBezTo>
                  <a:pt x="2217" y="2592"/>
                  <a:pt x="2591" y="2218"/>
                  <a:pt x="3049" y="1927"/>
                </a:cubicBezTo>
                <a:cubicBezTo>
                  <a:pt x="3507" y="1636"/>
                  <a:pt x="4005" y="1457"/>
                  <a:pt x="4545" y="1391"/>
                </a:cubicBezTo>
                <a:lnTo>
                  <a:pt x="4545" y="0"/>
                </a:lnTo>
                <a:moveTo>
                  <a:pt x="4999" y="2273"/>
                </a:moveTo>
                <a:cubicBezTo>
                  <a:pt x="4508" y="2273"/>
                  <a:pt x="4051" y="2397"/>
                  <a:pt x="3627" y="2645"/>
                </a:cubicBezTo>
                <a:cubicBezTo>
                  <a:pt x="3214" y="2887"/>
                  <a:pt x="2887" y="3215"/>
                  <a:pt x="2645" y="3627"/>
                </a:cubicBezTo>
                <a:cubicBezTo>
                  <a:pt x="2396" y="4051"/>
                  <a:pt x="2272" y="4509"/>
                  <a:pt x="2272" y="5000"/>
                </a:cubicBezTo>
                <a:cubicBezTo>
                  <a:pt x="2272" y="5490"/>
                  <a:pt x="2396" y="5948"/>
                  <a:pt x="2645" y="6373"/>
                </a:cubicBezTo>
                <a:cubicBezTo>
                  <a:pt x="2887" y="6785"/>
                  <a:pt x="3214" y="7112"/>
                  <a:pt x="3627" y="7355"/>
                </a:cubicBezTo>
                <a:cubicBezTo>
                  <a:pt x="4051" y="7603"/>
                  <a:pt x="4508" y="7727"/>
                  <a:pt x="4999" y="7727"/>
                </a:cubicBezTo>
                <a:cubicBezTo>
                  <a:pt x="5489" y="7727"/>
                  <a:pt x="5947" y="7603"/>
                  <a:pt x="6371" y="7355"/>
                </a:cubicBezTo>
                <a:cubicBezTo>
                  <a:pt x="6783" y="7112"/>
                  <a:pt x="7111" y="6785"/>
                  <a:pt x="7353" y="6373"/>
                </a:cubicBezTo>
                <a:cubicBezTo>
                  <a:pt x="7601" y="5948"/>
                  <a:pt x="7726" y="5490"/>
                  <a:pt x="7726" y="5000"/>
                </a:cubicBezTo>
                <a:cubicBezTo>
                  <a:pt x="7726" y="4509"/>
                  <a:pt x="7601" y="4051"/>
                  <a:pt x="7353" y="3627"/>
                </a:cubicBezTo>
                <a:cubicBezTo>
                  <a:pt x="7111" y="3215"/>
                  <a:pt x="6783" y="2887"/>
                  <a:pt x="6371" y="2645"/>
                </a:cubicBezTo>
                <a:cubicBezTo>
                  <a:pt x="5947" y="2397"/>
                  <a:pt x="5489" y="2273"/>
                  <a:pt x="4999" y="2273"/>
                </a:cubicBezTo>
                <a:moveTo>
                  <a:pt x="4999" y="4091"/>
                </a:moveTo>
                <a:cubicBezTo>
                  <a:pt x="5162" y="4091"/>
                  <a:pt x="5313" y="4132"/>
                  <a:pt x="5453" y="4214"/>
                </a:cubicBezTo>
                <a:cubicBezTo>
                  <a:pt x="5593" y="4295"/>
                  <a:pt x="5703" y="4405"/>
                  <a:pt x="5785" y="4545"/>
                </a:cubicBezTo>
                <a:cubicBezTo>
                  <a:pt x="5867" y="4685"/>
                  <a:pt x="5908" y="4836"/>
                  <a:pt x="5908" y="5000"/>
                </a:cubicBezTo>
                <a:cubicBezTo>
                  <a:pt x="5908" y="5163"/>
                  <a:pt x="5867" y="5315"/>
                  <a:pt x="5785" y="5455"/>
                </a:cubicBezTo>
                <a:cubicBezTo>
                  <a:pt x="5703" y="5594"/>
                  <a:pt x="5593" y="5704"/>
                  <a:pt x="5453" y="5786"/>
                </a:cubicBezTo>
                <a:cubicBezTo>
                  <a:pt x="5313" y="5868"/>
                  <a:pt x="5162" y="5909"/>
                  <a:pt x="4999" y="5909"/>
                </a:cubicBezTo>
                <a:cubicBezTo>
                  <a:pt x="4835" y="5909"/>
                  <a:pt x="4684" y="5868"/>
                  <a:pt x="4545" y="5786"/>
                </a:cubicBezTo>
                <a:cubicBezTo>
                  <a:pt x="4405" y="5704"/>
                  <a:pt x="4294" y="5594"/>
                  <a:pt x="4213" y="5455"/>
                </a:cubicBezTo>
                <a:cubicBezTo>
                  <a:pt x="4131" y="5315"/>
                  <a:pt x="4090" y="5163"/>
                  <a:pt x="4090" y="5000"/>
                </a:cubicBezTo>
                <a:cubicBezTo>
                  <a:pt x="4090" y="4836"/>
                  <a:pt x="4131" y="4685"/>
                  <a:pt x="4213" y="4545"/>
                </a:cubicBezTo>
                <a:cubicBezTo>
                  <a:pt x="4294" y="4405"/>
                  <a:pt x="4405" y="4295"/>
                  <a:pt x="4545" y="4214"/>
                </a:cubicBezTo>
                <a:cubicBezTo>
                  <a:pt x="4684" y="4132"/>
                  <a:pt x="4835" y="4091"/>
                  <a:pt x="4999" y="4091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048792" name="TextBox 18"/>
          <p:cNvSpPr txBox="1"/>
          <p:nvPr/>
        </p:nvSpPr>
        <p:spPr>
          <a:xfrm>
            <a:off x="4529493" y="3803303"/>
            <a:ext cx="3129817" cy="257175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none"/>
          <a:p>
            <a:pPr algn="l"/>
            <a:r>
              <a:rPr b="0" sz="1800" i="0" lang="en-US" strike="noStrike"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后处理密度自适应优化</a:t>
            </a:r>
            <a:endParaRPr sz="1100" lang="en-US"/>
          </a:p>
        </p:txBody>
      </p:sp>
      <p:sp>
        <p:nvSpPr>
          <p:cNvPr id="1048793" name="TextBox 19"/>
          <p:cNvSpPr txBox="1"/>
          <p:nvPr/>
        </p:nvSpPr>
        <p:spPr>
          <a:xfrm>
            <a:off x="4529493" y="4222403"/>
            <a:ext cx="3367883" cy="619125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square"/>
          <a:p>
            <a:pPr algn="l"/>
            <a:r>
              <a:rPr b="0" sz="1100" i="0" lang="en-US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密度自适应Soft-NMS在拥堵区域降低过强抑制，</a:t>
            </a:r>
            <a:endParaRPr sz="1100" lang="en-US"/>
          </a:p>
          <a:p>
            <a:pPr algn="l"/>
            <a:r>
              <a:rPr b="0" sz="110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保留相邻车辆并控制重复框，降低密集场景漏检</a:t>
            </a:r>
            <a:endParaRPr b="0" sz="1100" i="0" strike="noStrike">
              <a:solidFill>
                <a:srgbClr val="0A1F3D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  <a:p>
            <a:pPr algn="l"/>
            <a:r>
              <a:rPr b="0" sz="110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率</a:t>
            </a:r>
            <a:endParaRPr b="0" sz="1100" i="0" strike="noStrike">
              <a:solidFill>
                <a:srgbClr val="0A1F3D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048794" name="AutoShape 20"/>
          <p:cNvSpPr/>
          <p:nvPr/>
        </p:nvSpPr>
        <p:spPr>
          <a:xfrm>
            <a:off x="4529493" y="5709345"/>
            <a:ext cx="3129817" cy="9525"/>
          </a:xfrm>
          <a:prstGeom prst="line"/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48795" name="TextBox 21"/>
          <p:cNvSpPr txBox="1"/>
          <p:nvPr/>
        </p:nvSpPr>
        <p:spPr>
          <a:xfrm>
            <a:off x="4529493" y="5842695"/>
            <a:ext cx="3129817" cy="285750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none"/>
          <a:p>
            <a:pPr algn="l"/>
            <a:r>
              <a:rPr b="0" sz="1900" i="0" lang="en-US" strike="noStrike">
                <a:solidFill>
                  <a:srgbClr val="5B8CB8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Soft-NMS</a:t>
            </a:r>
            <a:endParaRPr sz="1100" lang="en-US"/>
          </a:p>
        </p:txBody>
      </p:sp>
      <p:sp>
        <p:nvSpPr>
          <p:cNvPr id="1048796" name="AutoShape 22"/>
          <p:cNvSpPr/>
          <p:nvPr/>
        </p:nvSpPr>
        <p:spPr>
          <a:xfrm>
            <a:off x="8125918" y="2268736"/>
            <a:ext cx="3605799" cy="4132064"/>
          </a:xfrm>
          <a:prstGeom prst="rect"/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48797" name="AutoShape 23"/>
          <p:cNvSpPr/>
          <p:nvPr/>
        </p:nvSpPr>
        <p:spPr>
          <a:xfrm>
            <a:off x="8125918" y="2268736"/>
            <a:ext cx="3605799" cy="9525"/>
          </a:xfrm>
          <a:prstGeom prst="line"/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48798" name="AutoShape 24"/>
          <p:cNvSpPr/>
          <p:nvPr/>
        </p:nvSpPr>
        <p:spPr>
          <a:xfrm>
            <a:off x="8363984" y="2564011"/>
            <a:ext cx="418996" cy="419100"/>
          </a:xfrm>
          <a:custGeom>
            <a:avLst/>
            <a:ahLst/>
            <a:rect l="l" t="t" r="r" b="b"/>
            <a:pathLst>
              <a:path w="9998" h="10000">
                <a:moveTo>
                  <a:pt x="0" y="0"/>
                </a:moveTo>
                <a:lnTo>
                  <a:pt x="1068" y="0"/>
                </a:lnTo>
                <a:lnTo>
                  <a:pt x="1068" y="8889"/>
                </a:lnTo>
                <a:lnTo>
                  <a:pt x="9613" y="8889"/>
                </a:lnTo>
                <a:lnTo>
                  <a:pt x="9613" y="10000"/>
                </a:lnTo>
                <a:lnTo>
                  <a:pt x="0" y="10000"/>
                </a:lnTo>
                <a:lnTo>
                  <a:pt x="0" y="0"/>
                </a:lnTo>
                <a:moveTo>
                  <a:pt x="6943" y="4211"/>
                </a:moveTo>
                <a:lnTo>
                  <a:pt x="9240" y="1833"/>
                </a:lnTo>
                <a:lnTo>
                  <a:pt x="9998" y="2611"/>
                </a:lnTo>
                <a:lnTo>
                  <a:pt x="6943" y="5789"/>
                </a:lnTo>
                <a:lnTo>
                  <a:pt x="5341" y="4122"/>
                </a:lnTo>
                <a:lnTo>
                  <a:pt x="3055" y="6500"/>
                </a:lnTo>
                <a:lnTo>
                  <a:pt x="2297" y="5722"/>
                </a:lnTo>
                <a:lnTo>
                  <a:pt x="5341" y="2544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048799" name="TextBox 25"/>
          <p:cNvSpPr txBox="1"/>
          <p:nvPr/>
        </p:nvSpPr>
        <p:spPr>
          <a:xfrm>
            <a:off x="8363984" y="3792736"/>
            <a:ext cx="3129669" cy="257175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none"/>
          <a:p>
            <a:pPr algn="l"/>
            <a:r>
              <a:rPr b="0" sz="1800" i="0" lang="en-US" strike="noStrike"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DroneVehicle效果验证</a:t>
            </a:r>
            <a:endParaRPr sz="1100" lang="en-US"/>
          </a:p>
        </p:txBody>
      </p:sp>
      <p:sp>
        <p:nvSpPr>
          <p:cNvPr id="1048800" name="TextBox 26"/>
          <p:cNvSpPr txBox="1"/>
          <p:nvPr/>
        </p:nvSpPr>
        <p:spPr>
          <a:xfrm>
            <a:off x="8363984" y="4211836"/>
            <a:ext cx="3367734" cy="619125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square"/>
          <a:p>
            <a:pPr algn="l"/>
            <a:r>
              <a:rPr b="0" sz="1100" i="0" lang="en-US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NOC-YOLO引入注意力与多尺度融合，超越</a:t>
            </a:r>
            <a:endParaRPr sz="1100" lang="en-US"/>
          </a:p>
          <a:p>
            <a:pPr algn="l"/>
            <a:r>
              <a:rPr b="0" sz="110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YOLOv10n达1.4个百分点，仅增加10%参数与</a:t>
            </a:r>
            <a:endParaRPr b="0" sz="1100" i="0" strike="noStrike">
              <a:solidFill>
                <a:srgbClr val="0A1F3D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  <a:p>
            <a:pPr algn="l"/>
            <a:r>
              <a:rPr b="0" sz="110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12% GFLOPs</a:t>
            </a:r>
            <a:endParaRPr b="0" sz="1100" i="0" strike="noStrike">
              <a:solidFill>
                <a:srgbClr val="0A1F3D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048801" name="AutoShape 27"/>
          <p:cNvSpPr/>
          <p:nvPr/>
        </p:nvSpPr>
        <p:spPr>
          <a:xfrm>
            <a:off x="8363984" y="5688211"/>
            <a:ext cx="3129669" cy="9525"/>
          </a:xfrm>
          <a:prstGeom prst="line"/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48802" name="TextBox 28"/>
          <p:cNvSpPr txBox="1"/>
          <p:nvPr/>
        </p:nvSpPr>
        <p:spPr>
          <a:xfrm>
            <a:off x="8363984" y="5821561"/>
            <a:ext cx="3129669" cy="295275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none"/>
          <a:p>
            <a:pPr algn="l"/>
            <a:r>
              <a:rPr b="0" sz="2100" i="0" lang="en-US" strike="noStrike"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mAP50 79.5%</a:t>
            </a:r>
            <a:endParaRPr sz="1100"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9" name="AutoShape 2"/>
          <p:cNvSpPr/>
          <p:nvPr/>
        </p:nvSpPr>
        <p:spPr>
          <a:xfrm>
            <a:off x="0" y="0"/>
            <a:ext cx="12188952" cy="6858000"/>
          </a:xfrm>
          <a:prstGeom prst="rect"/>
          <a:solidFill>
            <a:srgbClr val="CCCCCC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048810" name="AutoShape 3"/>
          <p:cNvSpPr/>
          <p:nvPr/>
        </p:nvSpPr>
        <p:spPr>
          <a:xfrm>
            <a:off x="0" y="0"/>
            <a:ext cx="12188952" cy="6858000"/>
          </a:xfrm>
          <a:prstGeom prst="rect"/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048811" name="TextBox 4"/>
          <p:cNvSpPr txBox="1"/>
          <p:nvPr/>
        </p:nvSpPr>
        <p:spPr>
          <a:xfrm>
            <a:off x="457086" y="476250"/>
            <a:ext cx="11274781" cy="133350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none"/>
          <a:p>
            <a:pPr algn="l"/>
            <a:r>
              <a:rPr b="0" sz="900" i="0" lang="en-US" strike="noStrike"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TECHNICAL SUMMARY</a:t>
            </a:r>
            <a:endParaRPr sz="1100" lang="en-US"/>
          </a:p>
        </p:txBody>
      </p:sp>
      <p:sp>
        <p:nvSpPr>
          <p:cNvPr id="1048812" name="TextBox 5"/>
          <p:cNvSpPr txBox="1"/>
          <p:nvPr/>
        </p:nvSpPr>
        <p:spPr>
          <a:xfrm>
            <a:off x="457086" y="742950"/>
            <a:ext cx="11274781" cy="419100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none"/>
          <a:p>
            <a:pPr algn="l"/>
            <a:r>
              <a:rPr b="1" sz="3000" i="0" lang="en-US" strike="noStrike"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方法总结</a:t>
            </a:r>
            <a:endParaRPr sz="1100" lang="en-US"/>
          </a:p>
        </p:txBody>
      </p:sp>
      <p:sp>
        <p:nvSpPr>
          <p:cNvPr id="1048813" name="AutoShape 6"/>
          <p:cNvSpPr/>
          <p:nvPr/>
        </p:nvSpPr>
        <p:spPr>
          <a:xfrm>
            <a:off x="457086" y="1314450"/>
            <a:ext cx="9522" cy="649486"/>
          </a:xfrm>
          <a:prstGeom prst="line"/>
          <a:ln w="9525">
            <a:solidFill>
              <a:srgbClr val="5B8CB8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1048814" name="AutoShape 8"/>
          <p:cNvSpPr/>
          <p:nvPr/>
        </p:nvSpPr>
        <p:spPr>
          <a:xfrm>
            <a:off x="444464" y="1295842"/>
            <a:ext cx="171407" cy="171450"/>
          </a:xfrm>
          <a:custGeom>
            <a:avLst/>
            <a:ahLst/>
            <a:rect l="l" t="t" r="r" b="b"/>
            <a:pathLst>
              <a:path w="9998" h="10000">
                <a:moveTo>
                  <a:pt x="1000" y="1111"/>
                </a:moveTo>
                <a:lnTo>
                  <a:pt x="1000" y="2778"/>
                </a:lnTo>
                <a:lnTo>
                  <a:pt x="8998" y="2778"/>
                </a:lnTo>
                <a:lnTo>
                  <a:pt x="8998" y="1111"/>
                </a:lnTo>
                <a:lnTo>
                  <a:pt x="1000" y="1111"/>
                </a:lnTo>
                <a:moveTo>
                  <a:pt x="3999" y="8889"/>
                </a:moveTo>
                <a:lnTo>
                  <a:pt x="5999" y="8889"/>
                </a:lnTo>
                <a:lnTo>
                  <a:pt x="5999" y="3889"/>
                </a:lnTo>
                <a:lnTo>
                  <a:pt x="3999" y="3889"/>
                </a:lnTo>
                <a:lnTo>
                  <a:pt x="3999" y="8889"/>
                </a:lnTo>
                <a:moveTo>
                  <a:pt x="6999" y="3889"/>
                </a:moveTo>
                <a:lnTo>
                  <a:pt x="6999" y="8889"/>
                </a:lnTo>
                <a:lnTo>
                  <a:pt x="8998" y="8889"/>
                </a:lnTo>
                <a:lnTo>
                  <a:pt x="8998" y="3889"/>
                </a:lnTo>
                <a:lnTo>
                  <a:pt x="6999" y="3889"/>
                </a:lnTo>
                <a:moveTo>
                  <a:pt x="1000" y="8889"/>
                </a:moveTo>
                <a:lnTo>
                  <a:pt x="2999" y="8889"/>
                </a:lnTo>
                <a:lnTo>
                  <a:pt x="2999" y="3889"/>
                </a:lnTo>
                <a:lnTo>
                  <a:pt x="1000" y="3889"/>
                </a:lnTo>
                <a:lnTo>
                  <a:pt x="1000" y="8889"/>
                </a:lnTo>
                <a:moveTo>
                  <a:pt x="500" y="0"/>
                </a:moveTo>
                <a:lnTo>
                  <a:pt x="9498" y="0"/>
                </a:lnTo>
                <a:cubicBezTo>
                  <a:pt x="9638" y="0"/>
                  <a:pt x="9756" y="53"/>
                  <a:pt x="9853" y="161"/>
                </a:cubicBezTo>
                <a:cubicBezTo>
                  <a:pt x="9949" y="268"/>
                  <a:pt x="9998" y="400"/>
                  <a:pt x="9998" y="556"/>
                </a:cubicBezTo>
                <a:lnTo>
                  <a:pt x="9998" y="9444"/>
                </a:lnTo>
                <a:cubicBezTo>
                  <a:pt x="9998" y="9600"/>
                  <a:pt x="9949" y="9731"/>
                  <a:pt x="9853" y="9839"/>
                </a:cubicBezTo>
                <a:cubicBezTo>
                  <a:pt x="9756" y="9946"/>
                  <a:pt x="9638" y="10000"/>
                  <a:pt x="9498" y="10000"/>
                </a:cubicBezTo>
                <a:lnTo>
                  <a:pt x="500" y="10000"/>
                </a:lnTo>
                <a:cubicBezTo>
                  <a:pt x="360" y="10000"/>
                  <a:pt x="241" y="9946"/>
                  <a:pt x="145" y="9839"/>
                </a:cubicBezTo>
                <a:cubicBezTo>
                  <a:pt x="48" y="9731"/>
                  <a:pt x="0" y="9600"/>
                  <a:pt x="0" y="9444"/>
                </a:cubicBezTo>
                <a:lnTo>
                  <a:pt x="0" y="556"/>
                </a:lnTo>
                <a:cubicBezTo>
                  <a:pt x="0" y="400"/>
                  <a:pt x="48" y="268"/>
                  <a:pt x="145" y="161"/>
                </a:cubicBezTo>
                <a:cubicBezTo>
                  <a:pt x="241" y="53"/>
                  <a:pt x="360" y="0"/>
                  <a:pt x="500" y="0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048815" name="TextBox 9"/>
          <p:cNvSpPr txBox="1"/>
          <p:nvPr/>
        </p:nvSpPr>
        <p:spPr>
          <a:xfrm>
            <a:off x="615870" y="1633984"/>
            <a:ext cx="3073723" cy="209550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none"/>
          <a:p>
            <a:pPr algn="l"/>
            <a:r>
              <a:rPr b="1" sz="1500" i="0" lang="en-US" strike="noStrike"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多模态小目标检测方案选型矩阵</a:t>
            </a:r>
            <a:endParaRPr sz="1100" lang="en-US"/>
          </a:p>
        </p:txBody>
      </p:sp>
      <p:graphicFrame>
        <p:nvGraphicFramePr>
          <p:cNvPr id="4194306" name="Table 1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44464" y="2134632"/>
          <a:ext cx="10784378" cy="4038706"/>
        </p:xfrm>
        <a:graphic>
          <a:graphicData uri="http://schemas.openxmlformats.org/drawingml/2006/table">
            <a:tbl>
              <a:tblPr/>
              <a:tblGrid>
                <a:gridCol w="1728544"/>
                <a:gridCol w="3018007"/>
                <a:gridCol w="3019215"/>
                <a:gridCol w="3018611"/>
              </a:tblGrid>
              <a:tr h="590072">
                <a:tc>
                  <a:txBody>
                    <a:bodyPr rot="0" wrap="square"/>
                    <a:p>
                      <a:pPr algn="l">
                        <a:defRPr b="1" sz="11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Alibaba PuHuiTi 3.0 55 Regular&quot;, sans-serif"/>
                          <a:ea typeface="&quot;Alibaba PuHuiTi 3.0 55 Regular&quot;, sans-serif"/>
                          <a:cs typeface="&quot;Alibaba PuHuiTi 3.0 55 Regular&quot;, sans-serif"/>
                        </a:defRPr>
                      </a:pPr>
                      <a:r>
                        <a:rPr b="1" sz="11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Alibaba PuHuiTi 3.0 55 Regular&quot;, sans-serif"/>
                          <a:ea typeface="&quot;Alibaba PuHuiTi 3.0 55 Regular&quot;, sans-serif"/>
                          <a:cs typeface="&quot;Alibaba PuHuiTi 3.0 55 Regular&quot;, sans-serif"/>
                        </a:rPr>
                        <a:t>技术维度</a:t>
                      </a:r>
                      <a:endParaRPr b="1" sz="110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&quot;Alibaba PuHuiTi 3.0 55 Regular&quot;, sans-serif"/>
                        <a:ea typeface="&quot;Alibaba PuHuiTi 3.0 55 Regular&quot;, sans-serif"/>
                        <a:cs typeface="&quot;Alibaba PuHuiTi 3.0 55 Regular&quot;, sans-serif"/>
                      </a:endParaRPr>
                    </a:p>
                  </a:txBody>
                  <a:tcPr marL="133350" marR="133350" marT="114300" marB="114300" anchor="ctr" anchorCtr="0" vert="horz"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  <a:solidFill>
                      <a:srgbClr val="E8EBEF">
                        <a:alpha val="100000"/>
                      </a:srgbClr>
                    </a:solidFill>
                  </a:tcPr>
                </a:tc>
                <a:tc>
                  <a:txBody>
                    <a:bodyPr rot="0" wrap="square"/>
                    <a:p>
                      <a:pPr algn="l">
                        <a:defRPr b="1" sz="11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Alibaba PuHuiTi 3.0 55 Regular&quot;, sans-serif"/>
                          <a:ea typeface="&quot;Alibaba PuHuiTi 3.0 55 Regular&quot;, sans-serif"/>
                          <a:cs typeface="&quot;Alibaba PuHuiTi 3.0 55 Regular&quot;, sans-serif"/>
                        </a:defRPr>
                      </a:pPr>
                      <a:r>
                        <a:rPr b="1" sz="11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Alibaba PuHuiTi 3.0 55 Regular&quot;, sans-serif"/>
                          <a:ea typeface="&quot;Alibaba PuHuiTi 3.0 55 Regular&quot;, sans-serif"/>
                          <a:cs typeface="&quot;Alibaba PuHuiTi 3.0 55 Regular&quot;, sans-serif"/>
                        </a:rPr>
                        <a:t>推荐方案</a:t>
                      </a:r>
                      <a:endParaRPr b="1" sz="110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&quot;Alibaba PuHuiTi 3.0 55 Regular&quot;, sans-serif"/>
                        <a:ea typeface="&quot;Alibaba PuHuiTi 3.0 55 Regular&quot;, sans-serif"/>
                        <a:cs typeface="&quot;Alibaba PuHuiTi 3.0 55 Regular&quot;, sans-serif"/>
                      </a:endParaRPr>
                    </a:p>
                  </a:txBody>
                  <a:tcPr marL="133350" marR="133350" marT="114300" marB="114300" anchor="ctr" anchorCtr="0" vert="horz"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  <a:solidFill>
                      <a:srgbClr val="E8EBEF">
                        <a:alpha val="100000"/>
                      </a:srgbClr>
                    </a:solidFill>
                  </a:tcPr>
                </a:tc>
                <a:tc>
                  <a:txBody>
                    <a:bodyPr rot="0" wrap="square"/>
                    <a:p>
                      <a:pPr algn="l">
                        <a:defRPr b="1" sz="11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Alibaba PuHuiTi 3.0 55 Regular&quot;, sans-serif"/>
                          <a:ea typeface="&quot;Alibaba PuHuiTi 3.0 55 Regular&quot;, sans-serif"/>
                          <a:cs typeface="&quot;Alibaba PuHuiTi 3.0 55 Regular&quot;, sans-serif"/>
                        </a:defRPr>
                      </a:pPr>
                      <a:r>
                        <a:rPr b="1" sz="11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Alibaba PuHuiTi 3.0 55 Regular&quot;, sans-serif"/>
                          <a:ea typeface="&quot;Alibaba PuHuiTi 3.0 55 Regular&quot;, sans-serif"/>
                          <a:cs typeface="&quot;Alibaba PuHuiTi 3.0 55 Regular&quot;, sans-serif"/>
                        </a:rPr>
                        <a:t>选型依据</a:t>
                      </a:r>
                      <a:endParaRPr b="1" sz="110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&quot;Alibaba PuHuiTi 3.0 55 Regular&quot;, sans-serif"/>
                        <a:ea typeface="&quot;Alibaba PuHuiTi 3.0 55 Regular&quot;, sans-serif"/>
                        <a:cs typeface="&quot;Alibaba PuHuiTi 3.0 55 Regular&quot;, sans-serif"/>
                      </a:endParaRPr>
                    </a:p>
                  </a:txBody>
                  <a:tcPr marL="133350" marR="133350" marT="114300" marB="114300" anchor="ctr" anchorCtr="0" vert="horz"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  <a:solidFill>
                      <a:srgbClr val="E8EBEF">
                        <a:alpha val="100000"/>
                      </a:srgbClr>
                    </a:solidFill>
                  </a:tcPr>
                </a:tc>
                <a:tc>
                  <a:txBody>
                    <a:bodyPr rot="0" wrap="square"/>
                    <a:p>
                      <a:pPr algn="ctr">
                        <a:defRPr b="1" sz="11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Alibaba PuHuiTi 3.0 55 Regular&quot;, sans-serif"/>
                          <a:ea typeface="&quot;Alibaba PuHuiTi 3.0 55 Regular&quot;, sans-serif"/>
                          <a:cs typeface="&quot;Alibaba PuHuiTi 3.0 55 Regular&quot;, sans-serif"/>
                        </a:defRPr>
                      </a:pPr>
                      <a:r>
                        <a:rPr b="1" sz="11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Alibaba PuHuiTi 3.0 55 Regular&quot;, sans-serif"/>
                          <a:ea typeface="&quot;Alibaba PuHuiTi 3.0 55 Regular&quot;, sans-serif"/>
                          <a:cs typeface="&quot;Alibaba PuHuiTi 3.0 55 Regular&quot;, sans-serif"/>
                        </a:rPr>
                        <a:t>对应模块</a:t>
                      </a:r>
                      <a:endParaRPr b="1" sz="110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&quot;Alibaba PuHuiTi 3.0 55 Regular&quot;, sans-serif"/>
                        <a:ea typeface="&quot;Alibaba PuHuiTi 3.0 55 Regular&quot;, sans-serif"/>
                        <a:cs typeface="&quot;Alibaba PuHuiTi 3.0 55 Regular&quot;, sans-serif"/>
                      </a:endParaRPr>
                    </a:p>
                  </a:txBody>
                  <a:tcPr marL="133350" marR="133350" marT="114300" marB="114300" anchor="ctr" anchorCtr="1" vert="horz"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  <a:solidFill>
                      <a:srgbClr val="E8EBEF">
                        <a:alpha val="100000"/>
                      </a:srgbClr>
                    </a:solidFill>
                  </a:tcPr>
                </a:tc>
              </a:tr>
              <a:tr h="588864">
                <a:tc>
                  <a:txBody>
                    <a:bodyPr rot="0" wrap="square"/>
                    <a:p>
                      <a:pPr algn="l">
                        <a:defRPr b="1" sz="10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FZYaYiHei GB18030L2 R" panose="02000500000000000000" charset="-122"/>
                          <a:ea typeface="FZYaYiHei GB18030L2 R" panose="02000500000000000000" charset="-122"/>
                          <a:cs typeface="FZYaYiHei GB18030L2 R" panose="02000500000000000000" charset="-122"/>
                        </a:defRPr>
                      </a:pPr>
                      <a:r>
                        <a:rPr b="1" sz="10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FZYaYiHei GB18030L2 R" panose="02000500000000000000" charset="-122"/>
                          <a:ea typeface="FZYaYiHei GB18030L2 R" panose="02000500000000000000" charset="-122"/>
                          <a:cs typeface="FZYaYiHei GB18030L2 R" panose="02000500000000000000" charset="-122"/>
                        </a:rPr>
                        <a:t>单模态基线</a:t>
                      </a:r>
                      <a:endParaRPr b="1" sz="100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FZYaYiHei GB18030L2 R" panose="02000500000000000000" charset="-122"/>
                        <a:ea typeface="FZYaYiHei GB18030L2 R" panose="02000500000000000000" charset="-122"/>
                        <a:cs typeface="FZYaYiHei GB18030L2 R" panose="02000500000000000000" charset="-122"/>
                      </a:endParaRPr>
                    </a:p>
                  </a:txBody>
                  <a:tcPr marL="133350" marR="133350" marT="104775" marB="104775" anchor="ctr" anchorCtr="0" vert="horz"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b="0" sz="11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0" sz="11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YOLO系列 + Oriented R-CNN</a:t>
                      </a:r>
                      <a:endParaRPr b="0" sz="110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&quot;FZYaYiHei GB18030L2 R&quot;, sans-serif"/>
                        <a:ea typeface="&quot;FZYaYiHei GB18030L2 R&quot;, sans-serif"/>
                        <a:cs typeface="&quot;FZYaYiHei GB18030L2 R&quot;, sans-serif"/>
                      </a:endParaRPr>
                    </a:p>
                  </a:txBody>
                  <a:tcPr marL="133350" marR="133350" marT="104775" marB="104775" anchor="ctr" anchorCtr="0" vert="horz"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b="0" sz="11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0" sz="11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精度-效率平衡最优</a:t>
                      </a:r>
                      <a:endParaRPr b="0" sz="110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&quot;FZYaYiHei GB18030L2 R&quot;, sans-serif"/>
                        <a:ea typeface="&quot;FZYaYiHei GB18030L2 R&quot;, sans-serif"/>
                        <a:cs typeface="&quot;FZYaYiHei GB18030L2 R&quot;, sans-serif"/>
                      </a:endParaRPr>
                    </a:p>
                  </a:txBody>
                  <a:tcPr marL="133350" marR="133350" marT="104775" marB="104775" anchor="ctr" anchorCtr="0" vert="horz"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ctr">
                        <a:defRPr b="0" sz="10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defRPr>
                      </a:pPr>
                      <a:r>
                        <a:rPr b="0" sz="10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rPr>
                        <a:t>Baseline-R / Baseline-T</a:t>
                      </a:r>
                      <a:endParaRPr b="0" sz="100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Inter, sans-serif"/>
                        <a:ea typeface="Inter, sans-serif"/>
                        <a:cs typeface="Inter, sans-serif"/>
                      </a:endParaRPr>
                    </a:p>
                  </a:txBody>
                  <a:tcPr marL="133350" marR="133350" marT="104775" marB="104775" anchor="ctr" anchorCtr="1" vert="horz"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</a:tr>
              <a:tr h="572557">
                <a:tc>
                  <a:txBody>
                    <a:bodyPr rot="0" wrap="square"/>
                    <a:p>
                      <a:pPr algn="l">
                        <a:defRPr b="1" sz="10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FZYaYiHei GB18030L2 R" panose="02000500000000000000" charset="-122"/>
                          <a:ea typeface="FZYaYiHei GB18030L2 R" panose="02000500000000000000" charset="-122"/>
                          <a:cs typeface="FZYaYiHei GB18030L2 R" panose="02000500000000000000" charset="-122"/>
                        </a:defRPr>
                      </a:pPr>
                      <a:r>
                        <a:rPr b="1" sz="10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FZYaYiHei GB18030L2 R" panose="02000500000000000000" charset="-122"/>
                          <a:ea typeface="FZYaYiHei GB18030L2 R" panose="02000500000000000000" charset="-122"/>
                          <a:cs typeface="FZYaYiHei GB18030L2 R" panose="02000500000000000000" charset="-122"/>
                        </a:rPr>
                        <a:t>融合策略</a:t>
                      </a:r>
                      <a:endParaRPr b="1" sz="100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FZYaYiHei GB18030L2 R" panose="02000500000000000000" charset="-122"/>
                        <a:ea typeface="FZYaYiHei GB18030L2 R" panose="02000500000000000000" charset="-122"/>
                        <a:cs typeface="FZYaYiHei GB18030L2 R" panose="02000500000000000000" charset="-122"/>
                      </a:endParaRPr>
                    </a:p>
                  </a:txBody>
                  <a:tcPr marL="133350" marR="133350" marT="104775" marB="104775" anchor="ctr" anchorCtr="0" vert="horz"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b="0" sz="11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0" sz="11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质量感知门控融合</a:t>
                      </a:r>
                      <a:endParaRPr b="0" sz="110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&quot;FZYaYiHei GB18030L2 R&quot;, sans-serif"/>
                        <a:ea typeface="&quot;FZYaYiHei GB18030L2 R&quot;, sans-serif"/>
                        <a:cs typeface="&quot;FZYaYiHei GB18030L2 R&quot;, sans-serif"/>
                      </a:endParaRPr>
                    </a:p>
                  </a:txBody>
                  <a:tcPr marL="133350" marR="133350" marT="104775" marB="104775" anchor="ctr" anchorCtr="0" vert="horz"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b="0" sz="11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0" sz="11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避免跨模态污染，场景自适应</a:t>
                      </a:r>
                      <a:endParaRPr b="0" sz="110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&quot;FZYaYiHei GB18030L2 R&quot;, sans-serif"/>
                        <a:ea typeface="&quot;FZYaYiHei GB18030L2 R&quot;, sans-serif"/>
                        <a:cs typeface="&quot;FZYaYiHei GB18030L2 R&quot;, sans-serif"/>
                      </a:endParaRPr>
                    </a:p>
                  </a:txBody>
                  <a:tcPr marL="133350" marR="133350" marT="104775" marB="104775" anchor="ctr" anchorCtr="0" vert="horz"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ctr">
                        <a:defRPr b="0" sz="10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defRPr>
                      </a:pPr>
                      <a:r>
                        <a:rPr b="0" sz="10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rPr>
                        <a:t>QAFM</a:t>
                      </a:r>
                      <a:endParaRPr b="0" sz="100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Inter, sans-serif"/>
                        <a:ea typeface="Inter, sans-serif"/>
                        <a:cs typeface="Inter, sans-serif"/>
                      </a:endParaRPr>
                    </a:p>
                  </a:txBody>
                  <a:tcPr marL="133350" marR="133350" marT="104775" marB="104775" anchor="ctr" anchorCtr="1" vert="horz"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</a:tr>
              <a:tr h="571349">
                <a:tc>
                  <a:txBody>
                    <a:bodyPr rot="0" wrap="square"/>
                    <a:p>
                      <a:pPr algn="l">
                        <a:defRPr b="1" sz="10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FZYaYiHei GB18030L2 R" panose="02000500000000000000" charset="-122"/>
                          <a:ea typeface="FZYaYiHei GB18030L2 R" panose="02000500000000000000" charset="-122"/>
                          <a:cs typeface="FZYaYiHei GB18030L2 R" panose="02000500000000000000" charset="-122"/>
                        </a:defRPr>
                      </a:pPr>
                      <a:r>
                        <a:rPr b="1" sz="10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FZYaYiHei GB18030L2 R" panose="02000500000000000000" charset="-122"/>
                          <a:ea typeface="FZYaYiHei GB18030L2 R" panose="02000500000000000000" charset="-122"/>
                          <a:cs typeface="FZYaYiHei GB18030L2 R" panose="02000500000000000000" charset="-122"/>
                        </a:rPr>
                        <a:t>对齐方案</a:t>
                      </a:r>
                      <a:endParaRPr b="1" sz="100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FZYaYiHei GB18030L2 R" panose="02000500000000000000" charset="-122"/>
                        <a:ea typeface="FZYaYiHei GB18030L2 R" panose="02000500000000000000" charset="-122"/>
                        <a:cs typeface="FZYaYiHei GB18030L2 R" panose="02000500000000000000" charset="-122"/>
                      </a:endParaRPr>
                    </a:p>
                  </a:txBody>
                  <a:tcPr marL="133350" marR="133350" marT="104775" marB="104775" anchor="ctr" anchorCtr="0" vert="horz"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b="0" sz="11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0" sz="11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可变形交叉注意力</a:t>
                      </a:r>
                      <a:endParaRPr b="0" sz="110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&quot;FZYaYiHei GB18030L2 R&quot;, sans-serif"/>
                        <a:ea typeface="&quot;FZYaYiHei GB18030L2 R&quot;, sans-serif"/>
                        <a:cs typeface="&quot;FZYaYiHei GB18030L2 R&quot;, sans-serif"/>
                      </a:endParaRPr>
                    </a:p>
                  </a:txBody>
                  <a:tcPr marL="133350" marR="133350" marT="104775" marB="104775" anchor="ctr" anchorCtr="0" vert="horz"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b="0" sz="11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0" sz="11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弱对齐场景鲁棒性强</a:t>
                      </a:r>
                      <a:endParaRPr b="0" sz="110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&quot;FZYaYiHei GB18030L2 R&quot;, sans-serif"/>
                        <a:ea typeface="&quot;FZYaYiHei GB18030L2 R&quot;, sans-serif"/>
                        <a:cs typeface="&quot;FZYaYiHei GB18030L2 R&quot;, sans-serif"/>
                      </a:endParaRPr>
                    </a:p>
                  </a:txBody>
                  <a:tcPr marL="133350" marR="133350" marT="104775" marB="104775" anchor="ctr" anchorCtr="0" vert="horz"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ctr">
                        <a:defRPr b="0" sz="10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defRPr>
                      </a:pPr>
                      <a:r>
                        <a:rPr b="0" sz="10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rPr>
                        <a:t>数据配准+QAFM一致性</a:t>
                      </a:r>
                      <a:endParaRPr b="0" sz="100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Inter, sans-serif"/>
                        <a:ea typeface="Inter, sans-serif"/>
                        <a:cs typeface="Inter, sans-serif"/>
                      </a:endParaRPr>
                    </a:p>
                  </a:txBody>
                  <a:tcPr marL="133350" marR="133350" marT="104775" marB="104775" anchor="ctr" anchorCtr="1" vert="horz"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</a:tr>
              <a:tr h="571953">
                <a:tc>
                  <a:txBody>
                    <a:bodyPr rot="0" wrap="square"/>
                    <a:p>
                      <a:pPr algn="l">
                        <a:defRPr b="1" sz="10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FZYaYiHei GB18030L2 R" panose="02000500000000000000" charset="-122"/>
                          <a:ea typeface="FZYaYiHei GB18030L2 R" panose="02000500000000000000" charset="-122"/>
                          <a:cs typeface="FZYaYiHei GB18030L2 R" panose="02000500000000000000" charset="-122"/>
                        </a:defRPr>
                      </a:pPr>
                      <a:r>
                        <a:rPr b="1" sz="10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FZYaYiHei GB18030L2 R" panose="02000500000000000000" charset="-122"/>
                          <a:ea typeface="FZYaYiHei GB18030L2 R" panose="02000500000000000000" charset="-122"/>
                          <a:cs typeface="FZYaYiHei GB18030L2 R" panose="02000500000000000000" charset="-122"/>
                        </a:rPr>
                        <a:t>小目标优化</a:t>
                      </a:r>
                      <a:endParaRPr b="1" sz="100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FZYaYiHei GB18030L2 R" panose="02000500000000000000" charset="-122"/>
                        <a:ea typeface="FZYaYiHei GB18030L2 R" panose="02000500000000000000" charset="-122"/>
                        <a:cs typeface="FZYaYiHei GB18030L2 R" panose="02000500000000000000" charset="-122"/>
                      </a:endParaRPr>
                    </a:p>
                  </a:txBody>
                  <a:tcPr marL="133350" marR="133350" marT="104775" marB="104775" anchor="ctr" anchorCtr="0" vert="horz"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b="0" sz="11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0" sz="11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P2检测头 + SPD-Conv</a:t>
                      </a:r>
                      <a:endParaRPr b="0" sz="110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&quot;FZYaYiHei GB18030L2 R&quot;, sans-serif"/>
                        <a:ea typeface="&quot;FZYaYiHei GB18030L2 R&quot;, sans-serif"/>
                        <a:cs typeface="&quot;FZYaYiHei GB18030L2 R&quot;, sans-serif"/>
                      </a:endParaRPr>
                    </a:p>
                  </a:txBody>
                  <a:tcPr marL="133350" marR="133350" marT="104775" marB="104775" anchor="ctr" anchorCtr="0" vert="horz"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b="0" sz="11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0" sz="11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细节保留与效率兼顾</a:t>
                      </a:r>
                      <a:endParaRPr b="0" sz="110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&quot;FZYaYiHei GB18030L2 R&quot;, sans-serif"/>
                        <a:ea typeface="&quot;FZYaYiHei GB18030L2 R&quot;, sans-serif"/>
                        <a:cs typeface="&quot;FZYaYiHei GB18030L2 R&quot;, sans-serif"/>
                      </a:endParaRPr>
                    </a:p>
                  </a:txBody>
                  <a:tcPr marL="133350" marR="133350" marT="104775" marB="104775" anchor="ctr" anchorCtr="0" vert="horz"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ctr">
                        <a:defRPr b="0" sz="10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defRPr>
                      </a:pPr>
                      <a:r>
                        <a:rPr b="0" sz="10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rPr>
                        <a:t>Tiny-P2</a:t>
                      </a:r>
                      <a:endParaRPr b="0" sz="100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Inter, sans-serif"/>
                        <a:ea typeface="Inter, sans-serif"/>
                        <a:cs typeface="Inter, sans-serif"/>
                      </a:endParaRPr>
                    </a:p>
                  </a:txBody>
                  <a:tcPr marL="133350" marR="133350" marT="104775" marB="104775" anchor="ctr" anchorCtr="1" vert="horz"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</a:tr>
              <a:tr h="572557">
                <a:tc>
                  <a:txBody>
                    <a:bodyPr rot="0" wrap="square"/>
                    <a:p>
                      <a:pPr algn="l">
                        <a:defRPr b="1" sz="10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FZYaYiHei GB18030L2 R" panose="02000500000000000000" charset="-122"/>
                          <a:ea typeface="FZYaYiHei GB18030L2 R" panose="02000500000000000000" charset="-122"/>
                          <a:cs typeface="FZYaYiHei GB18030L2 R" panose="02000500000000000000" charset="-122"/>
                        </a:defRPr>
                      </a:pPr>
                      <a:r>
                        <a:rPr b="1" sz="10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FZYaYiHei GB18030L2 R" panose="02000500000000000000" charset="-122"/>
                          <a:ea typeface="FZYaYiHei GB18030L2 R" panose="02000500000000000000" charset="-122"/>
                          <a:cs typeface="FZYaYiHei GB18030L2 R" panose="02000500000000000000" charset="-122"/>
                        </a:rPr>
                        <a:t>密集场景</a:t>
                      </a:r>
                      <a:endParaRPr b="1" sz="100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FZYaYiHei GB18030L2 R" panose="02000500000000000000" charset="-122"/>
                        <a:ea typeface="FZYaYiHei GB18030L2 R" panose="02000500000000000000" charset="-122"/>
                        <a:cs typeface="FZYaYiHei GB18030L2 R" panose="02000500000000000000" charset="-122"/>
                      </a:endParaRPr>
                    </a:p>
                  </a:txBody>
                  <a:tcPr marL="133350" marR="133350" marT="104775" marB="104775" anchor="ctr" anchorCtr="0" vert="horz"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b="0" sz="11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0" sz="11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任务对齐分配 + Soft-NMS</a:t>
                      </a:r>
                      <a:endParaRPr b="0" sz="110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&quot;FZYaYiHei GB18030L2 R&quot;, sans-serif"/>
                        <a:ea typeface="&quot;FZYaYiHei GB18030L2 R&quot;, sans-serif"/>
                        <a:cs typeface="&quot;FZYaYiHei GB18030L2 R&quot;, sans-serif"/>
                      </a:endParaRPr>
                    </a:p>
                  </a:txBody>
                  <a:tcPr marL="133350" marR="133350" marT="104775" marB="104775" anchor="ctr" anchorCtr="0" vert="horz"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b="0" sz="11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0" sz="11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减少漏检与重复框</a:t>
                      </a:r>
                      <a:endParaRPr b="0" sz="110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&quot;FZYaYiHei GB18030L2 R&quot;, sans-serif"/>
                        <a:ea typeface="&quot;FZYaYiHei GB18030L2 R&quot;, sans-serif"/>
                        <a:cs typeface="&quot;FZYaYiHei GB18030L2 R&quot;, sans-serif"/>
                      </a:endParaRPr>
                    </a:p>
                  </a:txBody>
                  <a:tcPr marL="133350" marR="133350" marT="104775" marB="104775" anchor="ctr" anchorCtr="0" vert="horz"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ctr">
                        <a:defRPr b="0" sz="10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defRPr>
                      </a:pPr>
                      <a:r>
                        <a:rPr b="0" sz="10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rPr>
                        <a:t>密集优化模块</a:t>
                      </a:r>
                      <a:endParaRPr b="0" sz="100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Inter, sans-serif"/>
                        <a:ea typeface="Inter, sans-serif"/>
                        <a:cs typeface="Inter, sans-serif"/>
                      </a:endParaRPr>
                    </a:p>
                  </a:txBody>
                  <a:tcPr marL="133350" marR="133350" marT="104775" marB="104775" anchor="ctr" anchorCtr="1" vert="horz"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</a:tr>
              <a:tr h="571349">
                <a:tc>
                  <a:txBody>
                    <a:bodyPr rot="0" wrap="square"/>
                    <a:p>
                      <a:pPr algn="l">
                        <a:defRPr b="1" sz="10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FZYaYiHei GB18030L2 R" panose="02000500000000000000" charset="-122"/>
                          <a:ea typeface="FZYaYiHei GB18030L2 R" panose="02000500000000000000" charset="-122"/>
                          <a:cs typeface="FZYaYiHei GB18030L2 R" panose="02000500000000000000" charset="-122"/>
                        </a:defRPr>
                      </a:pPr>
                      <a:r>
                        <a:rPr b="1" sz="10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FZYaYiHei GB18030L2 R" panose="02000500000000000000" charset="-122"/>
                          <a:ea typeface="FZYaYiHei GB18030L2 R" panose="02000500000000000000" charset="-122"/>
                          <a:cs typeface="FZYaYiHei GB18030L2 R" panose="02000500000000000000" charset="-122"/>
                        </a:rPr>
                        <a:t>实时部署</a:t>
                      </a:r>
                      <a:endParaRPr b="1" sz="100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FZYaYiHei GB18030L2 R" panose="02000500000000000000" charset="-122"/>
                        <a:ea typeface="FZYaYiHei GB18030L2 R" panose="02000500000000000000" charset="-122"/>
                        <a:cs typeface="FZYaYiHei GB18030L2 R" panose="02000500000000000000" charset="-122"/>
                      </a:endParaRPr>
                    </a:p>
                  </a:txBody>
                  <a:tcPr marL="133350" marR="133350" marT="104775" marB="104775" anchor="ctr" anchorCtr="0" vert="horz"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b="0" sz="11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0" sz="11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ONNX/TensorRT + 混合精度</a:t>
                      </a:r>
                      <a:endParaRPr b="0" sz="110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&quot;FZYaYiHei GB18030L2 R&quot;, sans-serif"/>
                        <a:ea typeface="&quot;FZYaYiHei GB18030L2 R&quot;, sans-serif"/>
                        <a:cs typeface="&quot;FZYaYiHei GB18030L2 R&quot;, sans-serif"/>
                      </a:endParaRPr>
                    </a:p>
                  </a:txBody>
                  <a:tcPr marL="133350" marR="133350" marT="104775" marB="104775" anchor="ctr" anchorCtr="0" vert="horz"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l">
                        <a:defRPr b="0" sz="11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b="0" sz="11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满足≥15FPS要求</a:t>
                      </a:r>
                      <a:endParaRPr b="0" sz="110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&quot;FZYaYiHei GB18030L2 R&quot;, sans-serif"/>
                        <a:ea typeface="&quot;FZYaYiHei GB18030L2 R&quot;, sans-serif"/>
                        <a:cs typeface="&quot;FZYaYiHei GB18030L2 R&quot;, sans-serif"/>
                      </a:endParaRPr>
                    </a:p>
                  </a:txBody>
                  <a:tcPr marL="133350" marR="133350" marT="104775" marB="104775" anchor="ctr" anchorCtr="0" vert="horz"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 rot="0" wrap="square"/>
                    <a:p>
                      <a:pPr algn="ctr">
                        <a:defRPr b="0" sz="10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defRPr>
                      </a:pPr>
                      <a:r>
                        <a:rPr b="0" sz="1000" i="0" strike="noStrike">
                          <a:solidFill>
                            <a:srgbClr val="0A1F3D">
                              <a:alpha val="100000"/>
                            </a:srgbClr>
                          </a:solidFill>
                          <a:latin typeface="Inter, sans-serif"/>
                          <a:ea typeface="Inter, sans-serif"/>
                          <a:cs typeface="Inter, sans-serif"/>
                        </a:rPr>
                        <a:t>实时推理模块</a:t>
                      </a:r>
                      <a:endParaRPr b="0" sz="1000" i="0" strike="noStrike">
                        <a:solidFill>
                          <a:srgbClr val="0A1F3D">
                            <a:alpha val="100000"/>
                          </a:srgbClr>
                        </a:solidFill>
                        <a:latin typeface="Inter, sans-serif"/>
                        <a:ea typeface="Inter, sans-serif"/>
                        <a:cs typeface="Inter, sans-serif"/>
                      </a:endParaRPr>
                    </a:p>
                  </a:txBody>
                  <a:tcPr marL="133350" marR="133350" marT="104775" marB="104775" anchor="ctr" anchorCtr="1" vert="horz">
                    <a:lnL w="25400">
                      <a:solidFill>
                        <a:srgbClr val="5B8CB8">
                          <a:alpha val="100000"/>
                        </a:srgbClr>
                      </a:solidFill>
                    </a:lnL>
                    <a:lnR w="25400">
                      <a:solidFill>
                        <a:srgbClr val="5B8CB8">
                          <a:alpha val="100000"/>
                        </a:srgbClr>
                      </a:solidFill>
                    </a:lnR>
                    <a:lnT w="25400">
                      <a:solidFill>
                        <a:srgbClr val="5B8CB8">
                          <a:alpha val="100000"/>
                        </a:srgbClr>
                      </a:solidFill>
                    </a:lnT>
                    <a:lnB w="25400">
                      <a:solidFill>
                        <a:srgbClr val="5B8CB8">
                          <a:alpha val="100000"/>
                        </a:srgbClr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48816" name="AutoShape 11"/>
          <p:cNvSpPr/>
          <p:nvPr/>
        </p:nvSpPr>
        <p:spPr>
          <a:xfrm>
            <a:off x="444439" y="6257925"/>
            <a:ext cx="114271" cy="114300"/>
          </a:xfrm>
          <a:custGeom>
            <a:avLst/>
            <a:ahLst/>
            <a:rect l="l" t="t" r="r" b="b"/>
            <a:pathLst>
              <a:path w="9998" h="10000">
                <a:moveTo>
                  <a:pt x="4999" y="10000"/>
                </a:moveTo>
                <a:cubicBezTo>
                  <a:pt x="4319" y="10000"/>
                  <a:pt x="3669" y="9870"/>
                  <a:pt x="3049" y="9610"/>
                </a:cubicBezTo>
                <a:cubicBezTo>
                  <a:pt x="2456" y="9356"/>
                  <a:pt x="1928" y="8998"/>
                  <a:pt x="1465" y="8535"/>
                </a:cubicBezTo>
                <a:cubicBezTo>
                  <a:pt x="1001" y="8071"/>
                  <a:pt x="643" y="7543"/>
                  <a:pt x="390" y="6950"/>
                </a:cubicBezTo>
                <a:cubicBezTo>
                  <a:pt x="130" y="6330"/>
                  <a:pt x="0" y="5680"/>
                  <a:pt x="0" y="5000"/>
                </a:cubicBezTo>
                <a:cubicBezTo>
                  <a:pt x="0" y="4320"/>
                  <a:pt x="130" y="3670"/>
                  <a:pt x="390" y="3050"/>
                </a:cubicBezTo>
                <a:cubicBezTo>
                  <a:pt x="643" y="2456"/>
                  <a:pt x="1001" y="1928"/>
                  <a:pt x="1465" y="1465"/>
                </a:cubicBezTo>
                <a:cubicBezTo>
                  <a:pt x="1928" y="1001"/>
                  <a:pt x="2456" y="643"/>
                  <a:pt x="3049" y="390"/>
                </a:cubicBezTo>
                <a:cubicBezTo>
                  <a:pt x="3669" y="130"/>
                  <a:pt x="4319" y="0"/>
                  <a:pt x="4999" y="0"/>
                </a:cubicBezTo>
                <a:cubicBezTo>
                  <a:pt x="5679" y="0"/>
                  <a:pt x="6329" y="130"/>
                  <a:pt x="6949" y="390"/>
                </a:cubicBezTo>
                <a:cubicBezTo>
                  <a:pt x="7541" y="643"/>
                  <a:pt x="8069" y="1001"/>
                  <a:pt x="8533" y="1465"/>
                </a:cubicBezTo>
                <a:cubicBezTo>
                  <a:pt x="8996" y="1928"/>
                  <a:pt x="9354" y="2456"/>
                  <a:pt x="9608" y="3050"/>
                </a:cubicBezTo>
                <a:cubicBezTo>
                  <a:pt x="9868" y="3670"/>
                  <a:pt x="9998" y="4320"/>
                  <a:pt x="9998" y="5000"/>
                </a:cubicBezTo>
                <a:cubicBezTo>
                  <a:pt x="9998" y="5680"/>
                  <a:pt x="9868" y="6330"/>
                  <a:pt x="9608" y="6950"/>
                </a:cubicBezTo>
                <a:cubicBezTo>
                  <a:pt x="9354" y="7543"/>
                  <a:pt x="8996" y="8071"/>
                  <a:pt x="8533" y="8535"/>
                </a:cubicBezTo>
                <a:cubicBezTo>
                  <a:pt x="8069" y="8998"/>
                  <a:pt x="7541" y="9356"/>
                  <a:pt x="6949" y="9610"/>
                </a:cubicBezTo>
                <a:cubicBezTo>
                  <a:pt x="6329" y="9870"/>
                  <a:pt x="5679" y="10000"/>
                  <a:pt x="4999" y="10000"/>
                </a:cubicBezTo>
                <a:moveTo>
                  <a:pt x="4999" y="9000"/>
                </a:moveTo>
                <a:cubicBezTo>
                  <a:pt x="5725" y="9000"/>
                  <a:pt x="6399" y="8816"/>
                  <a:pt x="7019" y="8450"/>
                </a:cubicBezTo>
                <a:cubicBezTo>
                  <a:pt x="7618" y="8096"/>
                  <a:pt x="8094" y="7620"/>
                  <a:pt x="8448" y="7020"/>
                </a:cubicBezTo>
                <a:cubicBezTo>
                  <a:pt x="8814" y="6400"/>
                  <a:pt x="8998" y="5726"/>
                  <a:pt x="8998" y="5000"/>
                </a:cubicBezTo>
                <a:cubicBezTo>
                  <a:pt x="8998" y="4273"/>
                  <a:pt x="8814" y="3600"/>
                  <a:pt x="8448" y="2980"/>
                </a:cubicBezTo>
                <a:cubicBezTo>
                  <a:pt x="8094" y="2380"/>
                  <a:pt x="7618" y="1903"/>
                  <a:pt x="7019" y="1550"/>
                </a:cubicBezTo>
                <a:cubicBezTo>
                  <a:pt x="6399" y="1183"/>
                  <a:pt x="5725" y="1000"/>
                  <a:pt x="4999" y="1000"/>
                </a:cubicBezTo>
                <a:cubicBezTo>
                  <a:pt x="4272" y="1000"/>
                  <a:pt x="3599" y="1183"/>
                  <a:pt x="2979" y="1550"/>
                </a:cubicBezTo>
                <a:cubicBezTo>
                  <a:pt x="2379" y="1903"/>
                  <a:pt x="1903" y="2380"/>
                  <a:pt x="1550" y="2980"/>
                </a:cubicBezTo>
                <a:cubicBezTo>
                  <a:pt x="1183" y="3600"/>
                  <a:pt x="1000" y="4273"/>
                  <a:pt x="1000" y="5000"/>
                </a:cubicBezTo>
                <a:cubicBezTo>
                  <a:pt x="1000" y="5726"/>
                  <a:pt x="1183" y="6400"/>
                  <a:pt x="1550" y="7020"/>
                </a:cubicBezTo>
                <a:cubicBezTo>
                  <a:pt x="1903" y="7620"/>
                  <a:pt x="2379" y="8096"/>
                  <a:pt x="2979" y="8450"/>
                </a:cubicBezTo>
                <a:cubicBezTo>
                  <a:pt x="3599" y="8816"/>
                  <a:pt x="4272" y="9000"/>
                  <a:pt x="4999" y="9000"/>
                </a:cubicBezTo>
                <a:moveTo>
                  <a:pt x="4499" y="3500"/>
                </a:moveTo>
                <a:lnTo>
                  <a:pt x="4499" y="2500"/>
                </a:lnTo>
                <a:lnTo>
                  <a:pt x="5499" y="2500"/>
                </a:lnTo>
                <a:lnTo>
                  <a:pt x="5499" y="3500"/>
                </a:lnTo>
                <a:lnTo>
                  <a:pt x="4499" y="3500"/>
                </a:lnTo>
                <a:moveTo>
                  <a:pt x="4499" y="7500"/>
                </a:moveTo>
                <a:lnTo>
                  <a:pt x="4499" y="4500"/>
                </a:lnTo>
                <a:lnTo>
                  <a:pt x="5499" y="4500"/>
                </a:lnTo>
                <a:lnTo>
                  <a:pt x="5499" y="7500"/>
                </a:lnTo>
              </a:path>
            </a:pathLst>
          </a:custGeom>
          <a:solidFill>
            <a:srgbClr val="0A1F3D">
              <a:alpha val="100000"/>
            </a:srgbClr>
          </a:solidFill>
          <a:ln>
            <a:headEnd type="none"/>
            <a:tailEnd type="none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3" name="AutoShape 2"/>
          <p:cNvSpPr/>
          <p:nvPr/>
        </p:nvSpPr>
        <p:spPr>
          <a:xfrm>
            <a:off x="0" y="0"/>
            <a:ext cx="12188952" cy="6858000"/>
          </a:xfrm>
          <a:prstGeom prst="rect"/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048824" name="TextBox 3"/>
          <p:cNvSpPr txBox="1"/>
          <p:nvPr/>
        </p:nvSpPr>
        <p:spPr>
          <a:xfrm>
            <a:off x="457086" y="476250"/>
            <a:ext cx="11274781" cy="133350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none"/>
          <a:p>
            <a:pPr algn="l"/>
            <a:r>
              <a:rPr b="0" sz="900" i="0" lang="en-US" strike="noStrike">
                <a:solidFill>
                  <a:srgbClr val="0A1F3D">
                    <a:alpha val="6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Design Logic</a:t>
            </a:r>
            <a:endParaRPr sz="1100" lang="en-US"/>
          </a:p>
        </p:txBody>
      </p:sp>
      <p:sp>
        <p:nvSpPr>
          <p:cNvPr id="1048825" name="TextBox 4"/>
          <p:cNvSpPr txBox="1"/>
          <p:nvPr/>
        </p:nvSpPr>
        <p:spPr>
          <a:xfrm>
            <a:off x="457086" y="781050"/>
            <a:ext cx="11274781" cy="419100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none"/>
          <a:p>
            <a:pPr algn="l"/>
            <a:r>
              <a:rPr b="1" sz="3000" i="0" lang="en-US" strike="noStrike"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方案核心设计逻辑与竞争力论证</a:t>
            </a:r>
            <a:endParaRPr sz="1100" lang="en-US"/>
          </a:p>
        </p:txBody>
      </p:sp>
      <p:sp>
        <p:nvSpPr>
          <p:cNvPr id="1048826" name="AutoShape 5"/>
          <p:cNvSpPr/>
          <p:nvPr/>
        </p:nvSpPr>
        <p:spPr>
          <a:xfrm>
            <a:off x="457086" y="1390650"/>
            <a:ext cx="9522" cy="649486"/>
          </a:xfrm>
          <a:prstGeom prst="line"/>
          <a:ln w="9525">
            <a:solidFill>
              <a:srgbClr val="5B8CB8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1048827" name="TextBox 6"/>
          <p:cNvSpPr txBox="1"/>
          <p:nvPr/>
        </p:nvSpPr>
        <p:spPr>
          <a:xfrm>
            <a:off x="466575" y="1524000"/>
            <a:ext cx="11589027" cy="562868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square"/>
          <a:p>
            <a:pPr algn="l"/>
            <a:r>
              <a:rPr b="0" sz="1600" i="1" lang="en-US" strike="noStrike">
                <a:solidFill>
                  <a:srgbClr val="0A1F3D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方案通过QAFM实现动态融合、Tiny-P2专项优化小目标，并配合完整的消</a:t>
            </a:r>
            <a:r>
              <a:rPr b="0" sz="1600" i="1" strike="noStrike">
                <a:solidFill>
                  <a:srgbClr val="0A1F3D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融实验证据链，构成了可信的技术方案。'融合有依据、小目标有专项、结果可验证'是其关键竞争力。</a:t>
            </a:r>
            <a:endParaRPr b="0" sz="1600" i="1" strike="noStrike">
              <a:solidFill>
                <a:srgbClr val="0A1F3D">
                  <a:alpha val="78039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048828" name="AutoShape 7"/>
          <p:cNvSpPr/>
          <p:nvPr/>
        </p:nvSpPr>
        <p:spPr>
          <a:xfrm>
            <a:off x="457086" y="2268736"/>
            <a:ext cx="3605799" cy="4132064"/>
          </a:xfrm>
          <a:prstGeom prst="rect"/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48829" name="AutoShape 8"/>
          <p:cNvSpPr/>
          <p:nvPr/>
        </p:nvSpPr>
        <p:spPr>
          <a:xfrm>
            <a:off x="457086" y="2268736"/>
            <a:ext cx="3605799" cy="9525"/>
          </a:xfrm>
          <a:prstGeom prst="line"/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48830" name="AutoShape 9"/>
          <p:cNvSpPr/>
          <p:nvPr/>
        </p:nvSpPr>
        <p:spPr>
          <a:xfrm>
            <a:off x="695151" y="2564011"/>
            <a:ext cx="438041" cy="438150"/>
          </a:xfrm>
          <a:custGeom>
            <a:avLst/>
            <a:ahLst/>
            <a:rect l="l" t="t" r="r" b="b"/>
            <a:pathLst>
              <a:path w="9998" h="10000">
                <a:moveTo>
                  <a:pt x="4999" y="10000"/>
                </a:moveTo>
                <a:cubicBezTo>
                  <a:pt x="4319" y="10000"/>
                  <a:pt x="3669" y="9870"/>
                  <a:pt x="3049" y="9610"/>
                </a:cubicBezTo>
                <a:cubicBezTo>
                  <a:pt x="2456" y="9356"/>
                  <a:pt x="1928" y="8998"/>
                  <a:pt x="1465" y="8535"/>
                </a:cubicBezTo>
                <a:cubicBezTo>
                  <a:pt x="1001" y="8071"/>
                  <a:pt x="643" y="7543"/>
                  <a:pt x="390" y="6950"/>
                </a:cubicBezTo>
                <a:cubicBezTo>
                  <a:pt x="130" y="6330"/>
                  <a:pt x="0" y="5680"/>
                  <a:pt x="0" y="5000"/>
                </a:cubicBezTo>
                <a:cubicBezTo>
                  <a:pt x="0" y="4320"/>
                  <a:pt x="130" y="3670"/>
                  <a:pt x="390" y="3050"/>
                </a:cubicBezTo>
                <a:cubicBezTo>
                  <a:pt x="643" y="2456"/>
                  <a:pt x="1001" y="1928"/>
                  <a:pt x="1465" y="1465"/>
                </a:cubicBezTo>
                <a:cubicBezTo>
                  <a:pt x="1928" y="1001"/>
                  <a:pt x="2456" y="643"/>
                  <a:pt x="3049" y="390"/>
                </a:cubicBezTo>
                <a:cubicBezTo>
                  <a:pt x="3669" y="130"/>
                  <a:pt x="4319" y="0"/>
                  <a:pt x="4999" y="0"/>
                </a:cubicBezTo>
                <a:cubicBezTo>
                  <a:pt x="5679" y="0"/>
                  <a:pt x="6329" y="130"/>
                  <a:pt x="6949" y="390"/>
                </a:cubicBezTo>
                <a:cubicBezTo>
                  <a:pt x="7541" y="643"/>
                  <a:pt x="8069" y="1001"/>
                  <a:pt x="8533" y="1465"/>
                </a:cubicBezTo>
                <a:cubicBezTo>
                  <a:pt x="8996" y="1928"/>
                  <a:pt x="9354" y="2456"/>
                  <a:pt x="9608" y="3050"/>
                </a:cubicBezTo>
                <a:cubicBezTo>
                  <a:pt x="9868" y="3670"/>
                  <a:pt x="9998" y="4320"/>
                  <a:pt x="9998" y="5000"/>
                </a:cubicBezTo>
                <a:cubicBezTo>
                  <a:pt x="9998" y="5680"/>
                  <a:pt x="9868" y="6330"/>
                  <a:pt x="9608" y="6950"/>
                </a:cubicBezTo>
                <a:cubicBezTo>
                  <a:pt x="9354" y="7543"/>
                  <a:pt x="8996" y="8071"/>
                  <a:pt x="8533" y="8535"/>
                </a:cubicBezTo>
                <a:cubicBezTo>
                  <a:pt x="8069" y="8998"/>
                  <a:pt x="7541" y="9356"/>
                  <a:pt x="6949" y="9610"/>
                </a:cubicBezTo>
                <a:cubicBezTo>
                  <a:pt x="6329" y="9870"/>
                  <a:pt x="5679" y="10000"/>
                  <a:pt x="4999" y="10000"/>
                </a:cubicBezTo>
                <a:moveTo>
                  <a:pt x="4999" y="9000"/>
                </a:moveTo>
                <a:cubicBezTo>
                  <a:pt x="5725" y="9000"/>
                  <a:pt x="6399" y="8816"/>
                  <a:pt x="7019" y="8450"/>
                </a:cubicBezTo>
                <a:cubicBezTo>
                  <a:pt x="7618" y="8096"/>
                  <a:pt x="8094" y="7620"/>
                  <a:pt x="8448" y="7020"/>
                </a:cubicBezTo>
                <a:cubicBezTo>
                  <a:pt x="8814" y="6400"/>
                  <a:pt x="8998" y="5726"/>
                  <a:pt x="8998" y="5000"/>
                </a:cubicBezTo>
                <a:cubicBezTo>
                  <a:pt x="8998" y="4273"/>
                  <a:pt x="8814" y="3600"/>
                  <a:pt x="8448" y="2980"/>
                </a:cubicBezTo>
                <a:cubicBezTo>
                  <a:pt x="8094" y="2380"/>
                  <a:pt x="7618" y="1903"/>
                  <a:pt x="7019" y="1550"/>
                </a:cubicBezTo>
                <a:cubicBezTo>
                  <a:pt x="6399" y="1183"/>
                  <a:pt x="5725" y="1000"/>
                  <a:pt x="4999" y="1000"/>
                </a:cubicBezTo>
                <a:cubicBezTo>
                  <a:pt x="4272" y="1000"/>
                  <a:pt x="3599" y="1183"/>
                  <a:pt x="2979" y="1550"/>
                </a:cubicBezTo>
                <a:cubicBezTo>
                  <a:pt x="2379" y="1903"/>
                  <a:pt x="1903" y="2380"/>
                  <a:pt x="1550" y="2980"/>
                </a:cubicBezTo>
                <a:cubicBezTo>
                  <a:pt x="1183" y="3600"/>
                  <a:pt x="1000" y="4273"/>
                  <a:pt x="1000" y="5000"/>
                </a:cubicBezTo>
                <a:cubicBezTo>
                  <a:pt x="1000" y="5726"/>
                  <a:pt x="1183" y="6400"/>
                  <a:pt x="1550" y="7020"/>
                </a:cubicBezTo>
                <a:cubicBezTo>
                  <a:pt x="1903" y="7620"/>
                  <a:pt x="2379" y="8096"/>
                  <a:pt x="2979" y="8450"/>
                </a:cubicBezTo>
                <a:cubicBezTo>
                  <a:pt x="3599" y="8816"/>
                  <a:pt x="4272" y="9000"/>
                  <a:pt x="4999" y="9000"/>
                </a:cubicBezTo>
                <a:moveTo>
                  <a:pt x="2500" y="6660"/>
                </a:moveTo>
                <a:cubicBezTo>
                  <a:pt x="3032" y="6620"/>
                  <a:pt x="3539" y="6493"/>
                  <a:pt x="4019" y="6280"/>
                </a:cubicBezTo>
                <a:cubicBezTo>
                  <a:pt x="4519" y="6053"/>
                  <a:pt x="4964" y="5745"/>
                  <a:pt x="5354" y="5355"/>
                </a:cubicBezTo>
                <a:cubicBezTo>
                  <a:pt x="5744" y="4965"/>
                  <a:pt x="6052" y="4520"/>
                  <a:pt x="6279" y="4020"/>
                </a:cubicBezTo>
                <a:cubicBezTo>
                  <a:pt x="6492" y="3540"/>
                  <a:pt x="6619" y="3033"/>
                  <a:pt x="6659" y="2500"/>
                </a:cubicBezTo>
                <a:cubicBezTo>
                  <a:pt x="6825" y="2613"/>
                  <a:pt x="6979" y="2740"/>
                  <a:pt x="7119" y="2880"/>
                </a:cubicBezTo>
                <a:cubicBezTo>
                  <a:pt x="7505" y="3260"/>
                  <a:pt x="7764" y="3713"/>
                  <a:pt x="7898" y="4240"/>
                </a:cubicBezTo>
                <a:cubicBezTo>
                  <a:pt x="8031" y="4746"/>
                  <a:pt x="8031" y="5253"/>
                  <a:pt x="7898" y="5760"/>
                </a:cubicBezTo>
                <a:cubicBezTo>
                  <a:pt x="7764" y="6286"/>
                  <a:pt x="7506" y="6741"/>
                  <a:pt x="7124" y="7125"/>
                </a:cubicBezTo>
                <a:cubicBezTo>
                  <a:pt x="6740" y="7508"/>
                  <a:pt x="6285" y="7766"/>
                  <a:pt x="5759" y="7900"/>
                </a:cubicBezTo>
                <a:cubicBezTo>
                  <a:pt x="5252" y="8033"/>
                  <a:pt x="4745" y="8033"/>
                  <a:pt x="4239" y="7900"/>
                </a:cubicBezTo>
                <a:cubicBezTo>
                  <a:pt x="3712" y="7766"/>
                  <a:pt x="3259" y="7506"/>
                  <a:pt x="2879" y="7120"/>
                </a:cubicBezTo>
                <a:cubicBezTo>
                  <a:pt x="2739" y="6980"/>
                  <a:pt x="2612" y="6826"/>
                  <a:pt x="2500" y="6660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048831" name="TextBox 10"/>
          <p:cNvSpPr txBox="1"/>
          <p:nvPr/>
        </p:nvSpPr>
        <p:spPr>
          <a:xfrm>
            <a:off x="695151" y="3815507"/>
            <a:ext cx="3129669" cy="257175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none"/>
          <a:p>
            <a:pPr algn="l"/>
            <a:r>
              <a:rPr b="0" sz="1800" i="0" lang="en-US" strike="noStrike"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动态融合解决模态污染</a:t>
            </a:r>
            <a:endParaRPr sz="1100" lang="en-US"/>
          </a:p>
        </p:txBody>
      </p:sp>
      <p:sp>
        <p:nvSpPr>
          <p:cNvPr id="1048832" name="TextBox 11"/>
          <p:cNvSpPr txBox="1"/>
          <p:nvPr/>
        </p:nvSpPr>
        <p:spPr>
          <a:xfrm>
            <a:off x="695151" y="4236392"/>
            <a:ext cx="3367734" cy="633412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square"/>
          <a:p>
            <a:pPr algn="l"/>
            <a:r>
              <a:rPr b="0" sz="1100" i="0" lang="en-US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QAFM模块通过质量估计器输出像素级门控系数，</a:t>
            </a:r>
            <a:endParaRPr sz="1100" lang="en-US"/>
          </a:p>
          <a:p>
            <a:pPr algn="l"/>
            <a:r>
              <a:rPr b="0" sz="110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动态分配RGB与热红外权重，从根源上避免低质</a:t>
            </a:r>
            <a:endParaRPr b="0" sz="1100" i="0" strike="noStrike">
              <a:solidFill>
                <a:srgbClr val="0A1F3D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  <a:p>
            <a:pPr algn="l"/>
            <a:r>
              <a:rPr b="0" sz="110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量特征污染联合表征</a:t>
            </a:r>
            <a:endParaRPr b="0" sz="1100" i="0" strike="noStrike">
              <a:solidFill>
                <a:srgbClr val="0A1F3D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048833" name="AutoShape 12"/>
          <p:cNvSpPr/>
          <p:nvPr/>
        </p:nvSpPr>
        <p:spPr>
          <a:xfrm>
            <a:off x="695151" y="5709345"/>
            <a:ext cx="3129669" cy="9525"/>
          </a:xfrm>
          <a:prstGeom prst="line"/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48834" name="TextBox 13"/>
          <p:cNvSpPr txBox="1"/>
          <p:nvPr/>
        </p:nvSpPr>
        <p:spPr>
          <a:xfrm>
            <a:off x="695151" y="5842695"/>
            <a:ext cx="3129669" cy="285750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none"/>
          <a:p>
            <a:pPr algn="l"/>
            <a:r>
              <a:rPr b="0" sz="1900" i="0" lang="en-US" strike="noStrike"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QAFM</a:t>
            </a:r>
            <a:endParaRPr sz="1100" lang="en-US"/>
          </a:p>
        </p:txBody>
      </p:sp>
      <p:sp>
        <p:nvSpPr>
          <p:cNvPr id="1048835" name="AutoShape 14"/>
          <p:cNvSpPr/>
          <p:nvPr/>
        </p:nvSpPr>
        <p:spPr>
          <a:xfrm>
            <a:off x="4291428" y="2268736"/>
            <a:ext cx="3605948" cy="4132064"/>
          </a:xfrm>
          <a:prstGeom prst="rect"/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48836" name="AutoShape 15"/>
          <p:cNvSpPr/>
          <p:nvPr/>
        </p:nvSpPr>
        <p:spPr>
          <a:xfrm>
            <a:off x="4291428" y="2268736"/>
            <a:ext cx="3605948" cy="9525"/>
          </a:xfrm>
          <a:prstGeom prst="line"/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48837" name="AutoShape 16"/>
          <p:cNvSpPr/>
          <p:nvPr/>
        </p:nvSpPr>
        <p:spPr>
          <a:xfrm>
            <a:off x="4529493" y="2564011"/>
            <a:ext cx="438041" cy="438150"/>
          </a:xfrm>
          <a:custGeom>
            <a:avLst/>
            <a:ahLst/>
            <a:rect l="l" t="t" r="r" b="b"/>
            <a:pathLst>
              <a:path w="9998" h="10000">
                <a:moveTo>
                  <a:pt x="4545" y="0"/>
                </a:moveTo>
                <a:lnTo>
                  <a:pt x="5453" y="0"/>
                </a:lnTo>
                <a:lnTo>
                  <a:pt x="5453" y="1391"/>
                </a:lnTo>
                <a:cubicBezTo>
                  <a:pt x="5992" y="1457"/>
                  <a:pt x="6491" y="1636"/>
                  <a:pt x="6949" y="1927"/>
                </a:cubicBezTo>
                <a:cubicBezTo>
                  <a:pt x="7406" y="2218"/>
                  <a:pt x="7780" y="2592"/>
                  <a:pt x="8071" y="3050"/>
                </a:cubicBezTo>
                <a:cubicBezTo>
                  <a:pt x="8361" y="3507"/>
                  <a:pt x="8540" y="4005"/>
                  <a:pt x="8607" y="4545"/>
                </a:cubicBezTo>
                <a:lnTo>
                  <a:pt x="9998" y="4545"/>
                </a:lnTo>
                <a:lnTo>
                  <a:pt x="9998" y="5455"/>
                </a:lnTo>
                <a:lnTo>
                  <a:pt x="8607" y="5455"/>
                </a:lnTo>
                <a:cubicBezTo>
                  <a:pt x="8540" y="5994"/>
                  <a:pt x="8361" y="6492"/>
                  <a:pt x="8071" y="6950"/>
                </a:cubicBezTo>
                <a:cubicBezTo>
                  <a:pt x="7780" y="7407"/>
                  <a:pt x="7406" y="7781"/>
                  <a:pt x="6949" y="8073"/>
                </a:cubicBezTo>
                <a:cubicBezTo>
                  <a:pt x="6491" y="8363"/>
                  <a:pt x="5992" y="8542"/>
                  <a:pt x="5453" y="8609"/>
                </a:cubicBezTo>
                <a:lnTo>
                  <a:pt x="5453" y="10000"/>
                </a:lnTo>
                <a:lnTo>
                  <a:pt x="4545" y="10000"/>
                </a:lnTo>
                <a:lnTo>
                  <a:pt x="4545" y="8609"/>
                </a:lnTo>
                <a:cubicBezTo>
                  <a:pt x="4005" y="8542"/>
                  <a:pt x="3507" y="8363"/>
                  <a:pt x="3049" y="8073"/>
                </a:cubicBezTo>
                <a:cubicBezTo>
                  <a:pt x="2591" y="7781"/>
                  <a:pt x="2217" y="7407"/>
                  <a:pt x="1927" y="6950"/>
                </a:cubicBezTo>
                <a:cubicBezTo>
                  <a:pt x="1636" y="6492"/>
                  <a:pt x="1457" y="5994"/>
                  <a:pt x="1391" y="5455"/>
                </a:cubicBezTo>
                <a:lnTo>
                  <a:pt x="0" y="5455"/>
                </a:lnTo>
                <a:lnTo>
                  <a:pt x="0" y="4545"/>
                </a:lnTo>
                <a:lnTo>
                  <a:pt x="1391" y="4545"/>
                </a:lnTo>
                <a:cubicBezTo>
                  <a:pt x="1457" y="4005"/>
                  <a:pt x="1636" y="3507"/>
                  <a:pt x="1927" y="3050"/>
                </a:cubicBezTo>
                <a:cubicBezTo>
                  <a:pt x="2217" y="2592"/>
                  <a:pt x="2591" y="2218"/>
                  <a:pt x="3049" y="1927"/>
                </a:cubicBezTo>
                <a:cubicBezTo>
                  <a:pt x="3507" y="1636"/>
                  <a:pt x="4005" y="1457"/>
                  <a:pt x="4545" y="1391"/>
                </a:cubicBezTo>
                <a:lnTo>
                  <a:pt x="4545" y="0"/>
                </a:lnTo>
                <a:moveTo>
                  <a:pt x="4999" y="2273"/>
                </a:moveTo>
                <a:cubicBezTo>
                  <a:pt x="4508" y="2273"/>
                  <a:pt x="4051" y="2397"/>
                  <a:pt x="3627" y="2645"/>
                </a:cubicBezTo>
                <a:cubicBezTo>
                  <a:pt x="3214" y="2887"/>
                  <a:pt x="2887" y="3215"/>
                  <a:pt x="2645" y="3627"/>
                </a:cubicBezTo>
                <a:cubicBezTo>
                  <a:pt x="2396" y="4051"/>
                  <a:pt x="2272" y="4509"/>
                  <a:pt x="2272" y="5000"/>
                </a:cubicBezTo>
                <a:cubicBezTo>
                  <a:pt x="2272" y="5490"/>
                  <a:pt x="2396" y="5948"/>
                  <a:pt x="2645" y="6373"/>
                </a:cubicBezTo>
                <a:cubicBezTo>
                  <a:pt x="2887" y="6785"/>
                  <a:pt x="3214" y="7112"/>
                  <a:pt x="3627" y="7355"/>
                </a:cubicBezTo>
                <a:cubicBezTo>
                  <a:pt x="4051" y="7603"/>
                  <a:pt x="4508" y="7727"/>
                  <a:pt x="4999" y="7727"/>
                </a:cubicBezTo>
                <a:cubicBezTo>
                  <a:pt x="5489" y="7727"/>
                  <a:pt x="5947" y="7603"/>
                  <a:pt x="6371" y="7355"/>
                </a:cubicBezTo>
                <a:cubicBezTo>
                  <a:pt x="6783" y="7112"/>
                  <a:pt x="7111" y="6785"/>
                  <a:pt x="7353" y="6373"/>
                </a:cubicBezTo>
                <a:cubicBezTo>
                  <a:pt x="7601" y="5948"/>
                  <a:pt x="7726" y="5490"/>
                  <a:pt x="7726" y="5000"/>
                </a:cubicBezTo>
                <a:cubicBezTo>
                  <a:pt x="7726" y="4509"/>
                  <a:pt x="7601" y="4051"/>
                  <a:pt x="7353" y="3627"/>
                </a:cubicBezTo>
                <a:cubicBezTo>
                  <a:pt x="7111" y="3215"/>
                  <a:pt x="6783" y="2887"/>
                  <a:pt x="6371" y="2645"/>
                </a:cubicBezTo>
                <a:cubicBezTo>
                  <a:pt x="5947" y="2397"/>
                  <a:pt x="5489" y="2273"/>
                  <a:pt x="4999" y="2273"/>
                </a:cubicBezTo>
                <a:moveTo>
                  <a:pt x="4999" y="4091"/>
                </a:moveTo>
                <a:cubicBezTo>
                  <a:pt x="5162" y="4091"/>
                  <a:pt x="5313" y="4132"/>
                  <a:pt x="5453" y="4214"/>
                </a:cubicBezTo>
                <a:cubicBezTo>
                  <a:pt x="5593" y="4295"/>
                  <a:pt x="5703" y="4405"/>
                  <a:pt x="5785" y="4545"/>
                </a:cubicBezTo>
                <a:cubicBezTo>
                  <a:pt x="5867" y="4685"/>
                  <a:pt x="5908" y="4836"/>
                  <a:pt x="5908" y="5000"/>
                </a:cubicBezTo>
                <a:cubicBezTo>
                  <a:pt x="5908" y="5163"/>
                  <a:pt x="5867" y="5315"/>
                  <a:pt x="5785" y="5455"/>
                </a:cubicBezTo>
                <a:cubicBezTo>
                  <a:pt x="5703" y="5594"/>
                  <a:pt x="5593" y="5704"/>
                  <a:pt x="5453" y="5786"/>
                </a:cubicBezTo>
                <a:cubicBezTo>
                  <a:pt x="5313" y="5868"/>
                  <a:pt x="5162" y="5909"/>
                  <a:pt x="4999" y="5909"/>
                </a:cubicBezTo>
                <a:cubicBezTo>
                  <a:pt x="4835" y="5909"/>
                  <a:pt x="4684" y="5868"/>
                  <a:pt x="4545" y="5786"/>
                </a:cubicBezTo>
                <a:cubicBezTo>
                  <a:pt x="4405" y="5704"/>
                  <a:pt x="4294" y="5594"/>
                  <a:pt x="4213" y="5455"/>
                </a:cubicBezTo>
                <a:cubicBezTo>
                  <a:pt x="4131" y="5315"/>
                  <a:pt x="4090" y="5163"/>
                  <a:pt x="4090" y="5000"/>
                </a:cubicBezTo>
                <a:cubicBezTo>
                  <a:pt x="4090" y="4836"/>
                  <a:pt x="4131" y="4685"/>
                  <a:pt x="4213" y="4545"/>
                </a:cubicBezTo>
                <a:cubicBezTo>
                  <a:pt x="4294" y="4405"/>
                  <a:pt x="4405" y="4295"/>
                  <a:pt x="4545" y="4214"/>
                </a:cubicBezTo>
                <a:cubicBezTo>
                  <a:pt x="4684" y="4132"/>
                  <a:pt x="4835" y="4091"/>
                  <a:pt x="4999" y="4091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048838" name="TextBox 17"/>
          <p:cNvSpPr txBox="1"/>
          <p:nvPr/>
        </p:nvSpPr>
        <p:spPr>
          <a:xfrm>
            <a:off x="4529493" y="3815507"/>
            <a:ext cx="3129817" cy="257175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none"/>
          <a:p>
            <a:pPr algn="l"/>
            <a:r>
              <a:rPr b="0" sz="1800" i="0" lang="en-US" strike="noStrike"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专项优化破解小目标瓶颈</a:t>
            </a:r>
            <a:endParaRPr sz="1100" lang="en-US"/>
          </a:p>
        </p:txBody>
      </p:sp>
      <p:sp>
        <p:nvSpPr>
          <p:cNvPr id="1048839" name="TextBox 18"/>
          <p:cNvSpPr txBox="1"/>
          <p:nvPr/>
        </p:nvSpPr>
        <p:spPr>
          <a:xfrm>
            <a:off x="4529493" y="4236392"/>
            <a:ext cx="3367883" cy="633412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square"/>
          <a:p>
            <a:pPr algn="l"/>
            <a:r>
              <a:rPr b="0" sz="1100" i="0" lang="en-US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Tiny-P2模块引入高分辨率检测头与空间保真下采</a:t>
            </a:r>
            <a:endParaRPr sz="1100" lang="en-US"/>
          </a:p>
          <a:p>
            <a:pPr algn="l"/>
            <a:r>
              <a:rPr b="0" sz="110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样，在控制计算开销的前提下，大幅提升高空微</a:t>
            </a:r>
            <a:endParaRPr b="0" sz="1100" i="0" strike="noStrike">
              <a:solidFill>
                <a:srgbClr val="0A1F3D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  <a:p>
            <a:pPr algn="l"/>
            <a:r>
              <a:rPr b="0" sz="110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小车辆的召回率</a:t>
            </a:r>
            <a:endParaRPr b="0" sz="1100" i="0" strike="noStrike">
              <a:solidFill>
                <a:srgbClr val="0A1F3D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048840" name="AutoShape 19"/>
          <p:cNvSpPr/>
          <p:nvPr/>
        </p:nvSpPr>
        <p:spPr>
          <a:xfrm>
            <a:off x="4529493" y="5709345"/>
            <a:ext cx="3129817" cy="9525"/>
          </a:xfrm>
          <a:prstGeom prst="line"/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48841" name="TextBox 20"/>
          <p:cNvSpPr txBox="1"/>
          <p:nvPr/>
        </p:nvSpPr>
        <p:spPr>
          <a:xfrm>
            <a:off x="4529493" y="5842695"/>
            <a:ext cx="3129817" cy="285750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none"/>
          <a:p>
            <a:pPr algn="l"/>
            <a:r>
              <a:rPr b="0" sz="1900" i="0" lang="en-US" strike="noStrike"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Tiny-P2</a:t>
            </a:r>
            <a:endParaRPr sz="1100" lang="en-US"/>
          </a:p>
        </p:txBody>
      </p:sp>
      <p:sp>
        <p:nvSpPr>
          <p:cNvPr id="1048842" name="AutoShape 21"/>
          <p:cNvSpPr/>
          <p:nvPr/>
        </p:nvSpPr>
        <p:spPr>
          <a:xfrm>
            <a:off x="8125918" y="2268736"/>
            <a:ext cx="3605799" cy="4132064"/>
          </a:xfrm>
          <a:prstGeom prst="rect"/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48843" name="AutoShape 22"/>
          <p:cNvSpPr/>
          <p:nvPr/>
        </p:nvSpPr>
        <p:spPr>
          <a:xfrm>
            <a:off x="8125918" y="2268736"/>
            <a:ext cx="3605799" cy="9525"/>
          </a:xfrm>
          <a:prstGeom prst="line"/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48844" name="AutoShape 23"/>
          <p:cNvSpPr/>
          <p:nvPr/>
        </p:nvSpPr>
        <p:spPr>
          <a:xfrm>
            <a:off x="8363984" y="2564011"/>
            <a:ext cx="438041" cy="438150"/>
          </a:xfrm>
          <a:custGeom>
            <a:avLst/>
            <a:ahLst/>
            <a:rect l="l" t="t" r="r" b="b"/>
            <a:pathLst>
              <a:path w="9998" h="10000">
                <a:moveTo>
                  <a:pt x="6665" y="3000"/>
                </a:moveTo>
                <a:lnTo>
                  <a:pt x="6665" y="1000"/>
                </a:lnTo>
                <a:lnTo>
                  <a:pt x="1111" y="1000"/>
                </a:lnTo>
                <a:lnTo>
                  <a:pt x="1111" y="9000"/>
                </a:lnTo>
                <a:lnTo>
                  <a:pt x="8887" y="9000"/>
                </a:lnTo>
                <a:lnTo>
                  <a:pt x="8887" y="3000"/>
                </a:lnTo>
                <a:lnTo>
                  <a:pt x="6665" y="3000"/>
                </a:lnTo>
                <a:moveTo>
                  <a:pt x="0" y="9500"/>
                </a:moveTo>
                <a:lnTo>
                  <a:pt x="0" y="500"/>
                </a:lnTo>
                <a:cubicBezTo>
                  <a:pt x="0" y="360"/>
                  <a:pt x="53" y="241"/>
                  <a:pt x="161" y="145"/>
                </a:cubicBezTo>
                <a:cubicBezTo>
                  <a:pt x="268" y="48"/>
                  <a:pt x="399" y="0"/>
                  <a:pt x="555" y="0"/>
                </a:cubicBezTo>
                <a:lnTo>
                  <a:pt x="7221" y="0"/>
                </a:lnTo>
                <a:lnTo>
                  <a:pt x="9998" y="2500"/>
                </a:lnTo>
                <a:lnTo>
                  <a:pt x="9998" y="9500"/>
                </a:lnTo>
                <a:cubicBezTo>
                  <a:pt x="9998" y="9633"/>
                  <a:pt x="9944" y="9750"/>
                  <a:pt x="9837" y="9850"/>
                </a:cubicBezTo>
                <a:cubicBezTo>
                  <a:pt x="9729" y="9950"/>
                  <a:pt x="9598" y="10000"/>
                  <a:pt x="9443" y="10000"/>
                </a:cubicBezTo>
                <a:lnTo>
                  <a:pt x="555" y="10000"/>
                </a:lnTo>
                <a:cubicBezTo>
                  <a:pt x="399" y="10000"/>
                  <a:pt x="268" y="9951"/>
                  <a:pt x="161" y="9855"/>
                </a:cubicBezTo>
                <a:cubicBezTo>
                  <a:pt x="53" y="9758"/>
                  <a:pt x="0" y="9640"/>
                  <a:pt x="0" y="9500"/>
                </a:cubicBezTo>
                <a:moveTo>
                  <a:pt x="7076" y="7330"/>
                </a:moveTo>
                <a:lnTo>
                  <a:pt x="5843" y="6220"/>
                </a:lnTo>
                <a:cubicBezTo>
                  <a:pt x="5561" y="6373"/>
                  <a:pt x="5258" y="6463"/>
                  <a:pt x="4932" y="6490"/>
                </a:cubicBezTo>
                <a:cubicBezTo>
                  <a:pt x="4606" y="6516"/>
                  <a:pt x="4288" y="6481"/>
                  <a:pt x="3977" y="6385"/>
                </a:cubicBezTo>
                <a:cubicBezTo>
                  <a:pt x="3665" y="6288"/>
                  <a:pt x="3388" y="6130"/>
                  <a:pt x="3144" y="5910"/>
                </a:cubicBezTo>
                <a:cubicBezTo>
                  <a:pt x="2862" y="5656"/>
                  <a:pt x="2672" y="5358"/>
                  <a:pt x="2572" y="5015"/>
                </a:cubicBezTo>
                <a:cubicBezTo>
                  <a:pt x="2472" y="4671"/>
                  <a:pt x="2472" y="4328"/>
                  <a:pt x="2572" y="3985"/>
                </a:cubicBezTo>
                <a:cubicBezTo>
                  <a:pt x="2672" y="3641"/>
                  <a:pt x="2864" y="3341"/>
                  <a:pt x="3149" y="3085"/>
                </a:cubicBezTo>
                <a:cubicBezTo>
                  <a:pt x="3434" y="2828"/>
                  <a:pt x="3767" y="2655"/>
                  <a:pt x="4149" y="2565"/>
                </a:cubicBezTo>
                <a:cubicBezTo>
                  <a:pt x="4530" y="2475"/>
                  <a:pt x="4911" y="2475"/>
                  <a:pt x="5293" y="2565"/>
                </a:cubicBezTo>
                <a:cubicBezTo>
                  <a:pt x="5674" y="2655"/>
                  <a:pt x="6006" y="2830"/>
                  <a:pt x="6288" y="3090"/>
                </a:cubicBezTo>
                <a:cubicBezTo>
                  <a:pt x="6532" y="3303"/>
                  <a:pt x="6707" y="3550"/>
                  <a:pt x="6815" y="3830"/>
                </a:cubicBezTo>
                <a:cubicBezTo>
                  <a:pt x="6922" y="4110"/>
                  <a:pt x="6961" y="4396"/>
                  <a:pt x="6932" y="4690"/>
                </a:cubicBezTo>
                <a:cubicBezTo>
                  <a:pt x="6902" y="4983"/>
                  <a:pt x="6802" y="5260"/>
                  <a:pt x="6632" y="5520"/>
                </a:cubicBezTo>
                <a:lnTo>
                  <a:pt x="7865" y="6620"/>
                </a:lnTo>
                <a:lnTo>
                  <a:pt x="7076" y="7330"/>
                </a:lnTo>
                <a:moveTo>
                  <a:pt x="5510" y="5210"/>
                </a:moveTo>
                <a:cubicBezTo>
                  <a:pt x="5650" y="5083"/>
                  <a:pt x="5745" y="4933"/>
                  <a:pt x="5793" y="4760"/>
                </a:cubicBezTo>
                <a:cubicBezTo>
                  <a:pt x="5841" y="4586"/>
                  <a:pt x="5841" y="4413"/>
                  <a:pt x="5793" y="4240"/>
                </a:cubicBezTo>
                <a:cubicBezTo>
                  <a:pt x="5745" y="4066"/>
                  <a:pt x="5648" y="3916"/>
                  <a:pt x="5504" y="3790"/>
                </a:cubicBezTo>
                <a:cubicBezTo>
                  <a:pt x="5360" y="3663"/>
                  <a:pt x="5193" y="3578"/>
                  <a:pt x="5005" y="3535"/>
                </a:cubicBezTo>
                <a:cubicBezTo>
                  <a:pt x="4815" y="3491"/>
                  <a:pt x="4624" y="3491"/>
                  <a:pt x="4432" y="3535"/>
                </a:cubicBezTo>
                <a:cubicBezTo>
                  <a:pt x="4240" y="3578"/>
                  <a:pt x="4073" y="3663"/>
                  <a:pt x="3933" y="3790"/>
                </a:cubicBezTo>
                <a:cubicBezTo>
                  <a:pt x="3791" y="3916"/>
                  <a:pt x="3695" y="4066"/>
                  <a:pt x="3644" y="4240"/>
                </a:cubicBezTo>
                <a:cubicBezTo>
                  <a:pt x="3592" y="4413"/>
                  <a:pt x="3592" y="4586"/>
                  <a:pt x="3644" y="4760"/>
                </a:cubicBezTo>
                <a:cubicBezTo>
                  <a:pt x="3695" y="4933"/>
                  <a:pt x="3791" y="5083"/>
                  <a:pt x="3933" y="5210"/>
                </a:cubicBezTo>
                <a:cubicBezTo>
                  <a:pt x="4073" y="5336"/>
                  <a:pt x="4240" y="5421"/>
                  <a:pt x="4432" y="5465"/>
                </a:cubicBezTo>
                <a:cubicBezTo>
                  <a:pt x="4624" y="5508"/>
                  <a:pt x="4815" y="5508"/>
                  <a:pt x="5005" y="5465"/>
                </a:cubicBezTo>
                <a:cubicBezTo>
                  <a:pt x="5193" y="5421"/>
                  <a:pt x="5362" y="5336"/>
                  <a:pt x="5510" y="5210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048845" name="TextBox 24"/>
          <p:cNvSpPr txBox="1"/>
          <p:nvPr/>
        </p:nvSpPr>
        <p:spPr>
          <a:xfrm>
            <a:off x="8363984" y="3815507"/>
            <a:ext cx="3129669" cy="257175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none"/>
          <a:p>
            <a:pPr algn="l"/>
            <a:r>
              <a:rPr b="0" sz="1800" i="0" lang="en-US" strike="noStrike"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严密消融实验构建证据链</a:t>
            </a:r>
            <a:endParaRPr sz="1100" lang="en-US"/>
          </a:p>
        </p:txBody>
      </p:sp>
      <p:sp>
        <p:nvSpPr>
          <p:cNvPr id="1048846" name="TextBox 25"/>
          <p:cNvSpPr txBox="1"/>
          <p:nvPr/>
        </p:nvSpPr>
        <p:spPr>
          <a:xfrm>
            <a:off x="8363984" y="4236392"/>
            <a:ext cx="3367734" cy="633412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square"/>
          <a:p>
            <a:pPr algn="l"/>
            <a:r>
              <a:rPr b="0" sz="1100" i="0" lang="en-US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验证方案设计为与单模态、简单拼接、固定权重</a:t>
            </a:r>
            <a:endParaRPr sz="1100" lang="en-US"/>
          </a:p>
          <a:p>
            <a:pPr algn="l"/>
            <a:r>
              <a:rPr b="0" sz="110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融合逐项对照，形成完整的消融证据链，确保每</a:t>
            </a:r>
            <a:endParaRPr b="0" sz="1100" i="0" strike="noStrike">
              <a:solidFill>
                <a:srgbClr val="0A1F3D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  <a:p>
            <a:pPr algn="l"/>
            <a:r>
              <a:rPr b="0" sz="1100" i="0" strike="noStrike">
                <a:solidFill>
                  <a:srgbClr val="0A1F3D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一项技术改进均有据可查</a:t>
            </a:r>
            <a:endParaRPr b="0" sz="1100" i="0" strike="noStrike">
              <a:solidFill>
                <a:srgbClr val="0A1F3D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048847" name="AutoShape 26"/>
          <p:cNvSpPr/>
          <p:nvPr/>
        </p:nvSpPr>
        <p:spPr>
          <a:xfrm>
            <a:off x="8363984" y="5709345"/>
            <a:ext cx="3129669" cy="9525"/>
          </a:xfrm>
          <a:prstGeom prst="line"/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48848" name="TextBox 27"/>
          <p:cNvSpPr txBox="1"/>
          <p:nvPr/>
        </p:nvSpPr>
        <p:spPr>
          <a:xfrm>
            <a:off x="8363984" y="5842695"/>
            <a:ext cx="3129669" cy="285750"/>
          </a:xfrm>
          <a:prstGeom prst="rect"/>
          <a:ln>
            <a:headEnd type="none"/>
            <a:tailEnd type="none"/>
          </a:ln>
        </p:spPr>
        <p:txBody>
          <a:bodyPr anchor="t" anchorCtr="0" bIns="0" lIns="0" rIns="0" rtlCol="0" tIns="0" vert="horz" wrap="none"/>
          <a:p>
            <a:pPr algn="l"/>
            <a:r>
              <a:rPr b="0" sz="1900" i="0" lang="en-US" strike="noStrike"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消融验证</a:t>
            </a:r>
            <a:endParaRPr sz="1100"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2" name=""/>
        <p:cNvGrpSpPr/>
        <p:nvPr/>
      </p:nvGrpSpPr>
      <p:grpSpPr>
        <a:xfrm/>
      </p:grpSpPr>
      <p:sp>
        <p:nvSpPr>
          <p:cNvPr id="1048855" name="矩形 20"/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/>
          <a:solidFill>
            <a:srgbClr val="05A99B"/>
          </a:solidFill>
          <a:ln w="0">
            <a:noFill/>
            <a:prstDash val="solid"/>
          </a:ln>
        </p:spPr>
      </p:sp>
      <p:sp>
        <p:nvSpPr>
          <p:cNvPr id="1048856" name="矩形 1"/>
          <p:cNvSpPr>
            <a:spLocks noGrp="1"/>
          </p:cNvSpPr>
          <p:nvPr/>
        </p:nvSpPr>
        <p:spPr>
          <a:xfrm>
            <a:off x="571500" y="304800"/>
            <a:ext cx="9525000" cy="514350"/>
          </a:xfrm>
          <a:prstGeom prst="rect"/>
          <a:noFill/>
          <a:ln w="0">
            <a:noFill/>
            <a:prstDash val="solid"/>
          </a:ln>
        </p:spPr>
        <p:txBody>
          <a:bodyPr anchor="t">
            <a:noAutofit/>
          </a:bodyPr>
          <a:p>
            <a:pPr algn="l">
              <a:defRPr b="1" sz="2475">
                <a:solidFill>
                  <a:srgbClr val="061827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defRPr>
            </a:pPr>
            <a:r>
              <a:rPr b="1" sz="2475">
                <a:solidFill>
                  <a:srgbClr val="061827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团队分工与协作规划</a:t>
            </a:r>
            <a:endParaRPr b="1" sz="2475">
              <a:solidFill>
                <a:srgbClr val="061827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048857" name="矩形 2"/>
          <p:cNvSpPr>
            <a:spLocks noGrp="1"/>
          </p:cNvSpPr>
          <p:nvPr/>
        </p:nvSpPr>
        <p:spPr>
          <a:xfrm>
            <a:off x="590550" y="838200"/>
            <a:ext cx="10191750" cy="304800"/>
          </a:xfrm>
          <a:prstGeom prst="rect"/>
          <a:noFill/>
          <a:ln w="0">
            <a:noFill/>
            <a:prstDash val="solid"/>
          </a:ln>
        </p:spPr>
        <p:txBody>
          <a:bodyPr anchor="t">
            <a:normAutofit/>
          </a:bodyPr>
          <a:p>
            <a:pPr algn="l">
              <a:defRPr b="0" sz="1275">
                <a:solidFill>
                  <a:srgbClr val="48658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defRPr>
            </a:pPr>
            <a:r>
              <a:rPr b="0" sz="1275">
                <a:solidFill>
                  <a:srgbClr val="48658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四条工作线并行推进，关键节点由组长统一验收</a:t>
            </a:r>
            <a:endParaRPr b="0" sz="1275">
              <a:solidFill>
                <a:srgbClr val="48658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048858" name="矩形 3"/>
          <p:cNvSpPr>
            <a:spLocks noGrp="1"/>
          </p:cNvSpPr>
          <p:nvPr/>
        </p:nvSpPr>
        <p:spPr>
          <a:xfrm>
            <a:off x="10839450" y="342900"/>
            <a:ext cx="800100" cy="247650"/>
          </a:xfrm>
          <a:prstGeom prst="rect"/>
          <a:noFill/>
          <a:ln w="0">
            <a:noFill/>
            <a:prstDash val="solid"/>
          </a:ln>
        </p:spPr>
        <p:txBody>
          <a:bodyPr anchor="t">
            <a:noAutofit/>
          </a:bodyPr>
          <a:p>
            <a:pPr algn="r">
              <a:defRPr b="1" sz="1200">
                <a:solidFill>
                  <a:srgbClr val="05A99B"/>
                </a:solidFill>
                <a:latin typeface="DejaVu Sans"/>
                <a:ea typeface="DejaVu Sans"/>
                <a:cs typeface="DejaVu Sans"/>
              </a:defRPr>
            </a:pPr>
            <a:r>
              <a:rPr b="1" sz="1200">
                <a:solidFill>
                  <a:srgbClr val="05A99B"/>
                </a:solidFill>
                <a:latin typeface="DejaVu Sans"/>
                <a:ea typeface="DejaVu Sans"/>
                <a:cs typeface="DejaVu Sans"/>
              </a:rPr>
              <a:t>15</a:t>
            </a:r>
            <a:endParaRPr b="1" sz="1200">
              <a:solidFill>
                <a:srgbClr val="05A99B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048859" name="矩形 4"/>
          <p:cNvSpPr>
            <a:spLocks noGrp="1"/>
          </p:cNvSpPr>
          <p:nvPr/>
        </p:nvSpPr>
        <p:spPr>
          <a:xfrm>
            <a:off x="590550" y="1143000"/>
            <a:ext cx="11010900" cy="19050"/>
          </a:xfrm>
          <a:prstGeom prst="rect"/>
          <a:solidFill>
            <a:srgbClr val="D4E0E7"/>
          </a:solidFill>
          <a:ln w="0">
            <a:noFill/>
            <a:prstDash val="solid"/>
          </a:ln>
        </p:spPr>
      </p:sp>
      <p:graphicFrame>
        <p:nvGraphicFramePr>
          <p:cNvPr id="4194307" name="表格 25"/>
          <p:cNvGraphicFramePr>
            <a:graphicFrameLocks/>
          </p:cNvGraphicFramePr>
          <p:nvPr/>
        </p:nvGraphicFramePr>
        <p:xfrm>
          <a:off x="666750" y="1504950"/>
          <a:ext cx="10858500" cy="3143250"/>
        </p:xfrm>
        <a:graphic>
          <a:graphicData uri="http://schemas.openxmlformats.org/drawingml/2006/table">
            <a:tbl>
              <a:tblPr/>
              <a:tblGrid>
                <a:gridCol w="1428750"/>
                <a:gridCol w="2190750"/>
                <a:gridCol w="4000500"/>
                <a:gridCol w="3238500"/>
              </a:tblGrid>
              <a:tr h="628650">
                <a:tc>
                  <a:txBody>
                    <a:bodyPr/>
                    <a:p>
                      <a:pPr algn="ctr"/>
                      <a:r>
                        <a:rPr b="1" sz="1275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成员</a:t>
                      </a:r>
                      <a:endParaRPr b="1" sz="1275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anchor="ctr">
                    <a:solidFill>
                      <a:srgbClr val="0A2941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b="1" sz="1275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角色</a:t>
                      </a:r>
                      <a:endParaRPr b="1" sz="1275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anchor="ctr">
                    <a:solidFill>
                      <a:srgbClr val="0A2941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b="1" sz="1275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主要负责内容</a:t>
                      </a:r>
                      <a:endParaRPr b="1" sz="1275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anchor="ctr">
                    <a:solidFill>
                      <a:srgbClr val="0A2941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b="1" sz="1275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阶段交付</a:t>
                      </a:r>
                      <a:endParaRPr b="1" sz="1275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anchor="ctr">
                    <a:solidFill>
                      <a:srgbClr val="0A2941"/>
                    </a:solidFill>
                  </a:tcPr>
                </a:tc>
              </a:tr>
              <a:tr h="628650">
                <a:tc>
                  <a:txBody>
                    <a:bodyPr/>
                    <a:p>
                      <a:pPr algn="ctr"/>
                      <a:r>
                        <a:rPr b="1" sz="1125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张涵杰</a:t>
                      </a:r>
                      <a:endParaRPr b="1" sz="1125">
                        <a:solidFill>
                          <a:srgbClr val="102A43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76200" marR="76200" marT="47625" marB="47625" anchor="ctr">
                    <a:solidFill>
                      <a:srgbClr val="E8F3F8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组长 / 总体统筹</a:t>
                      </a:r>
                      <a:endParaRPr sz="1125">
                        <a:solidFill>
                          <a:srgbClr val="102A43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76200" marR="76200" marT="47625" marB="47625" anchor="ctr">
                    <a:solidFill>
                      <a:srgbClr val="E8F3F8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赛题拆解、技术路线、进度控制、QAFM方案把关</a:t>
                      </a:r>
                      <a:endParaRPr sz="1125">
                        <a:solidFill>
                          <a:srgbClr val="102A43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76200" marR="76200" marT="47625" marB="47625" anchor="ctr">
                    <a:solidFill>
                      <a:srgbClr val="E8F3F8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周计划、阶段评审、最终集成</a:t>
                      </a:r>
                      <a:endParaRPr sz="1125">
                        <a:solidFill>
                          <a:srgbClr val="102A43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76200" marR="76200" marT="47625" marB="47625" anchor="ctr">
                    <a:solidFill>
                      <a:srgbClr val="E8F3F8"/>
                    </a:solidFill>
                  </a:tcPr>
                </a:tc>
              </a:tr>
              <a:tr h="628650">
                <a:tc>
                  <a:txBody>
                    <a:bodyPr/>
                    <a:p>
                      <a:pPr algn="ctr"/>
                      <a:r>
                        <a:rPr b="1" sz="1125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陈宇</a:t>
                      </a:r>
                      <a:endParaRPr b="1" sz="1125">
                        <a:solidFill>
                          <a:srgbClr val="102A43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算法与数据</a:t>
                      </a:r>
                      <a:endParaRPr sz="1125">
                        <a:solidFill>
                          <a:srgbClr val="102A43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成对数据校验、数据切分、基线训练、实验日志维护</a:t>
                      </a:r>
                      <a:endParaRPr sz="1125">
                        <a:solidFill>
                          <a:srgbClr val="102A43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数据流水线、基线权重、训练记录</a:t>
                      </a:r>
                      <a:endParaRPr sz="1125">
                        <a:solidFill>
                          <a:srgbClr val="102A43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p>
                      <a:pPr algn="ctr"/>
                      <a:r>
                        <a:rPr b="1" sz="1125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林宸宇</a:t>
                      </a:r>
                      <a:endParaRPr b="1" sz="1125">
                        <a:solidFill>
                          <a:srgbClr val="102A43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76200" marR="76200" marT="47625" marB="47625" anchor="ctr">
                    <a:solidFill>
                      <a:srgbClr val="E7F5F2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模型优化与评估</a:t>
                      </a:r>
                      <a:endParaRPr sz="1125">
                        <a:solidFill>
                          <a:srgbClr val="102A43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76200" marR="76200" marT="47625" marB="47625" anchor="ctr">
                    <a:solidFill>
                      <a:srgbClr val="E7F5F2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Tiny-P2、密集场景优化、消融实验、指标统计</a:t>
                      </a:r>
                      <a:endParaRPr sz="1125">
                        <a:solidFill>
                          <a:srgbClr val="102A43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76200" marR="76200" marT="47625" marB="47625" anchor="ctr">
                    <a:solidFill>
                      <a:srgbClr val="E7F5F2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改进模块、消融结果、性能报告</a:t>
                      </a:r>
                      <a:endParaRPr sz="1125">
                        <a:solidFill>
                          <a:srgbClr val="102A43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76200" marR="76200" marT="47625" marB="47625" anchor="ctr">
                    <a:solidFill>
                      <a:srgbClr val="E7F5F2"/>
                    </a:solidFill>
                  </a:tcPr>
                </a:tc>
              </a:tr>
              <a:tr h="628650">
                <a:tc>
                  <a:txBody>
                    <a:bodyPr/>
                    <a:p>
                      <a:pPr algn="ctr"/>
                      <a:r>
                        <a:rPr b="1" sz="1125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王麒瑞</a:t>
                      </a:r>
                      <a:endParaRPr b="1" sz="1125">
                        <a:solidFill>
                          <a:srgbClr val="102A43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76200" marR="76200" marT="47625" marB="47625" anchor="ctr">
                    <a:solidFill>
                      <a:srgbClr val="FFF0E4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工程部署与展示</a:t>
                      </a:r>
                      <a:endParaRPr sz="1125">
                        <a:solidFill>
                          <a:srgbClr val="102A43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76200" marR="76200" marT="47625" marB="47625" anchor="ctr">
                    <a:solidFill>
                      <a:srgbClr val="FFF0E4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推理部署、可视化界面、演示视频、PPT与文档整理</a:t>
                      </a:r>
                      <a:endParaRPr sz="1125">
                        <a:solidFill>
                          <a:srgbClr val="102A43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76200" marR="76200" marT="47625" marB="47625" anchor="ctr">
                    <a:solidFill>
                      <a:srgbClr val="FFF0E4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125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推理程序、演示视频、提交材料</a:t>
                      </a:r>
                      <a:endParaRPr sz="1125">
                        <a:solidFill>
                          <a:srgbClr val="102A43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76200" marR="76200" marT="47625" marB="47625" anchor="ctr">
                    <a:solidFill>
                      <a:srgbClr val="FFF0E4"/>
                    </a:solidFill>
                  </a:tcPr>
                </a:tc>
              </a:tr>
            </a:tbl>
          </a:graphicData>
        </a:graphic>
      </p:graphicFrame>
      <p:sp>
        <p:nvSpPr>
          <p:cNvPr id="1048860" name="矩形 6"/>
          <p:cNvSpPr>
            <a:spLocks noGrp="1"/>
          </p:cNvSpPr>
          <p:nvPr/>
        </p:nvSpPr>
        <p:spPr>
          <a:xfrm>
            <a:off x="685800" y="5010150"/>
            <a:ext cx="1524000" cy="304800"/>
          </a:xfrm>
          <a:prstGeom prst="rect"/>
          <a:noFill/>
          <a:ln w="0">
            <a:noFill/>
            <a:prstDash val="solid"/>
          </a:ln>
        </p:spPr>
        <p:txBody>
          <a:bodyPr anchor="t">
            <a:normAutofit fontScale="84848"/>
          </a:bodyPr>
          <a:p>
            <a:pPr algn="l">
              <a:defRPr b="1" sz="1650">
                <a:solidFill>
                  <a:srgbClr val="061827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defRPr>
            </a:pPr>
            <a:r>
              <a:rPr b="1" sz="1650">
                <a:solidFill>
                  <a:srgbClr val="061827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阶段协作</a:t>
            </a:r>
            <a:endParaRPr b="1" sz="1650">
              <a:solidFill>
                <a:srgbClr val="061827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048861" name="圆角矩形 7"/>
          <p:cNvSpPr>
            <a:spLocks noGrp="1"/>
          </p:cNvSpPr>
          <p:nvPr/>
        </p:nvSpPr>
        <p:spPr>
          <a:xfrm>
            <a:off x="685800" y="5429250"/>
            <a:ext cx="2457450" cy="7239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9050">
            <a:solidFill>
              <a:srgbClr val="33C4E8"/>
            </a:solidFill>
            <a:prstDash val="solid"/>
          </a:ln>
        </p:spPr>
      </p:sp>
      <p:sp>
        <p:nvSpPr>
          <p:cNvPr id="1048862" name="矩形 8"/>
          <p:cNvSpPr>
            <a:spLocks noGrp="1"/>
          </p:cNvSpPr>
          <p:nvPr/>
        </p:nvSpPr>
        <p:spPr>
          <a:xfrm>
            <a:off x="819150" y="5562600"/>
            <a:ext cx="590550" cy="266700"/>
          </a:xfrm>
          <a:prstGeom prst="rect"/>
          <a:noFill/>
          <a:ln w="0">
            <a:noFill/>
            <a:prstDash val="solid"/>
          </a:ln>
        </p:spPr>
        <p:txBody>
          <a:bodyPr anchor="t">
            <a:normAutofit fontScale="74510" lnSpcReduction="20000"/>
          </a:bodyPr>
          <a:p>
            <a:pPr algn="ctr">
              <a:defRPr b="1" sz="1275">
                <a:solidFill>
                  <a:srgbClr val="33C4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b="1" sz="1275">
                <a:solidFill>
                  <a:srgbClr val="33C4E8"/>
                </a:solidFill>
                <a:latin typeface="Noto Sans CJK SC"/>
                <a:ea typeface="Noto Sans CJK SC"/>
                <a:cs typeface="Noto Sans CJK SC"/>
              </a:rPr>
              <a:t>W1-2</a:t>
            </a:r>
            <a:endParaRPr b="1" sz="1275">
              <a:solidFill>
                <a:srgbClr val="33C4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48863" name="矩形 9"/>
          <p:cNvSpPr>
            <a:spLocks noGrp="1"/>
          </p:cNvSpPr>
          <p:nvPr/>
        </p:nvSpPr>
        <p:spPr>
          <a:xfrm>
            <a:off x="1466850" y="5505450"/>
            <a:ext cx="1524000" cy="438150"/>
          </a:xfrm>
          <a:prstGeom prst="rect"/>
          <a:noFill/>
          <a:ln w="0">
            <a:noFill/>
            <a:prstDash val="solid"/>
          </a:ln>
        </p:spPr>
        <p:txBody>
          <a:bodyPr anchor="ctr">
            <a:normAutofit fontScale="80952" lnSpcReduction="10000"/>
          </a:bodyPr>
          <a:p>
            <a:pPr algn="ctr">
              <a:defRPr b="0" sz="1050">
                <a:solidFill>
                  <a:srgbClr val="4865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b="0" sz="1050">
                <a:solidFill>
                  <a:srgbClr val="486581"/>
                </a:solidFill>
                <a:latin typeface="Noto Sans CJK SC"/>
                <a:ea typeface="Noto Sans CJK SC"/>
                <a:cs typeface="Noto Sans CJK SC"/>
              </a:rPr>
              <a:t>全员完成数据检查与基线复现</a:t>
            </a:r>
            <a:endParaRPr b="0" sz="1050">
              <a:solidFill>
                <a:srgbClr val="48658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48864" name="圆角矩形 10"/>
          <p:cNvSpPr>
            <a:spLocks noGrp="1"/>
          </p:cNvSpPr>
          <p:nvPr/>
        </p:nvSpPr>
        <p:spPr>
          <a:xfrm>
            <a:off x="3409950" y="5429250"/>
            <a:ext cx="2457450" cy="7239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9050">
            <a:solidFill>
              <a:srgbClr val="05A99B"/>
            </a:solidFill>
            <a:prstDash val="solid"/>
          </a:ln>
        </p:spPr>
      </p:sp>
      <p:sp>
        <p:nvSpPr>
          <p:cNvPr id="1048865" name="矩形 11"/>
          <p:cNvSpPr>
            <a:spLocks noGrp="1"/>
          </p:cNvSpPr>
          <p:nvPr/>
        </p:nvSpPr>
        <p:spPr>
          <a:xfrm>
            <a:off x="3543300" y="5562600"/>
            <a:ext cx="590550" cy="266700"/>
          </a:xfrm>
          <a:prstGeom prst="rect"/>
          <a:noFill/>
          <a:ln w="0">
            <a:noFill/>
            <a:prstDash val="solid"/>
          </a:ln>
        </p:spPr>
        <p:txBody>
          <a:bodyPr anchor="t">
            <a:normAutofit fontScale="74510" lnSpcReduction="20000"/>
          </a:bodyPr>
          <a:p>
            <a:pPr algn="ctr">
              <a:defRPr b="1" sz="1275">
                <a:solidFill>
                  <a:srgbClr val="05A9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b="1" sz="1275">
                <a:solidFill>
                  <a:srgbClr val="05A99B"/>
                </a:solidFill>
                <a:latin typeface="Noto Sans CJK SC"/>
                <a:ea typeface="Noto Sans CJK SC"/>
                <a:cs typeface="Noto Sans CJK SC"/>
              </a:rPr>
              <a:t>W3-4</a:t>
            </a:r>
            <a:endParaRPr b="1" sz="1275">
              <a:solidFill>
                <a:srgbClr val="05A99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48866" name="矩形 12"/>
          <p:cNvSpPr>
            <a:spLocks noGrp="1"/>
          </p:cNvSpPr>
          <p:nvPr/>
        </p:nvSpPr>
        <p:spPr>
          <a:xfrm>
            <a:off x="4191000" y="5505450"/>
            <a:ext cx="1524000" cy="438150"/>
          </a:xfrm>
          <a:prstGeom prst="rect"/>
          <a:noFill/>
          <a:ln w="0">
            <a:noFill/>
            <a:prstDash val="solid"/>
          </a:ln>
        </p:spPr>
        <p:txBody>
          <a:bodyPr anchor="ctr">
            <a:normAutofit fontScale="80952" lnSpcReduction="10000"/>
          </a:bodyPr>
          <a:p>
            <a:pPr algn="ctr">
              <a:defRPr b="0" sz="1050">
                <a:solidFill>
                  <a:srgbClr val="4865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b="0" sz="1050">
                <a:solidFill>
                  <a:srgbClr val="486581"/>
                </a:solidFill>
                <a:latin typeface="Noto Sans CJK SC"/>
                <a:ea typeface="Noto Sans CJK SC"/>
                <a:cs typeface="Noto Sans CJK SC"/>
              </a:rPr>
              <a:t>张涵杰、林宸宇开发核心模块，陈宇同步训练</a:t>
            </a:r>
            <a:endParaRPr b="0" sz="1050">
              <a:solidFill>
                <a:srgbClr val="48658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48867" name="圆角矩形 13"/>
          <p:cNvSpPr>
            <a:spLocks noGrp="1"/>
          </p:cNvSpPr>
          <p:nvPr/>
        </p:nvSpPr>
        <p:spPr>
          <a:xfrm>
            <a:off x="6134100" y="5429250"/>
            <a:ext cx="2457450" cy="7239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9050">
            <a:solidFill>
              <a:srgbClr val="FF8A3D"/>
            </a:solidFill>
            <a:prstDash val="solid"/>
          </a:ln>
        </p:spPr>
      </p:sp>
      <p:sp>
        <p:nvSpPr>
          <p:cNvPr id="1048868" name="矩形 14"/>
          <p:cNvSpPr>
            <a:spLocks noGrp="1"/>
          </p:cNvSpPr>
          <p:nvPr/>
        </p:nvSpPr>
        <p:spPr>
          <a:xfrm>
            <a:off x="6267450" y="5562600"/>
            <a:ext cx="590550" cy="266700"/>
          </a:xfrm>
          <a:prstGeom prst="rect"/>
          <a:noFill/>
          <a:ln w="0">
            <a:noFill/>
            <a:prstDash val="solid"/>
          </a:ln>
        </p:spPr>
        <p:txBody>
          <a:bodyPr anchor="t">
            <a:normAutofit fontScale="74510" lnSpcReduction="20000"/>
          </a:bodyPr>
          <a:p>
            <a:pPr algn="ctr">
              <a:defRPr b="1" sz="1275">
                <a:solidFill>
                  <a:srgbClr val="FF8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b="1" sz="1275">
                <a:solidFill>
                  <a:srgbClr val="FF8A3D"/>
                </a:solidFill>
                <a:latin typeface="Noto Sans CJK SC"/>
                <a:ea typeface="Noto Sans CJK SC"/>
                <a:cs typeface="Noto Sans CJK SC"/>
              </a:rPr>
              <a:t>W5-6</a:t>
            </a:r>
            <a:endParaRPr b="1" sz="1275">
              <a:solidFill>
                <a:srgbClr val="FF8A3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48869" name="矩形 15"/>
          <p:cNvSpPr>
            <a:spLocks noGrp="1"/>
          </p:cNvSpPr>
          <p:nvPr/>
        </p:nvSpPr>
        <p:spPr>
          <a:xfrm>
            <a:off x="6915150" y="5505450"/>
            <a:ext cx="1524000" cy="438150"/>
          </a:xfrm>
          <a:prstGeom prst="rect"/>
          <a:noFill/>
          <a:ln w="0">
            <a:noFill/>
            <a:prstDash val="solid"/>
          </a:ln>
        </p:spPr>
        <p:txBody>
          <a:bodyPr anchor="ctr">
            <a:normAutofit fontScale="80952" lnSpcReduction="10000"/>
          </a:bodyPr>
          <a:p>
            <a:pPr algn="ctr">
              <a:defRPr b="0" sz="1050">
                <a:solidFill>
                  <a:srgbClr val="4865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b="0" sz="1050">
                <a:solidFill>
                  <a:srgbClr val="486581"/>
                </a:solidFill>
                <a:latin typeface="Noto Sans CJK SC"/>
                <a:ea typeface="Noto Sans CJK SC"/>
                <a:cs typeface="Noto Sans CJK SC"/>
              </a:rPr>
              <a:t>陈宇、林宸宇完成消融，张涵杰统一复核</a:t>
            </a:r>
            <a:endParaRPr b="0" sz="1050">
              <a:solidFill>
                <a:srgbClr val="48658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48870" name="圆角矩形 16"/>
          <p:cNvSpPr>
            <a:spLocks noGrp="1"/>
          </p:cNvSpPr>
          <p:nvPr/>
        </p:nvSpPr>
        <p:spPr>
          <a:xfrm>
            <a:off x="8858250" y="5429250"/>
            <a:ext cx="2457450" cy="7239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9050">
            <a:solidFill>
              <a:srgbClr val="E85C5C"/>
            </a:solidFill>
            <a:prstDash val="solid"/>
          </a:ln>
        </p:spPr>
      </p:sp>
      <p:sp>
        <p:nvSpPr>
          <p:cNvPr id="1048871" name="矩形 17"/>
          <p:cNvSpPr>
            <a:spLocks noGrp="1"/>
          </p:cNvSpPr>
          <p:nvPr/>
        </p:nvSpPr>
        <p:spPr>
          <a:xfrm>
            <a:off x="8991600" y="5562600"/>
            <a:ext cx="590550" cy="266700"/>
          </a:xfrm>
          <a:prstGeom prst="rect"/>
          <a:noFill/>
          <a:ln w="0">
            <a:noFill/>
            <a:prstDash val="solid"/>
          </a:ln>
        </p:spPr>
        <p:txBody>
          <a:bodyPr anchor="t">
            <a:normAutofit fontScale="74510" lnSpcReduction="20000"/>
          </a:bodyPr>
          <a:p>
            <a:pPr algn="ctr">
              <a:defRPr b="1" sz="1275">
                <a:solidFill>
                  <a:srgbClr val="E85C5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b="1" sz="1275">
                <a:solidFill>
                  <a:srgbClr val="E85C5C"/>
                </a:solidFill>
                <a:latin typeface="Noto Sans CJK SC"/>
                <a:ea typeface="Noto Sans CJK SC"/>
                <a:cs typeface="Noto Sans CJK SC"/>
              </a:rPr>
              <a:t>W7-8</a:t>
            </a:r>
            <a:endParaRPr b="1" sz="1275">
              <a:solidFill>
                <a:srgbClr val="E85C5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48872" name="矩形 18"/>
          <p:cNvSpPr>
            <a:spLocks noGrp="1"/>
          </p:cNvSpPr>
          <p:nvPr/>
        </p:nvSpPr>
        <p:spPr>
          <a:xfrm>
            <a:off x="9639300" y="5505450"/>
            <a:ext cx="1524000" cy="438150"/>
          </a:xfrm>
          <a:prstGeom prst="rect"/>
          <a:noFill/>
          <a:ln w="0">
            <a:noFill/>
            <a:prstDash val="solid"/>
          </a:ln>
        </p:spPr>
        <p:txBody>
          <a:bodyPr anchor="ctr">
            <a:normAutofit fontScale="80952" lnSpcReduction="10000"/>
          </a:bodyPr>
          <a:p>
            <a:pPr algn="ctr">
              <a:defRPr b="0" sz="1050">
                <a:solidFill>
                  <a:srgbClr val="4865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b="0" sz="1050">
                <a:solidFill>
                  <a:srgbClr val="486581"/>
                </a:solidFill>
                <a:latin typeface="Noto Sans CJK SC"/>
                <a:ea typeface="Noto Sans CJK SC"/>
                <a:cs typeface="Noto Sans CJK SC"/>
              </a:rPr>
              <a:t>王麒瑞完成展示集成，全员参与答辩演练</a:t>
            </a:r>
            <a:endParaRPr b="0" sz="1050">
              <a:solidFill>
                <a:srgbClr val="48658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48873" name="矩形 19"/>
          <p:cNvSpPr>
            <a:spLocks noGrp="1"/>
          </p:cNvSpPr>
          <p:nvPr/>
        </p:nvSpPr>
        <p:spPr>
          <a:xfrm>
            <a:off x="1028700" y="6343650"/>
            <a:ext cx="10134600" cy="247650"/>
          </a:xfrm>
          <a:prstGeom prst="rect"/>
          <a:noFill/>
          <a:ln w="0">
            <a:noFill/>
            <a:prstDash val="solid"/>
          </a:ln>
        </p:spPr>
        <p:txBody>
          <a:bodyPr anchor="t">
            <a:normAutofit fontScale="85417"/>
          </a:bodyPr>
          <a:p>
            <a:pPr algn="ctr">
              <a:defRPr b="1" sz="1200">
                <a:solidFill>
                  <a:srgbClr val="48658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defRPr>
            </a:pPr>
            <a:r>
              <a:rPr b="1" sz="1200">
                <a:solidFill>
                  <a:srgbClr val="48658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协作机制：统一代码仓库、统一实验命名、每周复盘一次、关键结果交叉复核。</a:t>
            </a:r>
            <a:endParaRPr b="1" sz="1200">
              <a:solidFill>
                <a:srgbClr val="48658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" name=""/>
        <p:cNvGrpSpPr/>
        <p:nvPr/>
      </p:nvGrpSpPr>
      <p:grpSpPr>
        <a:xfrm/>
      </p:grpSpPr>
      <p:sp>
        <p:nvSpPr>
          <p:cNvPr id="1048877" name="矩形 50"/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/>
          <a:solidFill>
            <a:srgbClr val="05A99B"/>
          </a:solidFill>
          <a:ln w="0">
            <a:noFill/>
            <a:prstDash val="solid"/>
          </a:ln>
        </p:spPr>
      </p:sp>
      <p:sp>
        <p:nvSpPr>
          <p:cNvPr id="1048878" name="矩形 1"/>
          <p:cNvSpPr>
            <a:spLocks noGrp="1"/>
          </p:cNvSpPr>
          <p:nvPr/>
        </p:nvSpPr>
        <p:spPr>
          <a:xfrm>
            <a:off x="571500" y="304800"/>
            <a:ext cx="9525000" cy="514350"/>
          </a:xfrm>
          <a:prstGeom prst="rect"/>
          <a:noFill/>
          <a:ln w="0">
            <a:noFill/>
            <a:prstDash val="solid"/>
          </a:ln>
        </p:spPr>
        <p:txBody>
          <a:bodyPr anchor="t">
            <a:noAutofit/>
          </a:bodyPr>
          <a:p>
            <a:pPr algn="l">
              <a:defRPr b="1" sz="2475">
                <a:solidFill>
                  <a:srgbClr val="061827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defRPr>
            </a:pPr>
            <a:r>
              <a:rPr b="1" sz="2475">
                <a:solidFill>
                  <a:srgbClr val="061827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实施与交付计划</a:t>
            </a:r>
            <a:endParaRPr b="1" sz="2475">
              <a:solidFill>
                <a:srgbClr val="061827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048879" name="矩形 2"/>
          <p:cNvSpPr>
            <a:spLocks noGrp="1"/>
          </p:cNvSpPr>
          <p:nvPr/>
        </p:nvSpPr>
        <p:spPr>
          <a:xfrm>
            <a:off x="590550" y="838200"/>
            <a:ext cx="10191750" cy="304800"/>
          </a:xfrm>
          <a:prstGeom prst="rect"/>
          <a:noFill/>
          <a:ln w="0">
            <a:noFill/>
            <a:prstDash val="solid"/>
          </a:ln>
        </p:spPr>
        <p:txBody>
          <a:bodyPr anchor="t">
            <a:normAutofit/>
          </a:bodyPr>
          <a:p>
            <a:pPr algn="l">
              <a:defRPr b="0" sz="1275">
                <a:solidFill>
                  <a:srgbClr val="48658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defRPr>
            </a:pPr>
            <a:r>
              <a:rPr b="0" sz="1275">
                <a:solidFill>
                  <a:srgbClr val="48658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八周完成从基线、创新验证到答辩材料的完整闭环</a:t>
            </a:r>
            <a:endParaRPr b="0" sz="1275">
              <a:solidFill>
                <a:srgbClr val="48658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048880" name="矩形 3"/>
          <p:cNvSpPr>
            <a:spLocks noGrp="1"/>
          </p:cNvSpPr>
          <p:nvPr/>
        </p:nvSpPr>
        <p:spPr>
          <a:xfrm>
            <a:off x="10839450" y="342900"/>
            <a:ext cx="800100" cy="247650"/>
          </a:xfrm>
          <a:prstGeom prst="rect"/>
          <a:noFill/>
          <a:ln w="0">
            <a:noFill/>
            <a:prstDash val="solid"/>
          </a:ln>
        </p:spPr>
        <p:txBody>
          <a:bodyPr anchor="t">
            <a:noAutofit/>
          </a:bodyPr>
          <a:p>
            <a:pPr algn="r">
              <a:defRPr b="1" sz="1200">
                <a:solidFill>
                  <a:srgbClr val="05A99B"/>
                </a:solidFill>
                <a:latin typeface="DejaVu Sans"/>
                <a:ea typeface="DejaVu Sans"/>
                <a:cs typeface="DejaVu Sans"/>
              </a:defRPr>
            </a:pPr>
            <a:r>
              <a:rPr b="1" sz="1200">
                <a:solidFill>
                  <a:srgbClr val="05A99B"/>
                </a:solidFill>
                <a:latin typeface="DejaVu Sans"/>
                <a:ea typeface="DejaVu Sans"/>
                <a:cs typeface="DejaVu Sans"/>
              </a:rPr>
              <a:t>16</a:t>
            </a:r>
            <a:endParaRPr b="1" sz="1200">
              <a:solidFill>
                <a:srgbClr val="05A99B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048881" name="矩形 4"/>
          <p:cNvSpPr>
            <a:spLocks noGrp="1"/>
          </p:cNvSpPr>
          <p:nvPr/>
        </p:nvSpPr>
        <p:spPr>
          <a:xfrm>
            <a:off x="590550" y="1143000"/>
            <a:ext cx="11010900" cy="19050"/>
          </a:xfrm>
          <a:prstGeom prst="rect"/>
          <a:solidFill>
            <a:srgbClr val="D4E0E7"/>
          </a:solidFill>
          <a:ln w="0">
            <a:noFill/>
            <a:prstDash val="solid"/>
          </a:ln>
        </p:spPr>
      </p:sp>
      <p:sp>
        <p:nvSpPr>
          <p:cNvPr id="1048882" name="矩形 5"/>
          <p:cNvSpPr>
            <a:spLocks noGrp="1"/>
          </p:cNvSpPr>
          <p:nvPr/>
        </p:nvSpPr>
        <p:spPr>
          <a:xfrm>
            <a:off x="685800" y="1524000"/>
            <a:ext cx="952500" cy="285750"/>
          </a:xfrm>
          <a:prstGeom prst="rect"/>
          <a:noFill/>
          <a:ln w="0">
            <a:noFill/>
            <a:prstDash val="solid"/>
          </a:ln>
        </p:spPr>
        <p:txBody>
          <a:bodyPr anchor="t">
            <a:normAutofit fontScale="94444"/>
          </a:bodyPr>
          <a:p>
            <a:pPr algn="ctr">
              <a:defRPr b="1" sz="1350">
                <a:solidFill>
                  <a:srgbClr val="33C4E8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defRPr>
            </a:pPr>
            <a:r>
              <a:rPr b="1" sz="1350">
                <a:solidFill>
                  <a:srgbClr val="33C4E8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W1</a:t>
            </a:r>
            <a:endParaRPr b="1" sz="1350">
              <a:solidFill>
                <a:srgbClr val="33C4E8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048883" name="椭圆 6"/>
          <p:cNvSpPr>
            <a:spLocks noGrp="1"/>
          </p:cNvSpPr>
          <p:nvPr/>
        </p:nvSpPr>
        <p:spPr>
          <a:xfrm>
            <a:off x="1790700" y="1562100"/>
            <a:ext cx="171450" cy="171450"/>
          </a:xfrm>
          <a:prstGeom prst="ellipse"/>
          <a:solidFill>
            <a:srgbClr val="33C4E8"/>
          </a:solidFill>
          <a:ln w="0">
            <a:noFill/>
            <a:prstDash val="solid"/>
          </a:ln>
        </p:spPr>
      </p:sp>
      <p:sp>
        <p:nvSpPr>
          <p:cNvPr id="1048884" name="矩形 7"/>
          <p:cNvSpPr>
            <a:spLocks noGrp="1"/>
          </p:cNvSpPr>
          <p:nvPr/>
        </p:nvSpPr>
        <p:spPr>
          <a:xfrm>
            <a:off x="1866900" y="1752600"/>
            <a:ext cx="19050" cy="381000"/>
          </a:xfrm>
          <a:prstGeom prst="rect"/>
          <a:solidFill>
            <a:srgbClr val="D4E0E7"/>
          </a:solidFill>
          <a:ln w="0">
            <a:noFill/>
            <a:prstDash val="solid"/>
          </a:ln>
        </p:spPr>
      </p:sp>
      <p:sp>
        <p:nvSpPr>
          <p:cNvPr id="1048885" name="矩形 8"/>
          <p:cNvSpPr>
            <a:spLocks noGrp="1"/>
          </p:cNvSpPr>
          <p:nvPr/>
        </p:nvSpPr>
        <p:spPr>
          <a:xfrm>
            <a:off x="2209800" y="1504950"/>
            <a:ext cx="3905250" cy="323850"/>
          </a:xfrm>
          <a:prstGeom prst="rect"/>
          <a:noFill/>
          <a:ln w="0">
            <a:noFill/>
            <a:prstDash val="solid"/>
          </a:ln>
        </p:spPr>
        <p:txBody>
          <a:bodyPr anchor="t">
            <a:normAutofit/>
          </a:bodyPr>
          <a:p>
            <a:pPr algn="l">
              <a:defRPr b="1" sz="1350">
                <a:solidFill>
                  <a:srgbClr val="061827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defRPr>
            </a:pPr>
            <a:r>
              <a:rPr b="1" sz="1350">
                <a:solidFill>
                  <a:srgbClr val="061827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数据校验与单模态基线</a:t>
            </a:r>
            <a:endParaRPr b="1" sz="1350">
              <a:solidFill>
                <a:srgbClr val="061827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048886" name="矩形 9"/>
          <p:cNvSpPr>
            <a:spLocks noGrp="1"/>
          </p:cNvSpPr>
          <p:nvPr/>
        </p:nvSpPr>
        <p:spPr>
          <a:xfrm>
            <a:off x="685800" y="2114550"/>
            <a:ext cx="952500" cy="285750"/>
          </a:xfrm>
          <a:prstGeom prst="rect"/>
          <a:noFill/>
          <a:ln w="0">
            <a:noFill/>
            <a:prstDash val="solid"/>
          </a:ln>
        </p:spPr>
        <p:txBody>
          <a:bodyPr anchor="t">
            <a:normAutofit fontScale="94444"/>
          </a:bodyPr>
          <a:p>
            <a:pPr algn="ctr">
              <a:defRPr b="1" sz="1350">
                <a:solidFill>
                  <a:srgbClr val="33C4E8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defRPr>
            </a:pPr>
            <a:r>
              <a:rPr b="1" sz="1350">
                <a:solidFill>
                  <a:srgbClr val="33C4E8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W2</a:t>
            </a:r>
            <a:endParaRPr b="1" sz="1350">
              <a:solidFill>
                <a:srgbClr val="33C4E8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048887" name="椭圆 10"/>
          <p:cNvSpPr>
            <a:spLocks noGrp="1"/>
          </p:cNvSpPr>
          <p:nvPr/>
        </p:nvSpPr>
        <p:spPr>
          <a:xfrm>
            <a:off x="1790700" y="2152650"/>
            <a:ext cx="171450" cy="171450"/>
          </a:xfrm>
          <a:prstGeom prst="ellipse"/>
          <a:solidFill>
            <a:srgbClr val="33C4E8"/>
          </a:solidFill>
          <a:ln w="0">
            <a:noFill/>
            <a:prstDash val="solid"/>
          </a:ln>
        </p:spPr>
      </p:sp>
      <p:sp>
        <p:nvSpPr>
          <p:cNvPr id="1048888" name="矩形 11"/>
          <p:cNvSpPr>
            <a:spLocks noGrp="1"/>
          </p:cNvSpPr>
          <p:nvPr/>
        </p:nvSpPr>
        <p:spPr>
          <a:xfrm>
            <a:off x="1866900" y="2343150"/>
            <a:ext cx="19050" cy="381000"/>
          </a:xfrm>
          <a:prstGeom prst="rect"/>
          <a:solidFill>
            <a:srgbClr val="D4E0E7"/>
          </a:solidFill>
          <a:ln w="0">
            <a:noFill/>
            <a:prstDash val="solid"/>
          </a:ln>
        </p:spPr>
      </p:sp>
      <p:sp>
        <p:nvSpPr>
          <p:cNvPr id="1048889" name="矩形 12"/>
          <p:cNvSpPr>
            <a:spLocks noGrp="1"/>
          </p:cNvSpPr>
          <p:nvPr/>
        </p:nvSpPr>
        <p:spPr>
          <a:xfrm>
            <a:off x="2209800" y="2095500"/>
            <a:ext cx="3905250" cy="323850"/>
          </a:xfrm>
          <a:prstGeom prst="rect"/>
          <a:noFill/>
          <a:ln w="0">
            <a:noFill/>
            <a:prstDash val="solid"/>
          </a:ln>
        </p:spPr>
        <p:txBody>
          <a:bodyPr anchor="t">
            <a:normAutofit/>
          </a:bodyPr>
          <a:p>
            <a:pPr algn="l">
              <a:defRPr b="1" sz="1350">
                <a:solidFill>
                  <a:srgbClr val="061827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defRPr>
            </a:pPr>
            <a:r>
              <a:rPr b="1" sz="1350">
                <a:solidFill>
                  <a:srgbClr val="061827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双流框架与简单融合</a:t>
            </a:r>
            <a:endParaRPr b="1" sz="1350">
              <a:solidFill>
                <a:srgbClr val="061827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048890" name="矩形 13"/>
          <p:cNvSpPr>
            <a:spLocks noGrp="1"/>
          </p:cNvSpPr>
          <p:nvPr/>
        </p:nvSpPr>
        <p:spPr>
          <a:xfrm>
            <a:off x="685800" y="2705100"/>
            <a:ext cx="952500" cy="285750"/>
          </a:xfrm>
          <a:prstGeom prst="rect"/>
          <a:noFill/>
          <a:ln w="0">
            <a:noFill/>
            <a:prstDash val="solid"/>
          </a:ln>
        </p:spPr>
        <p:txBody>
          <a:bodyPr anchor="t">
            <a:normAutofit fontScale="94444"/>
          </a:bodyPr>
          <a:p>
            <a:pPr algn="ctr">
              <a:defRPr b="1" sz="1350">
                <a:solidFill>
                  <a:srgbClr val="05A99B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defRPr>
            </a:pPr>
            <a:r>
              <a:rPr b="1" sz="1350">
                <a:solidFill>
                  <a:srgbClr val="05A99B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W3-4</a:t>
            </a:r>
            <a:endParaRPr b="1" sz="1350">
              <a:solidFill>
                <a:srgbClr val="05A99B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048891" name="椭圆 14"/>
          <p:cNvSpPr>
            <a:spLocks noGrp="1"/>
          </p:cNvSpPr>
          <p:nvPr/>
        </p:nvSpPr>
        <p:spPr>
          <a:xfrm>
            <a:off x="1790700" y="2743200"/>
            <a:ext cx="171450" cy="171450"/>
          </a:xfrm>
          <a:prstGeom prst="ellipse"/>
          <a:solidFill>
            <a:srgbClr val="05A99B"/>
          </a:solidFill>
          <a:ln w="0">
            <a:noFill/>
            <a:prstDash val="solid"/>
          </a:ln>
        </p:spPr>
      </p:sp>
      <p:sp>
        <p:nvSpPr>
          <p:cNvPr id="1048892" name="矩形 15"/>
          <p:cNvSpPr>
            <a:spLocks noGrp="1"/>
          </p:cNvSpPr>
          <p:nvPr/>
        </p:nvSpPr>
        <p:spPr>
          <a:xfrm>
            <a:off x="1866900" y="2933700"/>
            <a:ext cx="19050" cy="381000"/>
          </a:xfrm>
          <a:prstGeom prst="rect"/>
          <a:solidFill>
            <a:srgbClr val="D4E0E7"/>
          </a:solidFill>
          <a:ln w="0">
            <a:noFill/>
            <a:prstDash val="solid"/>
          </a:ln>
        </p:spPr>
      </p:sp>
      <p:sp>
        <p:nvSpPr>
          <p:cNvPr id="1048893" name="矩形 16"/>
          <p:cNvSpPr>
            <a:spLocks noGrp="1"/>
          </p:cNvSpPr>
          <p:nvPr/>
        </p:nvSpPr>
        <p:spPr>
          <a:xfrm>
            <a:off x="2209800" y="2686050"/>
            <a:ext cx="3905250" cy="323850"/>
          </a:xfrm>
          <a:prstGeom prst="rect"/>
          <a:noFill/>
          <a:ln w="0">
            <a:noFill/>
            <a:prstDash val="solid"/>
          </a:ln>
        </p:spPr>
        <p:txBody>
          <a:bodyPr anchor="t">
            <a:normAutofit/>
          </a:bodyPr>
          <a:p>
            <a:pPr algn="l">
              <a:defRPr b="1" sz="1350">
                <a:solidFill>
                  <a:srgbClr val="061827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defRPr>
            </a:pPr>
            <a:r>
              <a:rPr b="1" sz="1350">
                <a:solidFill>
                  <a:srgbClr val="061827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QAFM与Tiny-P2</a:t>
            </a:r>
            <a:endParaRPr b="1" sz="1350">
              <a:solidFill>
                <a:srgbClr val="061827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048894" name="矩形 17"/>
          <p:cNvSpPr>
            <a:spLocks noGrp="1"/>
          </p:cNvSpPr>
          <p:nvPr/>
        </p:nvSpPr>
        <p:spPr>
          <a:xfrm>
            <a:off x="685800" y="3295650"/>
            <a:ext cx="952500" cy="285750"/>
          </a:xfrm>
          <a:prstGeom prst="rect"/>
          <a:noFill/>
          <a:ln w="0">
            <a:noFill/>
            <a:prstDash val="solid"/>
          </a:ln>
        </p:spPr>
        <p:txBody>
          <a:bodyPr anchor="t">
            <a:normAutofit fontScale="94444"/>
          </a:bodyPr>
          <a:p>
            <a:pPr algn="ctr">
              <a:defRPr b="1" sz="1350">
                <a:solidFill>
                  <a:srgbClr val="05A99B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defRPr>
            </a:pPr>
            <a:r>
              <a:rPr b="1" sz="1350">
                <a:solidFill>
                  <a:srgbClr val="05A99B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W5</a:t>
            </a:r>
            <a:endParaRPr b="1" sz="1350">
              <a:solidFill>
                <a:srgbClr val="05A99B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048895" name="椭圆 18"/>
          <p:cNvSpPr>
            <a:spLocks noGrp="1"/>
          </p:cNvSpPr>
          <p:nvPr/>
        </p:nvSpPr>
        <p:spPr>
          <a:xfrm>
            <a:off x="1790700" y="3333750"/>
            <a:ext cx="171450" cy="171450"/>
          </a:xfrm>
          <a:prstGeom prst="ellipse"/>
          <a:solidFill>
            <a:srgbClr val="05A99B"/>
          </a:solidFill>
          <a:ln w="0">
            <a:noFill/>
            <a:prstDash val="solid"/>
          </a:ln>
        </p:spPr>
      </p:sp>
      <p:sp>
        <p:nvSpPr>
          <p:cNvPr id="1048896" name="矩形 19"/>
          <p:cNvSpPr>
            <a:spLocks noGrp="1"/>
          </p:cNvSpPr>
          <p:nvPr/>
        </p:nvSpPr>
        <p:spPr>
          <a:xfrm>
            <a:off x="1866900" y="3524250"/>
            <a:ext cx="19050" cy="381000"/>
          </a:xfrm>
          <a:prstGeom prst="rect"/>
          <a:solidFill>
            <a:srgbClr val="D4E0E7"/>
          </a:solidFill>
          <a:ln w="0">
            <a:noFill/>
            <a:prstDash val="solid"/>
          </a:ln>
        </p:spPr>
      </p:sp>
      <p:sp>
        <p:nvSpPr>
          <p:cNvPr id="1048897" name="矩形 20"/>
          <p:cNvSpPr>
            <a:spLocks noGrp="1"/>
          </p:cNvSpPr>
          <p:nvPr/>
        </p:nvSpPr>
        <p:spPr>
          <a:xfrm>
            <a:off x="2209800" y="3276600"/>
            <a:ext cx="3905250" cy="323850"/>
          </a:xfrm>
          <a:prstGeom prst="rect"/>
          <a:noFill/>
          <a:ln w="0">
            <a:noFill/>
            <a:prstDash val="solid"/>
          </a:ln>
        </p:spPr>
        <p:txBody>
          <a:bodyPr anchor="t">
            <a:normAutofit/>
          </a:bodyPr>
          <a:p>
            <a:pPr algn="l">
              <a:defRPr b="1" sz="1350">
                <a:solidFill>
                  <a:srgbClr val="061827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defRPr>
            </a:pPr>
            <a:r>
              <a:rPr b="1" sz="1350">
                <a:solidFill>
                  <a:srgbClr val="061827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密集优化与完整训练</a:t>
            </a:r>
            <a:endParaRPr b="1" sz="1350">
              <a:solidFill>
                <a:srgbClr val="061827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048898" name="矩形 21"/>
          <p:cNvSpPr>
            <a:spLocks noGrp="1"/>
          </p:cNvSpPr>
          <p:nvPr/>
        </p:nvSpPr>
        <p:spPr>
          <a:xfrm>
            <a:off x="685800" y="3886200"/>
            <a:ext cx="952500" cy="285750"/>
          </a:xfrm>
          <a:prstGeom prst="rect"/>
          <a:noFill/>
          <a:ln w="0">
            <a:noFill/>
            <a:prstDash val="solid"/>
          </a:ln>
        </p:spPr>
        <p:txBody>
          <a:bodyPr anchor="t">
            <a:normAutofit fontScale="94444"/>
          </a:bodyPr>
          <a:p>
            <a:pPr algn="ctr">
              <a:defRPr b="1" sz="1350">
                <a:solidFill>
                  <a:srgbClr val="FF8A3D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defRPr>
            </a:pPr>
            <a:r>
              <a:rPr b="1" sz="1350">
                <a:solidFill>
                  <a:srgbClr val="FF8A3D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W6</a:t>
            </a:r>
            <a:endParaRPr b="1" sz="1350">
              <a:solidFill>
                <a:srgbClr val="FF8A3D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048899" name="椭圆 22"/>
          <p:cNvSpPr>
            <a:spLocks noGrp="1"/>
          </p:cNvSpPr>
          <p:nvPr/>
        </p:nvSpPr>
        <p:spPr>
          <a:xfrm>
            <a:off x="1790700" y="3924300"/>
            <a:ext cx="171450" cy="171450"/>
          </a:xfrm>
          <a:prstGeom prst="ellipse"/>
          <a:solidFill>
            <a:srgbClr val="FF8A3D"/>
          </a:solidFill>
          <a:ln w="0">
            <a:noFill/>
            <a:prstDash val="solid"/>
          </a:ln>
        </p:spPr>
      </p:sp>
      <p:sp>
        <p:nvSpPr>
          <p:cNvPr id="1048900" name="矩形 23"/>
          <p:cNvSpPr>
            <a:spLocks noGrp="1"/>
          </p:cNvSpPr>
          <p:nvPr/>
        </p:nvSpPr>
        <p:spPr>
          <a:xfrm>
            <a:off x="1866900" y="4114800"/>
            <a:ext cx="19050" cy="381000"/>
          </a:xfrm>
          <a:prstGeom prst="rect"/>
          <a:solidFill>
            <a:srgbClr val="D4E0E7"/>
          </a:solidFill>
          <a:ln w="0">
            <a:noFill/>
            <a:prstDash val="solid"/>
          </a:ln>
        </p:spPr>
      </p:sp>
      <p:sp>
        <p:nvSpPr>
          <p:cNvPr id="1048901" name="矩形 24"/>
          <p:cNvSpPr>
            <a:spLocks noGrp="1"/>
          </p:cNvSpPr>
          <p:nvPr/>
        </p:nvSpPr>
        <p:spPr>
          <a:xfrm>
            <a:off x="2209800" y="3867150"/>
            <a:ext cx="3905250" cy="323850"/>
          </a:xfrm>
          <a:prstGeom prst="rect"/>
          <a:noFill/>
          <a:ln w="0">
            <a:noFill/>
            <a:prstDash val="solid"/>
          </a:ln>
        </p:spPr>
        <p:txBody>
          <a:bodyPr anchor="t">
            <a:normAutofit/>
          </a:bodyPr>
          <a:p>
            <a:pPr algn="l">
              <a:defRPr b="1" sz="1350">
                <a:solidFill>
                  <a:srgbClr val="061827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defRPr>
            </a:pPr>
            <a:r>
              <a:rPr b="1" sz="1350">
                <a:solidFill>
                  <a:srgbClr val="061827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消融、速度与鲁棒性测试</a:t>
            </a:r>
            <a:endParaRPr b="1" sz="1350">
              <a:solidFill>
                <a:srgbClr val="061827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048902" name="矩形 25"/>
          <p:cNvSpPr>
            <a:spLocks noGrp="1"/>
          </p:cNvSpPr>
          <p:nvPr/>
        </p:nvSpPr>
        <p:spPr>
          <a:xfrm>
            <a:off x="685800" y="4476750"/>
            <a:ext cx="952500" cy="285750"/>
          </a:xfrm>
          <a:prstGeom prst="rect"/>
          <a:noFill/>
          <a:ln w="0">
            <a:noFill/>
            <a:prstDash val="solid"/>
          </a:ln>
        </p:spPr>
        <p:txBody>
          <a:bodyPr anchor="t">
            <a:normAutofit fontScale="94444"/>
          </a:bodyPr>
          <a:p>
            <a:pPr algn="ctr">
              <a:defRPr b="1" sz="1350">
                <a:solidFill>
                  <a:srgbClr val="FF8A3D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defRPr>
            </a:pPr>
            <a:r>
              <a:rPr b="1" sz="1350">
                <a:solidFill>
                  <a:srgbClr val="FF8A3D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W7</a:t>
            </a:r>
            <a:endParaRPr b="1" sz="1350">
              <a:solidFill>
                <a:srgbClr val="FF8A3D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048903" name="椭圆 26"/>
          <p:cNvSpPr>
            <a:spLocks noGrp="1"/>
          </p:cNvSpPr>
          <p:nvPr/>
        </p:nvSpPr>
        <p:spPr>
          <a:xfrm>
            <a:off x="1790700" y="4514850"/>
            <a:ext cx="171450" cy="171450"/>
          </a:xfrm>
          <a:prstGeom prst="ellipse"/>
          <a:solidFill>
            <a:srgbClr val="FF8A3D"/>
          </a:solidFill>
          <a:ln w="0">
            <a:noFill/>
            <a:prstDash val="solid"/>
          </a:ln>
        </p:spPr>
      </p:sp>
      <p:sp>
        <p:nvSpPr>
          <p:cNvPr id="1048904" name="矩形 27"/>
          <p:cNvSpPr>
            <a:spLocks noGrp="1"/>
          </p:cNvSpPr>
          <p:nvPr/>
        </p:nvSpPr>
        <p:spPr>
          <a:xfrm>
            <a:off x="1866900" y="4705350"/>
            <a:ext cx="19050" cy="381000"/>
          </a:xfrm>
          <a:prstGeom prst="rect"/>
          <a:solidFill>
            <a:srgbClr val="D4E0E7"/>
          </a:solidFill>
          <a:ln w="0">
            <a:noFill/>
            <a:prstDash val="solid"/>
          </a:ln>
        </p:spPr>
      </p:sp>
      <p:sp>
        <p:nvSpPr>
          <p:cNvPr id="1048905" name="矩形 28"/>
          <p:cNvSpPr>
            <a:spLocks noGrp="1"/>
          </p:cNvSpPr>
          <p:nvPr/>
        </p:nvSpPr>
        <p:spPr>
          <a:xfrm>
            <a:off x="2209800" y="4457700"/>
            <a:ext cx="3905250" cy="323850"/>
          </a:xfrm>
          <a:prstGeom prst="rect"/>
          <a:noFill/>
          <a:ln w="0">
            <a:noFill/>
            <a:prstDash val="solid"/>
          </a:ln>
        </p:spPr>
        <p:txBody>
          <a:bodyPr anchor="t">
            <a:normAutofit/>
          </a:bodyPr>
          <a:p>
            <a:pPr algn="l">
              <a:defRPr b="1" sz="1350">
                <a:solidFill>
                  <a:srgbClr val="061827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defRPr>
            </a:pPr>
            <a:r>
              <a:rPr b="1" sz="1350">
                <a:solidFill>
                  <a:srgbClr val="061827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推理界面与演示视频</a:t>
            </a:r>
            <a:endParaRPr b="1" sz="1350">
              <a:solidFill>
                <a:srgbClr val="061827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048906" name="矩形 29"/>
          <p:cNvSpPr>
            <a:spLocks noGrp="1"/>
          </p:cNvSpPr>
          <p:nvPr/>
        </p:nvSpPr>
        <p:spPr>
          <a:xfrm>
            <a:off x="685800" y="5067300"/>
            <a:ext cx="952500" cy="285750"/>
          </a:xfrm>
          <a:prstGeom prst="rect"/>
          <a:noFill/>
          <a:ln w="0">
            <a:noFill/>
            <a:prstDash val="solid"/>
          </a:ln>
        </p:spPr>
        <p:txBody>
          <a:bodyPr anchor="t">
            <a:normAutofit fontScale="94444"/>
          </a:bodyPr>
          <a:p>
            <a:pPr algn="ctr">
              <a:defRPr b="1" sz="1350">
                <a:solidFill>
                  <a:srgbClr val="E85C5C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defRPr>
            </a:pPr>
            <a:r>
              <a:rPr b="1" sz="1350">
                <a:solidFill>
                  <a:srgbClr val="E85C5C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W8</a:t>
            </a:r>
            <a:endParaRPr b="1" sz="1350">
              <a:solidFill>
                <a:srgbClr val="E85C5C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048907" name="椭圆 30"/>
          <p:cNvSpPr>
            <a:spLocks noGrp="1"/>
          </p:cNvSpPr>
          <p:nvPr/>
        </p:nvSpPr>
        <p:spPr>
          <a:xfrm>
            <a:off x="1790700" y="5105400"/>
            <a:ext cx="171450" cy="171450"/>
          </a:xfrm>
          <a:prstGeom prst="ellipse"/>
          <a:solidFill>
            <a:srgbClr val="E85C5C"/>
          </a:solidFill>
          <a:ln w="0">
            <a:noFill/>
            <a:prstDash val="solid"/>
          </a:ln>
        </p:spPr>
      </p:sp>
      <p:sp>
        <p:nvSpPr>
          <p:cNvPr id="1048908" name="矩形 31"/>
          <p:cNvSpPr>
            <a:spLocks noGrp="1"/>
          </p:cNvSpPr>
          <p:nvPr/>
        </p:nvSpPr>
        <p:spPr>
          <a:xfrm>
            <a:off x="2209800" y="5048250"/>
            <a:ext cx="3905250" cy="323850"/>
          </a:xfrm>
          <a:prstGeom prst="rect"/>
          <a:noFill/>
          <a:ln w="0">
            <a:noFill/>
            <a:prstDash val="solid"/>
          </a:ln>
        </p:spPr>
        <p:txBody>
          <a:bodyPr anchor="t">
            <a:normAutofit/>
          </a:bodyPr>
          <a:p>
            <a:pPr algn="l">
              <a:defRPr b="1" sz="1350">
                <a:solidFill>
                  <a:srgbClr val="061827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defRPr>
            </a:pPr>
            <a:r>
              <a:rPr b="1" sz="1350">
                <a:solidFill>
                  <a:srgbClr val="061827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PPT、方案书与答辩</a:t>
            </a:r>
            <a:endParaRPr b="1" sz="1350">
              <a:solidFill>
                <a:srgbClr val="061827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048909" name="圆角矩形 32"/>
          <p:cNvSpPr>
            <a:spLocks noGrp="1"/>
          </p:cNvSpPr>
          <p:nvPr/>
        </p:nvSpPr>
        <p:spPr>
          <a:xfrm>
            <a:off x="6496050" y="1466850"/>
            <a:ext cx="5010150" cy="2133600"/>
          </a:xfrm>
          <a:prstGeom prst="roundRect">
            <a:avLst>
              <a:gd name="adj" fmla="val 5357"/>
            </a:avLst>
          </a:prstGeom>
          <a:solidFill>
            <a:srgbClr val="0A2941"/>
          </a:solidFill>
          <a:ln w="0">
            <a:noFill/>
            <a:prstDash val="solid"/>
          </a:ln>
        </p:spPr>
      </p:sp>
      <p:sp>
        <p:nvSpPr>
          <p:cNvPr id="1048910" name="矩形 33"/>
          <p:cNvSpPr>
            <a:spLocks noGrp="1"/>
          </p:cNvSpPr>
          <p:nvPr/>
        </p:nvSpPr>
        <p:spPr>
          <a:xfrm>
            <a:off x="6800850" y="1752600"/>
            <a:ext cx="4400550" cy="323850"/>
          </a:xfrm>
          <a:prstGeom prst="rect"/>
          <a:noFill/>
          <a:ln w="0">
            <a:noFill/>
            <a:prstDash val="solid"/>
          </a:ln>
        </p:spPr>
        <p:txBody>
          <a:bodyPr anchor="t">
            <a:normAutofit fontScale="88406"/>
          </a:bodyPr>
          <a:p>
            <a:pPr algn="ctr">
              <a:defRPr b="1" sz="1725">
                <a:solidFill>
                  <a:srgbClr val="33C4E8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defRPr>
            </a:pPr>
            <a:r>
              <a:rPr b="1" sz="1725">
                <a:solidFill>
                  <a:srgbClr val="33C4E8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官方评分映射</a:t>
            </a:r>
            <a:endParaRPr b="1" sz="1725">
              <a:solidFill>
                <a:srgbClr val="33C4E8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048911" name="矩形 34"/>
          <p:cNvSpPr>
            <a:spLocks noGrp="1"/>
          </p:cNvSpPr>
          <p:nvPr/>
        </p:nvSpPr>
        <p:spPr>
          <a:xfrm>
            <a:off x="6800850" y="2228850"/>
            <a:ext cx="1143000" cy="228600"/>
          </a:xfrm>
          <a:prstGeom prst="rect"/>
          <a:noFill/>
          <a:ln w="0">
            <a:noFill/>
            <a:prstDash val="solid"/>
          </a:ln>
        </p:spPr>
        <p:txBody>
          <a:bodyPr anchor="t">
            <a:normAutofit fontScale="75000"/>
          </a:bodyPr>
          <a:p>
            <a:pPr algn="l">
              <a:defRPr b="1" sz="1200">
                <a:solidFill>
                  <a:srgbClr val="FFFFFF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defRPr>
            </a:pPr>
            <a:r>
              <a:rPr b="1" sz="1200">
                <a:solidFill>
                  <a:srgbClr val="FFFFFF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项目创意</a:t>
            </a:r>
            <a:endParaRPr b="1" sz="1200">
              <a:solidFill>
                <a:srgbClr val="FFFFFF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048912" name="矩形 35"/>
          <p:cNvSpPr>
            <a:spLocks noGrp="1"/>
          </p:cNvSpPr>
          <p:nvPr/>
        </p:nvSpPr>
        <p:spPr>
          <a:xfrm>
            <a:off x="8020050" y="2228850"/>
            <a:ext cx="571500" cy="228600"/>
          </a:xfrm>
          <a:prstGeom prst="rect"/>
          <a:noFill/>
          <a:ln w="0">
            <a:noFill/>
            <a:prstDash val="solid"/>
          </a:ln>
        </p:spPr>
        <p:txBody>
          <a:bodyPr anchor="t">
            <a:normAutofit fontScale="75000"/>
          </a:bodyPr>
          <a:p>
            <a:pPr algn="ctr">
              <a:defRPr b="1" sz="1200">
                <a:solidFill>
                  <a:srgbClr val="FF8A3D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defRPr>
            </a:pPr>
            <a:r>
              <a:rPr b="1" sz="1200">
                <a:solidFill>
                  <a:srgbClr val="FF8A3D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20分</a:t>
            </a:r>
            <a:endParaRPr b="1" sz="1200">
              <a:solidFill>
                <a:srgbClr val="FF8A3D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048913" name="矩形 36"/>
          <p:cNvSpPr>
            <a:spLocks noGrp="1"/>
          </p:cNvSpPr>
          <p:nvPr/>
        </p:nvSpPr>
        <p:spPr>
          <a:xfrm>
            <a:off x="8686800" y="2228850"/>
            <a:ext cx="2476500" cy="228600"/>
          </a:xfrm>
          <a:prstGeom prst="rect"/>
          <a:noFill/>
          <a:ln w="0">
            <a:noFill/>
            <a:prstDash val="solid"/>
          </a:ln>
        </p:spPr>
        <p:txBody>
          <a:bodyPr anchor="t">
            <a:normAutofit fontScale="85714"/>
          </a:bodyPr>
          <a:p>
            <a:pPr algn="l">
              <a:defRPr b="0" sz="1050">
                <a:solidFill>
                  <a:srgbClr val="C4D9E3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defRPr>
            </a:pPr>
            <a:r>
              <a:rPr b="0" sz="1050">
                <a:solidFill>
                  <a:srgbClr val="C4D9E3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三个模块与医学影像迁移逻辑</a:t>
            </a:r>
            <a:endParaRPr b="0" sz="1050">
              <a:solidFill>
                <a:srgbClr val="C4D9E3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048914" name="矩形 37"/>
          <p:cNvSpPr>
            <a:spLocks noGrp="1"/>
          </p:cNvSpPr>
          <p:nvPr/>
        </p:nvSpPr>
        <p:spPr>
          <a:xfrm>
            <a:off x="6800850" y="2552700"/>
            <a:ext cx="1143000" cy="228600"/>
          </a:xfrm>
          <a:prstGeom prst="rect"/>
          <a:noFill/>
          <a:ln w="0">
            <a:noFill/>
            <a:prstDash val="solid"/>
          </a:ln>
        </p:spPr>
        <p:txBody>
          <a:bodyPr anchor="t">
            <a:normAutofit fontScale="75000"/>
          </a:bodyPr>
          <a:p>
            <a:pPr algn="l">
              <a:defRPr b="1" sz="1200">
                <a:solidFill>
                  <a:srgbClr val="FFFFFF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defRPr>
            </a:pPr>
            <a:r>
              <a:rPr b="1" sz="1200">
                <a:solidFill>
                  <a:srgbClr val="FFFFFF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实施方案</a:t>
            </a:r>
            <a:endParaRPr b="1" sz="1200">
              <a:solidFill>
                <a:srgbClr val="FFFFFF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048915" name="矩形 38"/>
          <p:cNvSpPr>
            <a:spLocks noGrp="1"/>
          </p:cNvSpPr>
          <p:nvPr/>
        </p:nvSpPr>
        <p:spPr>
          <a:xfrm>
            <a:off x="8020050" y="2552700"/>
            <a:ext cx="571500" cy="228600"/>
          </a:xfrm>
          <a:prstGeom prst="rect"/>
          <a:noFill/>
          <a:ln w="0">
            <a:noFill/>
            <a:prstDash val="solid"/>
          </a:ln>
        </p:spPr>
        <p:txBody>
          <a:bodyPr anchor="t">
            <a:normAutofit fontScale="75000"/>
          </a:bodyPr>
          <a:p>
            <a:pPr algn="ctr">
              <a:defRPr b="1" sz="1200">
                <a:solidFill>
                  <a:srgbClr val="FF8A3D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defRPr>
            </a:pPr>
            <a:r>
              <a:rPr b="1" sz="1200">
                <a:solidFill>
                  <a:srgbClr val="FF8A3D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30分</a:t>
            </a:r>
            <a:endParaRPr b="1" sz="1200">
              <a:solidFill>
                <a:srgbClr val="FF8A3D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048916" name="矩形 39"/>
          <p:cNvSpPr>
            <a:spLocks noGrp="1"/>
          </p:cNvSpPr>
          <p:nvPr/>
        </p:nvSpPr>
        <p:spPr>
          <a:xfrm>
            <a:off x="8686800" y="2552700"/>
            <a:ext cx="2476500" cy="228600"/>
          </a:xfrm>
          <a:prstGeom prst="rect"/>
          <a:noFill/>
          <a:ln w="0">
            <a:noFill/>
            <a:prstDash val="solid"/>
          </a:ln>
        </p:spPr>
        <p:txBody>
          <a:bodyPr anchor="t">
            <a:normAutofit fontScale="85714"/>
          </a:bodyPr>
          <a:p>
            <a:pPr algn="l">
              <a:defRPr b="0" sz="1050">
                <a:solidFill>
                  <a:srgbClr val="C4D9E3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defRPr>
            </a:pPr>
            <a:r>
              <a:rPr b="0" sz="1050">
                <a:solidFill>
                  <a:srgbClr val="C4D9E3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数据、训练、消融和八周计划</a:t>
            </a:r>
            <a:endParaRPr b="0" sz="1050">
              <a:solidFill>
                <a:srgbClr val="C4D9E3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048917" name="矩形 40"/>
          <p:cNvSpPr>
            <a:spLocks noGrp="1"/>
          </p:cNvSpPr>
          <p:nvPr/>
        </p:nvSpPr>
        <p:spPr>
          <a:xfrm>
            <a:off x="6800850" y="2876550"/>
            <a:ext cx="1143000" cy="228600"/>
          </a:xfrm>
          <a:prstGeom prst="rect"/>
          <a:noFill/>
          <a:ln w="0">
            <a:noFill/>
            <a:prstDash val="solid"/>
          </a:ln>
        </p:spPr>
        <p:txBody>
          <a:bodyPr anchor="t">
            <a:normAutofit fontScale="75000"/>
          </a:bodyPr>
          <a:p>
            <a:pPr algn="l">
              <a:defRPr b="1" sz="1200">
                <a:solidFill>
                  <a:srgbClr val="FFFFFF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defRPr>
            </a:pPr>
            <a:r>
              <a:rPr b="1" sz="1200">
                <a:solidFill>
                  <a:srgbClr val="FFFFFF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技术实现与交付</a:t>
            </a:r>
            <a:endParaRPr b="1" sz="1200">
              <a:solidFill>
                <a:srgbClr val="FFFFFF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048918" name="矩形 41"/>
          <p:cNvSpPr>
            <a:spLocks noGrp="1"/>
          </p:cNvSpPr>
          <p:nvPr/>
        </p:nvSpPr>
        <p:spPr>
          <a:xfrm>
            <a:off x="8020050" y="2876550"/>
            <a:ext cx="571500" cy="228600"/>
          </a:xfrm>
          <a:prstGeom prst="rect"/>
          <a:noFill/>
          <a:ln w="0">
            <a:noFill/>
            <a:prstDash val="solid"/>
          </a:ln>
        </p:spPr>
        <p:txBody>
          <a:bodyPr anchor="t">
            <a:normAutofit fontScale="75000"/>
          </a:bodyPr>
          <a:p>
            <a:pPr algn="ctr">
              <a:defRPr b="1" sz="1200">
                <a:solidFill>
                  <a:srgbClr val="FF8A3D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defRPr>
            </a:pPr>
            <a:r>
              <a:rPr b="1" sz="1200">
                <a:solidFill>
                  <a:srgbClr val="FF8A3D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30分</a:t>
            </a:r>
            <a:endParaRPr b="1" sz="1200">
              <a:solidFill>
                <a:srgbClr val="FF8A3D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048919" name="矩形 42"/>
          <p:cNvSpPr>
            <a:spLocks noGrp="1"/>
          </p:cNvSpPr>
          <p:nvPr/>
        </p:nvSpPr>
        <p:spPr>
          <a:xfrm>
            <a:off x="8686800" y="2876550"/>
            <a:ext cx="2476500" cy="228600"/>
          </a:xfrm>
          <a:prstGeom prst="rect"/>
          <a:noFill/>
          <a:ln w="0">
            <a:noFill/>
            <a:prstDash val="solid"/>
          </a:ln>
        </p:spPr>
        <p:txBody>
          <a:bodyPr anchor="t">
            <a:normAutofit fontScale="85714"/>
          </a:bodyPr>
          <a:p>
            <a:pPr algn="l">
              <a:defRPr b="0" sz="1050">
                <a:solidFill>
                  <a:srgbClr val="C4D9E3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defRPr>
            </a:pPr>
            <a:r>
              <a:rPr b="0" sz="1050">
                <a:solidFill>
                  <a:srgbClr val="C4D9E3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可运行模型、推理脚本与部署</a:t>
            </a:r>
            <a:endParaRPr b="0" sz="1050">
              <a:solidFill>
                <a:srgbClr val="C4D9E3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048920" name="矩形 43"/>
          <p:cNvSpPr>
            <a:spLocks noGrp="1"/>
          </p:cNvSpPr>
          <p:nvPr/>
        </p:nvSpPr>
        <p:spPr>
          <a:xfrm>
            <a:off x="6800850" y="3200400"/>
            <a:ext cx="1143000" cy="228600"/>
          </a:xfrm>
          <a:prstGeom prst="rect"/>
          <a:noFill/>
          <a:ln w="0">
            <a:noFill/>
            <a:prstDash val="solid"/>
          </a:ln>
        </p:spPr>
        <p:txBody>
          <a:bodyPr anchor="t">
            <a:normAutofit fontScale="75000"/>
          </a:bodyPr>
          <a:p>
            <a:pPr algn="l">
              <a:defRPr b="1" sz="1200">
                <a:solidFill>
                  <a:srgbClr val="FFFFFF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defRPr>
            </a:pPr>
            <a:r>
              <a:rPr b="1" sz="1200">
                <a:solidFill>
                  <a:srgbClr val="FFFFFF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项目展示</a:t>
            </a:r>
            <a:endParaRPr b="1" sz="1200">
              <a:solidFill>
                <a:srgbClr val="FFFFFF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048921" name="矩形 44"/>
          <p:cNvSpPr>
            <a:spLocks noGrp="1"/>
          </p:cNvSpPr>
          <p:nvPr/>
        </p:nvSpPr>
        <p:spPr>
          <a:xfrm>
            <a:off x="8020050" y="3200400"/>
            <a:ext cx="571500" cy="228600"/>
          </a:xfrm>
          <a:prstGeom prst="rect"/>
          <a:noFill/>
          <a:ln w="0">
            <a:noFill/>
            <a:prstDash val="solid"/>
          </a:ln>
        </p:spPr>
        <p:txBody>
          <a:bodyPr anchor="t">
            <a:normAutofit fontScale="75000"/>
          </a:bodyPr>
          <a:p>
            <a:pPr algn="ctr">
              <a:defRPr b="1" sz="1200">
                <a:solidFill>
                  <a:srgbClr val="FF8A3D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defRPr>
            </a:pPr>
            <a:r>
              <a:rPr b="1" sz="1200">
                <a:solidFill>
                  <a:srgbClr val="FF8A3D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20分</a:t>
            </a:r>
            <a:endParaRPr b="1" sz="1200">
              <a:solidFill>
                <a:srgbClr val="FF8A3D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048922" name="矩形 45"/>
          <p:cNvSpPr>
            <a:spLocks noGrp="1"/>
          </p:cNvSpPr>
          <p:nvPr/>
        </p:nvSpPr>
        <p:spPr>
          <a:xfrm>
            <a:off x="8686800" y="3200400"/>
            <a:ext cx="2476500" cy="228600"/>
          </a:xfrm>
          <a:prstGeom prst="rect"/>
          <a:noFill/>
          <a:ln w="0">
            <a:noFill/>
            <a:prstDash val="solid"/>
          </a:ln>
        </p:spPr>
        <p:txBody>
          <a:bodyPr anchor="t">
            <a:normAutofit fontScale="85714"/>
          </a:bodyPr>
          <a:p>
            <a:pPr algn="l">
              <a:defRPr b="0" sz="1050">
                <a:solidFill>
                  <a:srgbClr val="C4D9E3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defRPr>
            </a:pPr>
            <a:r>
              <a:rPr b="0" sz="1050">
                <a:solidFill>
                  <a:srgbClr val="C4D9E3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PPT、方案书、演示视频与日志</a:t>
            </a:r>
            <a:endParaRPr b="0" sz="1050">
              <a:solidFill>
                <a:srgbClr val="C4D9E3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048923" name="圆角矩形 46"/>
          <p:cNvSpPr>
            <a:spLocks noGrp="1"/>
          </p:cNvSpPr>
          <p:nvPr/>
        </p:nvSpPr>
        <p:spPr>
          <a:xfrm>
            <a:off x="6496050" y="3924300"/>
            <a:ext cx="5010150" cy="18288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4E0E7"/>
            </a:solidFill>
            <a:prstDash val="solid"/>
          </a:ln>
        </p:spPr>
      </p:sp>
      <p:sp>
        <p:nvSpPr>
          <p:cNvPr id="1048924" name="矩形 47"/>
          <p:cNvSpPr>
            <a:spLocks noGrp="1"/>
          </p:cNvSpPr>
          <p:nvPr/>
        </p:nvSpPr>
        <p:spPr>
          <a:xfrm>
            <a:off x="6800850" y="4171950"/>
            <a:ext cx="4400550" cy="285750"/>
          </a:xfrm>
          <a:prstGeom prst="rect"/>
          <a:noFill/>
          <a:ln w="0">
            <a:noFill/>
            <a:prstDash val="solid"/>
          </a:ln>
        </p:spPr>
        <p:txBody>
          <a:bodyPr anchor="t">
            <a:normAutofit fontScale="80952"/>
          </a:bodyPr>
          <a:p>
            <a:pPr algn="ctr">
              <a:defRPr b="1" sz="1575">
                <a:solidFill>
                  <a:srgbClr val="061827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defRPr>
            </a:pPr>
            <a:r>
              <a:rPr b="1" sz="1575">
                <a:solidFill>
                  <a:srgbClr val="061827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最终提交包</a:t>
            </a:r>
            <a:endParaRPr b="1" sz="1575">
              <a:solidFill>
                <a:srgbClr val="061827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048925" name="矩形 48"/>
          <p:cNvSpPr>
            <a:spLocks noGrp="1"/>
          </p:cNvSpPr>
          <p:nvPr/>
        </p:nvSpPr>
        <p:spPr>
          <a:xfrm>
            <a:off x="6838950" y="4629150"/>
            <a:ext cx="4267200" cy="952500"/>
          </a:xfrm>
          <a:prstGeom prst="rect"/>
          <a:noFill/>
          <a:ln w="0">
            <a:noFill/>
            <a:prstDash val="solid"/>
          </a:ln>
        </p:spPr>
        <p:txBody>
          <a:bodyPr>
            <a:normAutofit fontScale="96875"/>
          </a:bodyPr>
          <a:p>
            <a:pPr indent="-114300" marL="228600">
              <a:spcAft>
                <a:spcPts val="400"/>
              </a:spcAft>
              <a:buChar char="•"/>
              <a:defRPr sz="1200">
                <a:solidFill>
                  <a:srgbClr val="102A43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defRPr>
            </a:pPr>
            <a:r>
              <a:rPr sz="1200">
                <a:solidFill>
                  <a:srgbClr val="102A43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项目概要介绍与项目简介PPT</a:t>
            </a:r>
            <a:endParaRPr sz="1200">
              <a:solidFill>
                <a:srgbClr val="102A43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indent="-114300" marL="228600">
              <a:spcAft>
                <a:spcPts val="400"/>
              </a:spcAft>
              <a:buChar char="•"/>
              <a:defRPr sz="1200">
                <a:solidFill>
                  <a:srgbClr val="102A43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defRPr>
            </a:pPr>
            <a:r>
              <a:rPr sz="1200">
                <a:solidFill>
                  <a:srgbClr val="102A43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详细技术方案与配置文件</a:t>
            </a:r>
            <a:endParaRPr sz="1200">
              <a:solidFill>
                <a:srgbClr val="102A43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indent="-114300" marL="228600">
              <a:spcAft>
                <a:spcPts val="400"/>
              </a:spcAft>
              <a:buChar char="•"/>
              <a:defRPr sz="1200">
                <a:solidFill>
                  <a:srgbClr val="102A43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defRPr>
            </a:pPr>
            <a:r>
              <a:rPr sz="1200">
                <a:solidFill>
                  <a:srgbClr val="102A43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模型权重、推理脚本和使用说明</a:t>
            </a:r>
            <a:endParaRPr sz="1200">
              <a:solidFill>
                <a:srgbClr val="102A43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indent="-114300" marL="228600">
              <a:spcAft>
                <a:spcPts val="400"/>
              </a:spcAft>
              <a:buChar char="•"/>
              <a:defRPr sz="1200">
                <a:solidFill>
                  <a:srgbClr val="102A43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defRPr>
            </a:pPr>
            <a:r>
              <a:rPr sz="1200">
                <a:solidFill>
                  <a:srgbClr val="102A43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不同场景演示视频与实验报告</a:t>
            </a:r>
            <a:endParaRPr sz="1200">
              <a:solidFill>
                <a:srgbClr val="102A43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048926" name="矩形 49"/>
          <p:cNvSpPr>
            <a:spLocks noGrp="1"/>
          </p:cNvSpPr>
          <p:nvPr/>
        </p:nvSpPr>
        <p:spPr>
          <a:xfrm>
            <a:off x="990600" y="6115050"/>
            <a:ext cx="10191750" cy="285750"/>
          </a:xfrm>
          <a:prstGeom prst="rect"/>
          <a:noFill/>
          <a:ln w="0">
            <a:noFill/>
            <a:prstDash val="solid"/>
          </a:ln>
        </p:spPr>
        <p:txBody>
          <a:bodyPr anchor="t">
            <a:normAutofit/>
          </a:bodyPr>
          <a:p>
            <a:pPr algn="ctr">
              <a:defRPr b="1" sz="1275">
                <a:solidFill>
                  <a:srgbClr val="48658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defRPr>
            </a:pPr>
            <a:r>
              <a:rPr b="1" sz="1275">
                <a:solidFill>
                  <a:srgbClr val="48658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团队并行：数据与实验、算法研发、工程演示、文档答辩四条工作流同步推进。</a:t>
            </a:r>
            <a:endParaRPr b="1" sz="1275">
              <a:solidFill>
                <a:srgbClr val="48658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92*334"/>
  <p:tag name="TABLE_ENDDRAG_RECT" val="36*134*892*334"/>
</p:tagLst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WPS 演示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OCE-AN10</dc:creator>
  <cp:lastModifiedBy>WPS_1761919018</cp:lastModifiedBy>
  <dcterms:created xsi:type="dcterms:W3CDTF">2006-08-14T16:00:00Z</dcterms:created>
  <dcterms:modified xsi:type="dcterms:W3CDTF">2026-10-09T08:37:56Z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52AC4558B19147BBA0BD36FF9AFD0D05_12</vt:lpwstr>
  </property>
</Properties>
</file>