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a6930476c340a1" /><Relationship Type="http://schemas.openxmlformats.org/officeDocument/2006/relationships/extended-properties" Target="/docProps/app.xml" Id="R79eb36ac00034359" /><Relationship Type="http://schemas.openxmlformats.org/officeDocument/2006/relationships/officeDocument" Target="/ppt/presentation.xml" Id="Re4e865d6a2d945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0fcfcaa4804fc2"/>
  </p:sldMasterIdLst>
  <p:notesMasterIdLst>
    <p:notesMasterId xmlns:r="http://schemas.openxmlformats.org/officeDocument/2006/relationships" r:id="Rb0414b04a9d24033"/>
  </p:notesMasterIdLst>
  <p:sldIdLst>
    <p:sldId xmlns:r="http://schemas.openxmlformats.org/officeDocument/2006/relationships" id="256" r:id="R231661671a9549d4"/>
    <p:sldId xmlns:r="http://schemas.openxmlformats.org/officeDocument/2006/relationships" id="257" r:id="R15c48d6d42604e22"/>
    <p:sldId xmlns:r="http://schemas.openxmlformats.org/officeDocument/2006/relationships" id="258" r:id="R5da2ae6b0b6b4e0a"/>
    <p:sldId xmlns:r="http://schemas.openxmlformats.org/officeDocument/2006/relationships" id="259" r:id="Rbc42a5dbeb3c4be6"/>
    <p:sldId xmlns:r="http://schemas.openxmlformats.org/officeDocument/2006/relationships" id="260" r:id="Rabced981ba574eb6"/>
    <p:sldId xmlns:r="http://schemas.openxmlformats.org/officeDocument/2006/relationships" id="261" r:id="R5bd4994e9b984252"/>
    <p:sldId xmlns:r="http://schemas.openxmlformats.org/officeDocument/2006/relationships" id="262" r:id="R168326aeb6954f6d"/>
    <p:sldId xmlns:r="http://schemas.openxmlformats.org/officeDocument/2006/relationships" id="263" r:id="R0e8f66e5d66e40e8"/>
    <p:sldId xmlns:r="http://schemas.openxmlformats.org/officeDocument/2006/relationships" id="264" r:id="R40b17c1dd65c44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4fc1a837a34159" /><Relationship Type="http://schemas.openxmlformats.org/officeDocument/2006/relationships/slideMaster" Target="/ppt/slideMasters/slideMaster1.xml" Id="R7a0fcfcaa4804fc2" /><Relationship Type="http://schemas.openxmlformats.org/officeDocument/2006/relationships/notesMaster" Target="/ppt/notesMasters/notesMaster1.xml" Id="Rb0414b04a9d24033" /><Relationship Type="http://schemas.openxmlformats.org/officeDocument/2006/relationships/presProps" Target="/ppt/presProps.xml" Id="R8e30a075ce4f41cf" /><Relationship Type="http://schemas.openxmlformats.org/officeDocument/2006/relationships/tableStyles" Target="/ppt/tableStyles.xml" Id="Rc9c815536b254593" /><Relationship Type="http://schemas.openxmlformats.org/officeDocument/2006/relationships/slide" Target="/ppt/slides/slide1.xml" Id="R231661671a9549d4" /><Relationship Type="http://schemas.openxmlformats.org/officeDocument/2006/relationships/slide" Target="/ppt/slides/slide2.xml" Id="R15c48d6d42604e22" /><Relationship Type="http://schemas.openxmlformats.org/officeDocument/2006/relationships/slide" Target="/ppt/slides/slide3.xml" Id="R5da2ae6b0b6b4e0a" /><Relationship Type="http://schemas.openxmlformats.org/officeDocument/2006/relationships/slide" Target="/ppt/slides/slide4.xml" Id="Rbc42a5dbeb3c4be6" /><Relationship Type="http://schemas.openxmlformats.org/officeDocument/2006/relationships/slide" Target="/ppt/slides/slide5.xml" Id="Rabced981ba574eb6" /><Relationship Type="http://schemas.openxmlformats.org/officeDocument/2006/relationships/slide" Target="/ppt/slides/slide6.xml" Id="R5bd4994e9b984252" /><Relationship Type="http://schemas.openxmlformats.org/officeDocument/2006/relationships/slide" Target="/ppt/slides/slide7.xml" Id="R168326aeb6954f6d" /><Relationship Type="http://schemas.openxmlformats.org/officeDocument/2006/relationships/slide" Target="/ppt/slides/slide8.xml" Id="R0e8f66e5d66e40e8" /><Relationship Type="http://schemas.openxmlformats.org/officeDocument/2006/relationships/slide" Target="/ppt/slides/slide9.xml" Id="R40b17c1dd65c44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aab9a8e8e349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88ea2313264637" /><Relationship Type="http://schemas.openxmlformats.org/officeDocument/2006/relationships/notesMaster" Target="/ppt/notesMasters/notesMaster1.xml" Id="Re48fbc757fc145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4f5097f1c445c8" /><Relationship Type="http://schemas.openxmlformats.org/officeDocument/2006/relationships/notesMaster" Target="/ppt/notesMasters/notesMaster1.xml" Id="Rd85f4b6c3d0a4b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aa9ebe0d444247" /><Relationship Type="http://schemas.openxmlformats.org/officeDocument/2006/relationships/notesMaster" Target="/ppt/notesMasters/notesMaster1.xml" Id="Rf700ddadb17047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9c31c29c764c56" /><Relationship Type="http://schemas.openxmlformats.org/officeDocument/2006/relationships/notesMaster" Target="/ppt/notesMasters/notesMaster1.xml" Id="R8bf76ae44fc344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c5129950ba43f7" /><Relationship Type="http://schemas.openxmlformats.org/officeDocument/2006/relationships/notesMaster" Target="/ppt/notesMasters/notesMaster1.xml" Id="Rb4f2e33d621c41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6fa3b6454447a7" /><Relationship Type="http://schemas.openxmlformats.org/officeDocument/2006/relationships/notesMaster" Target="/ppt/notesMasters/notesMaster1.xml" Id="Rb7b2700388464e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37efcabf4247d7" /><Relationship Type="http://schemas.openxmlformats.org/officeDocument/2006/relationships/notesMaster" Target="/ppt/notesMasters/notesMaster1.xml" Id="Rfb4e5472e37a40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0accdc9ccc44cc" /><Relationship Type="http://schemas.openxmlformats.org/officeDocument/2006/relationships/notesMaster" Target="/ppt/notesMasters/notesMaster1.xml" Id="Ra62fa3c5edcc4f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f0c51ddfa741a3" /><Relationship Type="http://schemas.openxmlformats.org/officeDocument/2006/relationships/notesMaster" Target="/ppt/notesMasters/notesMaster1.xml" Id="Re95f2b3fd29149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来源：本地原始数据 D:/train/train、D:/val/val、D:/test/test；各页数值来自结果包中的实际统计、训练与评估 JSON。官方数据：https://github.com/VisDrone/DroneVehicle；模型：https://docs.ultralytics.com/models/yolov8/。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来源：本地原始数据 D:/train/train、D:/val/val、D:/test/test；各页数值来自结果包中的实际统计、训练与评估 JSON。官方数据：https://github.com/VisDrone/DroneVehicle；模型：https://docs.ultralytics.com/models/yolov8/。 图像对指同一编号的 RGB 与 thermal。隔离数量按样本对计，一个样本可能包含多个异常事件。近重复场景不由精确哈希完全排除。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来源：本地原始数据 D:/train/train、D:/val/val、D:/test/test；各页数值来自结果包中的实际统计、训练与评估 JSON。官方数据：https://github.com/VisDrone/DroneVehicle；模型：https://docs.ultralytics.com/models/yolov8/。 polygon 校验凸性并规范循环顺序；bndbox 转为水平矩形四角；point 不猜框。类别别名显式映射。RGB、thermal 各用自己的 XML。这里是标注检查图，不是预测。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来源：本地原始数据 D:/train/train、D:/val/val、D:/test/test；各页数值来自结果包中的实际统计、训练与评估 JSON。官方数据：https://github.com/VisDrone/DroneVehicle；模型：https://docs.ultralytics.com/models/yolov8/。 正式选择窗口为前60轮，两路保留相同100轮学习率计划。RGB实际已训练80轮，本次使用已保存的前60轮最佳模型，原80轮产物保留；thermal训练60轮并停止。源预训练权重 SHA-256：fa6e4cd2691f132875c143135affaa66b5d89394ebb1d07d19770a9b6382c1b8。实际参数、环境锁定文件、冻结权重/配置哈希均保存在结果包。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来源：本地原始数据 D:/train/train、D:/val/val、D:/test/test；各页数值来自结果包中的实际统计、训练与评估 JSON。官方数据：https://github.com/VisDrone/DroneVehicle；模型：https://docs.ultralytics.com/models/yolov8/。 独立加载各自 best.pt 评估；conf=0.001、NMS iou=0.7、max_det=300。P/R 为实现选择的 F1 工作点。先完成两条训练与 val 选模并冻结，再运行 test；没有使用 test 调参。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来源：本地原始数据 D:/train/train、D:/val/val、D:/test/test；各页数值来自结果包中的实际统计、训练与评估 JSON。官方数据：https://github.com/VisDrone/DroneVehicle；模型：https://docs.ultralytics.com/models/yolov8/。 RGB 与 thermal 标注目标数量并不相等，指标差异不能全部归因于模态。无 GT 的类别应报告未定义，不能用 0 冒充实测。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来源：本地原始数据 D:/train/train、D:/val/val、D:/test/test；各页数值来自结果包中的实际统计、训练与评估 JSON。官方数据：https://github.com/VisDrone/DroneVehicle；模型：https://docs.ultralytics.com/models/yolov8/。 测试场景在训练前以 seed=42 固定，未根据预测效果挑选。各模态使用自己的标签。固定四场景的完整诊断计数与其他图像保存在结果包。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来源：本地原始数据 D:/train/train、D:/val/val、D:/test/test；各页数值来自结果包中的实际统计、训练与评估 JSON。官方数据：https://github.com/VisDrone/DroneVehicle；模型：https://docs.ultralytics.com/models/yolov8/。 固定场景的计数不能代替全测试集 P/R。潜在影响因素是分析假设，不是因果结论。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来源：本地原始数据 D:/train/train、D:/val/val、D:/test/test；各页数值来自结果包中的实际统计、训练与评估 JSON。官方数据：https://github.com/VisDrone/DroneVehicle；模型：https://docs.ultralytics.com/models/yolov8/。 原始数据未修改。权重单独打包，派生图片和标签在本地 data/。上传位置未提供，因此没有执行外部上传。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a45f56359044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30869b148a43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31b716075f412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a4dddfb4984a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0a1a1761914f9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6993f7df6445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FFFBE4-B8A4-4DED-871D-83EC008A79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752C98E-1864-49F9-8D2D-A23388E4AC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78BE75C-12E7-4B79-B340-6469E8C24C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DB8686-AA5D-44DE-9968-0BA7D2A47D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2314FC-AD09-487A-9A37-1AF9337BBB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110163-5F8C-4C4F-851A-403EDC6E74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155B26-56E0-4F8C-A374-C60A6ACE4E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A825E77-BF33-443E-AEF0-066A765124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372A44-7256-4827-A8D6-E782BA4F2C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F69938-1C7E-4F16-9BFE-6F0D0D3730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86f6f5e9124a4f" /><Relationship Type="http://schemas.openxmlformats.org/officeDocument/2006/relationships/slideLayout" Target="/ppt/slideLayouts/slideLayout1.xml" Id="Rd20b3461885e4477" /><Relationship Type="http://schemas.openxmlformats.org/officeDocument/2006/relationships/slideLayout" Target="/ppt/slideLayouts/slideLayout2.xml" Id="Ra63781bb6bd44d84" /><Relationship Type="http://schemas.openxmlformats.org/officeDocument/2006/relationships/slideLayout" Target="/ppt/slideLayouts/slideLayout3.xml" Id="R10e6180954d44145" /><Relationship Type="http://schemas.openxmlformats.org/officeDocument/2006/relationships/slideLayout" Target="/ppt/slideLayouts/slideLayout4.xml" Id="Rdcb6a9c118a34110" /><Relationship Type="http://schemas.openxmlformats.org/officeDocument/2006/relationships/slideLayout" Target="/ppt/slideLayouts/slideLayout5.xml" Id="R4519510f1b534cd7" /><Relationship Type="http://schemas.openxmlformats.org/officeDocument/2006/relationships/slideLayout" Target="/ppt/slideLayouts/slideLayout6.xml" Id="R6cd7594bedf84d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0b3461885e4477"/>
    <p:sldLayoutId xmlns:r="http://schemas.openxmlformats.org/officeDocument/2006/relationships" id="2147483650" r:id="Ra63781bb6bd44d84"/>
    <p:sldLayoutId xmlns:r="http://schemas.openxmlformats.org/officeDocument/2006/relationships" id="2147483651" r:id="R10e6180954d44145"/>
    <p:sldLayoutId xmlns:r="http://schemas.openxmlformats.org/officeDocument/2006/relationships" id="2147483652" r:id="Rdcb6a9c118a34110"/>
    <p:sldLayoutId xmlns:r="http://schemas.openxmlformats.org/officeDocument/2006/relationships" id="2147483653" r:id="R4519510f1b534cd7"/>
    <p:sldLayoutId xmlns:r="http://schemas.openxmlformats.org/officeDocument/2006/relationships" id="2147483654" r:id="R6cd7594bedf84d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2b81e99a95421e" /><Relationship Type="http://schemas.openxmlformats.org/officeDocument/2006/relationships/image" Target="/ppt/media/image.jpeg" Id="R33ca01a303494fa6" /><Relationship Type="http://schemas.openxmlformats.org/officeDocument/2006/relationships/notesSlide" Target="/ppt/notesSlides/notesSlide1.xml" Id="R8411221bc9724c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d4df95505e4d97" /><Relationship Type="http://schemas.openxmlformats.org/officeDocument/2006/relationships/notesSlide" Target="/ppt/notesSlides/notesSlide2.xml" Id="R38dda94baa3b47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8973bee7364c0c" /><Relationship Type="http://schemas.openxmlformats.org/officeDocument/2006/relationships/image" Target="/ppt/media/image2.jpeg" Id="Rf7f26aa4e92c4223" /><Relationship Type="http://schemas.openxmlformats.org/officeDocument/2006/relationships/image" Target="/ppt/media/image3.jpeg" Id="R96296d5bd8d4459c" /><Relationship Type="http://schemas.openxmlformats.org/officeDocument/2006/relationships/notesSlide" Target="/ppt/notesSlides/notesSlide3.xml" Id="R3ea1f21074824f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65b7d838be4f74" /><Relationship Type="http://schemas.openxmlformats.org/officeDocument/2006/relationships/notesSlide" Target="/ppt/notesSlides/notesSlide4.xml" Id="R567b53a97bb94d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5f02c264424921" /><Relationship Type="http://schemas.openxmlformats.org/officeDocument/2006/relationships/notesSlide" Target="/ppt/notesSlides/notesSlide5.xml" Id="Rc611d5c3784944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c43b8e1da047d7" /><Relationship Type="http://schemas.openxmlformats.org/officeDocument/2006/relationships/notesSlide" Target="/ppt/notesSlides/notesSlide6.xml" Id="R0995b62d978e4b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5d9bf89d2248e9" /><Relationship Type="http://schemas.openxmlformats.org/officeDocument/2006/relationships/image" Target="/ppt/media/image4.jpeg" Id="Rbc39fd373e3d4ec3" /><Relationship Type="http://schemas.openxmlformats.org/officeDocument/2006/relationships/image" Target="/ppt/media/image5.jpeg" Id="R33ba0d9299a84b53" /><Relationship Type="http://schemas.openxmlformats.org/officeDocument/2006/relationships/notesSlide" Target="/ppt/notesSlides/notesSlide7.xml" Id="Rc9eab5ef0a3845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2b81ea610d4a3c" /><Relationship Type="http://schemas.openxmlformats.org/officeDocument/2006/relationships/notesSlide" Target="/ppt/notesSlides/notesSlide8.xml" Id="R7d8c10cc37ad49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8ca4f85d8a4863" /><Relationship Type="http://schemas.openxmlformats.org/officeDocument/2006/relationships/notesSlide" Target="/ppt/notesSlides/notesSlide9.xml" Id="Re8e0305849e545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6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5F814-3C35-46D7-AF6F-F6BBFD77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6000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DroneVehicle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单模态车辆检测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FC4E5-4EBA-4E12-9BBC-9A57017F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595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80D1F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80D1F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80D1F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80D1F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80D1F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80D1F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80D1F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80D1F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80D1F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80D1F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80D1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80D1F1"/>
                </a:solidFill>
                <a:latin typeface="Microsoft YaHei"/>
                <a:ea typeface="Microsoft YaHei"/>
                <a:cs typeface="Microsoft YaHei"/>
              </a:rPr>
              <a:t>RGB / thermal · YOLOv8n-OBB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91AD9-60F3-41A3-9BB6-C4B08C3A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600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官方划分下的训练、评估与对比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62994-2FD3-43D3-AE8B-FB25DDB5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81625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9CCD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B9CCD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B9CCD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B9CCD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B9CCD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B9CCD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B9CCD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B9CCD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B9CCD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B9CC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9C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9CCD9"/>
                </a:solidFill>
                <a:latin typeface="Microsoft YaHei"/>
                <a:ea typeface="Microsoft YaHei"/>
                <a:cs typeface="Microsoft YaHei"/>
              </a:rPr>
              <a:t>两路前 60 轮模型对比</a:t>
            </a:r>
          </a:p>
          <a:p xmlns:a="http://schemas.openxmlformats.org/drawingml/2006/main">
            <a:pPr>
              <a:defRPr sz="1800" b="0">
                <a:solidFill>
                  <a:srgbClr val="B9C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9CCD9"/>
                </a:solidFill>
                <a:latin typeface="Microsoft YaHei"/>
                <a:ea typeface="Microsoft YaHei"/>
                <a:cs typeface="Microsoft YaHei"/>
              </a:rPr>
              <a:t>自建基线；非原论文复现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A240A-7AD4-4926-B4DD-B23F0A0402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a01a303494fa6"/>
          <a:stretch xmlns:a="http://schemas.openxmlformats.org/drawingml/2006/main"/>
        </p:blipFill>
        <p:spPr>
          <a:xfrm xmlns:a="http://schemas.openxmlformats.org/drawingml/2006/main">
            <a:off x="6764355" y="1285875"/>
            <a:ext cx="4854539" cy="411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4088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9EAF1-E8E5-4739-8AB6-2AFD6B43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官方划分与数据质量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82B08-5626-4A48-90D5-BA445F7D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95375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rPr>
              <a:t>保留官方集合身份；原始数据只读，异常样本在两种模态中同步隔离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BE304-AEF0-49B9-8F69-0B1C5C82D098}"/>
              </a:ext>
            </a:extLst>
          </p:cNvPr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110490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857500"/>
                <a:gridCol w="2857500"/>
                <a:gridCol w="2857500"/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原始图像对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保留图像对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隔离图像对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14263A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train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17,990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17,957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1,469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1,467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8,980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8,955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1DC7C-3553-4CDA-B1A6-6BB22F99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rPr>
              <a:t>逐图解码与 XML 解析完成，图片和标签按磁盘编号配对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1AC63-63D0-4AC7-935D-C25F99A1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rPr>
              <a:t>精确跨集合图片哈希查重通过；各集合、各类别目标数已保存</a:t>
            </a:r>
          </a:p>
          <a:p xmlns:a="http://schemas.openxmlformats.org/drawingml/2006/main">
            <a: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rPr>
              <a:t>点标注、退化框、未知类别等问题均保留处理日志</a:t>
            </a:r>
          </a:p>
        </p:txBody>
      </p:sp>
    </p:spTree>
    <p:extLst>
      <p:ext uri="{BB962C8B-B14F-4D97-AF65-F5344CB8AC3E}">
        <p14:creationId xmlns:p14="http://schemas.microsoft.com/office/powerpoint/2010/main" val="20686354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3744B-3DA2-4554-819C-D3977FA1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OBB 标签与预处理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9D789-F868-4A75-B1A5-DCF3A5D7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95375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rPr>
              <a:t>保留 840×712 画布及白边；原坐标直接按宽高归一化，不减 100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7368B-05EC-4AF8-9CD6-F10153E4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rPr>
              <a:t>RGB 标注 · val 00210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F0D8E-5F23-4C7A-A388-5A06918D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rPr>
              <a:t>thermal 标注 · val 00210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4B94C-83BB-405E-AD7E-5A57DBF35D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f26aa4e92c4223"/>
          <a:stretch xmlns:a="http://schemas.openxmlformats.org/drawingml/2006/main"/>
        </p:blipFill>
        <p:spPr>
          <a:xfrm xmlns:a="http://schemas.openxmlformats.org/drawingml/2006/main">
            <a:off x="934841" y="2095500"/>
            <a:ext cx="4607317" cy="39052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3611E-4507-4F32-A844-0A7C275C90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96d5bd8d4459c"/>
          <a:stretch xmlns:a="http://schemas.openxmlformats.org/drawingml/2006/main"/>
        </p:blipFill>
        <p:spPr>
          <a:xfrm xmlns:a="http://schemas.openxmlformats.org/drawingml/2006/main">
            <a:off x="6649841" y="2095500"/>
            <a:ext cx="4607317" cy="3905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4D08C-2611-4E9C-8F5E-18E0A251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rPr>
              <a:t>0 car  ·  1 truck  ·  2 bus  ·  3 van  ·  4 freight_car</a:t>
            </a:r>
          </a:p>
        </p:txBody>
      </p:sp>
    </p:spTree>
    <p:extLst>
      <p:ext uri="{BB962C8B-B14F-4D97-AF65-F5344CB8AC3E}">
        <p14:creationId xmlns:p14="http://schemas.microsoft.com/office/powerpoint/2010/main" val="16565310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B9638-18F3-41EC-8094-3F345E9A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两条基线的匹配设置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77226-2C4A-4165-B46C-A4797A01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95375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rPr>
              <a:t>同一预训练权重独立初始化；均在前 60 轮内由 val 选模，冻结后评估 test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7B51B-81D9-4DF2-BB11-406974EF66FF}"/>
              </a:ext>
            </a:extLst>
          </p:cNvPr>
          <p:cNvGraphicFramePr/>
          <p:nvPr/>
        </p:nvGraphicFramePr>
        <p:xfrm>
          <a:off xmlns:a="http://schemas.openxmlformats.org/drawingml/2006/main" x="571500" y="1857375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000500"/>
                <a:gridCol w="4000500"/>
              </a:tblGrid>
              <a:tr h="579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RGB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thermal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14263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 / 轮数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YOLOv8n-OBB / 前60轮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YOLOv8n-OBB / 前60轮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/ batch / 种子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640 / 16 / 42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640 / 16 / 42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优化器 / 精度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SGD / FP32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SGD / FP32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模态输入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三通道；保留白边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三通道；保留白边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数据增强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同一配置；关闭 HSV、mosaic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同一配置；关闭 HSV、mosaic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410E1-3FC8-4227-9831-820B39DB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rPr>
              <a:t>NVIDIA GeForce RTX 5060 Laptop GPU · 8 GB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3B798-8ED1-4713-BB73-7DCC9160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43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rPr>
              <a:t>PyTorch 2.7.1+cu128 / CUDA 12.8 / Ultralytics 8.3.200</a:t>
            </a:r>
          </a:p>
        </p:txBody>
      </p:sp>
    </p:spTree>
    <p:extLst>
      <p:ext uri="{BB962C8B-B14F-4D97-AF65-F5344CB8AC3E}">
        <p14:creationId xmlns:p14="http://schemas.microsoft.com/office/powerpoint/2010/main" val="13815230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86613-1C2F-4D2E-AC85-53088DED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官方验证与测试结果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7E33F-C34F-4C5D-9624-25C49D7E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95375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rPr>
              <a:t>正式评估：官方划分经相同质量规则过滤后，分别使用各自模态标注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C195C-BF88-43EC-BDCB-48B65DFCECD7}"/>
              </a:ext>
            </a:extLst>
          </p:cNvPr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1952625"/>
                <a:gridCol w="1952625"/>
                <a:gridCol w="1952625"/>
                <a:gridCol w="1952625"/>
              </a:tblGrid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集合 / 模态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Precision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Recall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mAP@50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mAP@50:95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14263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val / rgb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77.04%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71.79%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77.20%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60.04%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val / thermal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78.19%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78.22%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83.02%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67.28%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 / rgb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73.78%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72.27%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75.37%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58.48%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 / thermal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77.53%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76.19%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80.17%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64.71%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3959B-FE82-4B49-8A4C-0A76537E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rPr>
              <a:t>Ultralytics OBB：ProbIoU 匹配，AP 阈值 0.50–0.95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A5051-A805-441F-A5E3-0E31F7E1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rPr>
              <a:t>该评估实现与原论文 / DOTA 官方多边形 IoU 评测口径不同</a:t>
            </a:r>
          </a:p>
        </p:txBody>
      </p:sp>
    </p:spTree>
    <p:extLst>
      <p:ext uri="{BB962C8B-B14F-4D97-AF65-F5344CB8AC3E}">
        <p14:creationId xmlns:p14="http://schemas.microsoft.com/office/powerpoint/2010/main" val="20286693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932BC-A775-4D54-BAE4-345A1BB3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各类别测试 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09FD1-2AE9-4C21-A2DC-F4EE502C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95375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rPr>
              <a:t>同一评估实现；完整每类 P/R 与 AP 另存 CSV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1EFF1-CC20-4234-A7C9-64AD391BE673}"/>
              </a:ext>
            </a:extLst>
          </p:cNvPr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000250"/>
                <a:gridCol w="2190750"/>
                <a:gridCol w="2190750"/>
                <a:gridCol w="2190750"/>
              </a:tblGrid>
              <a:tr h="59531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RGB AP50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thermal AP50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RGB AP50:95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thermal AP50:95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14263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96.64%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98.32%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77.44%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81.92%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truck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75.20%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79.35%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56.68%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61.00%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94.70%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94.92%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74.23%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78.91%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54.73%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59.90%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42.16%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48.48%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freight_car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55.56%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68.38%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41.88%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53.26%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2FF8D-4C9F-4DEC-923A-3CFC1EB8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007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rPr>
              <a:t>car 占比高；少数类、小目标和密集场景需要结合可视化分析</a:t>
            </a:r>
          </a:p>
        </p:txBody>
      </p:sp>
    </p:spTree>
    <p:extLst>
      <p:ext uri="{BB962C8B-B14F-4D97-AF65-F5344CB8AC3E}">
        <p14:creationId xmlns:p14="http://schemas.microsoft.com/office/powerpoint/2010/main" val="4260949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AAE74-F2AC-48B4-A7FB-20CE0D67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同场景检测与误差诊断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883C2-9E93-4388-835B-BE06D00A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95375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rPr>
              <a:t>test 00522 · 绿色 TP，橙色 FP 误检，红色 FN 漏检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18508-B168-4645-AA54-5D4C613E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rPr>
              <a:t>RGB：TP 9 / FP 0 / FN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CCB7A-C03D-4AA2-AEBD-16144E3B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rPr>
              <a:t>thermal：TP 9 / FP 0 / FN 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B4F10-A896-4173-8BAC-61D0FF1138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9fd373e3d4ec3"/>
          <a:stretch xmlns:a="http://schemas.openxmlformats.org/drawingml/2006/main"/>
        </p:blipFill>
        <p:spPr>
          <a:xfrm xmlns:a="http://schemas.openxmlformats.org/drawingml/2006/main">
            <a:off x="850561" y="2095500"/>
            <a:ext cx="4775878" cy="40481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8A691-B276-4C59-B6E3-5F93E08980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ba0d9299a84b53"/>
          <a:stretch xmlns:a="http://schemas.openxmlformats.org/drawingml/2006/main"/>
        </p:blipFill>
        <p:spPr>
          <a:xfrm xmlns:a="http://schemas.openxmlformats.org/drawingml/2006/main">
            <a:off x="6565561" y="2095500"/>
            <a:ext cx="4775878" cy="4048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62E22-9FBA-4F5A-A4E4-E780A56C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rPr>
              <a:t>conf=0.25；类别一致且多边形 IoU≥0.50；与主表 AP 的匹配口径不同</a:t>
            </a:r>
          </a:p>
        </p:txBody>
      </p:sp>
    </p:spTree>
    <p:extLst>
      <p:ext uri="{BB962C8B-B14F-4D97-AF65-F5344CB8AC3E}">
        <p14:creationId xmlns:p14="http://schemas.microsoft.com/office/powerpoint/2010/main" val="13918964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E4D69-FE43-4367-849C-CF1C3399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结果解释与局限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E6F4B-5259-4EFE-92A2-EC7EB9B6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95375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rPr>
              <a:t>单次固定种子实验；不把指标差异直接解释为模态的普遍优势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9C2CB-4295-424D-BE73-47C686F7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rPr>
              <a:t>测试差值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703D8-B079-45BB-8AD7-9763045D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thermal − RGB 的 mAP@50:95：+6.24 个百分点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E0EB0-0CB2-424D-A8CE-B6089688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rPr>
              <a:t>固定四场景诊断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3910A-3EB3-4B1E-AB37-A1F0C7EE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RGB：FP 8、FN 4；thermal：FP 5、FN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CAEA0-DCB5-401B-86AA-6EF48F98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rPr>
              <a:t>解释边界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DEFB2-113E-4759-A89F-DA68332A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768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rPr>
              <a:t>RGB实训80轮，本次选前60轮模型；thermal实训60轮</a:t>
            </a:r>
          </a:p>
          <a:p xmlns:a="http://schemas.openxmlformats.org/drawingml/2006/main">
            <a:pPr>
              <a:def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rPr>
              <a:t>类别不平衡和小目标可能影响 AP，尚未进行消融或显著性检验</a:t>
            </a:r>
          </a:p>
        </p:txBody>
      </p:sp>
    </p:spTree>
    <p:extLst>
      <p:ext uri="{BB962C8B-B14F-4D97-AF65-F5344CB8AC3E}">
        <p14:creationId xmlns:p14="http://schemas.microsoft.com/office/powerpoint/2010/main" val="17351588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DAA30-20B5-4280-8A4D-6FA91E84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结论与交付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9DC82-DD9A-44F4-8B59-26A7DCBC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95375"/>
            <a:ext cx="1101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6576A"/>
                </a:solidFill>
                <a:latin typeface="Microsoft YaHei"/>
                <a:ea typeface="Microsoft YaHei"/>
                <a:cs typeface="Microsoft YaHei"/>
              </a:rPr>
              <a:t>数据、训练、模型选择、独立测试和结果整理均有对应运行记录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E13BC-1C1F-409E-BA5C-C2A4E7D3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7E0C6-CC8D-4B7F-8FC2-098F7B06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官方三集合检查与 OBB 转换；两路前 60 轮选模的单模态基线</a:t>
            </a:r>
          </a:p>
          <a:p xmlns:a="http://schemas.openxmlformats.org/drawingml/2006/main">
            <a: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基于 val 的模型选择、冻结记录及官方 test 的独立评估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AF2E8-CCB9-447F-AC63-19B720F2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6D9C"/>
                </a:solidFill>
                <a:latin typeface="Microsoft YaHei"/>
                <a:ea typeface="Microsoft YaHei"/>
                <a:cs typeface="Microsoft YaHei"/>
              </a:rPr>
              <a:t>可复现成果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0D19E-2A29-45A7-B814-B084CE76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代码、依赖锁定、数据统计、指标、日志、曲线与配对可视化</a:t>
            </a:r>
          </a:p>
          <a:p xmlns:a="http://schemas.openxmlformats.org/drawingml/2006/main">
            <a:pPr>
              <a:def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最佳权重独立保存；正式结果包和本汇报可用于检查与复跑</a:t>
            </a:r>
          </a:p>
        </p:txBody>
      </p:sp>
    </p:spTree>
    <p:extLst>
      <p:ext uri="{BB962C8B-B14F-4D97-AF65-F5344CB8AC3E}">
        <p14:creationId xmlns:p14="http://schemas.microsoft.com/office/powerpoint/2010/main" val="412513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2026-10-19T15:09:01.6190000Z</dcterms:created>
  <dcterms:modified xsi:type="dcterms:W3CDTF">2026-10-19T15:09:01.6190000Z</dcterms:modified>
</coreProperties>
</file>